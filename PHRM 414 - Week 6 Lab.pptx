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79" r:id="rId4"/>
    <p:sldId id="299" r:id="rId5"/>
    <p:sldId id="258" r:id="rId6"/>
    <p:sldId id="264" r:id="rId7"/>
    <p:sldId id="302" r:id="rId8"/>
    <p:sldId id="303" r:id="rId9"/>
    <p:sldId id="305" r:id="rId10"/>
    <p:sldId id="275" r:id="rId11"/>
    <p:sldId id="289" r:id="rId12"/>
    <p:sldId id="306" r:id="rId13"/>
    <p:sldId id="278"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8"/>
  </p:normalViewPr>
  <p:slideViewPr>
    <p:cSldViewPr snapToGrid="0">
      <p:cViewPr varScale="1">
        <p:scale>
          <a:sx n="148" d="100"/>
          <a:sy n="148" d="100"/>
        </p:scale>
        <p:origin x="50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a0b33095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0b33095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a0b33095f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a0b33095f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9dfeb0f618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9dfeb0f618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9dfeb0f618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9dfeb0f618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4087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a0b33095fd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a0b33095f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1- does antihypertensive drugs increase the risk of MI?</a:t>
            </a:r>
          </a:p>
          <a:p>
            <a:pPr marL="0" lvl="0" indent="0" algn="l" rtl="0">
              <a:spcBef>
                <a:spcPts val="0"/>
              </a:spcBef>
              <a:spcAft>
                <a:spcPts val="0"/>
              </a:spcAft>
              <a:buNone/>
            </a:pPr>
            <a:r>
              <a:rPr lang="en-US"/>
              <a:t>2- There was an increase risk of MI among CCB users</a:t>
            </a:r>
          </a:p>
          <a:p>
            <a:pPr marL="0" lvl="0" indent="0" algn="l" rtl="0">
              <a:spcBef>
                <a:spcPts val="0"/>
              </a:spcBef>
              <a:spcAft>
                <a:spcPts val="0"/>
              </a:spcAft>
              <a:buNone/>
            </a:pPr>
            <a:r>
              <a:rPr lang="en-US"/>
              <a:t>3- there is confounding by indication. Patients who used CCBs had severe hypertension compared to others and severe hypertension increases the risk of MI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a0b33095fd_3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a0b33095fd_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082E2-6C74-3543-8E21-7464F157407C}" type="slidenum">
              <a:rPr lang="en-US" smtClean="0"/>
              <a:t>7</a:t>
            </a:fld>
            <a:endParaRPr lang="en-US"/>
          </a:p>
        </p:txBody>
      </p:sp>
    </p:spTree>
    <p:extLst>
      <p:ext uri="{BB962C8B-B14F-4D97-AF65-F5344CB8AC3E}">
        <p14:creationId xmlns:p14="http://schemas.microsoft.com/office/powerpoint/2010/main" val="1826880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082E2-6C74-3543-8E21-7464F157407C}" type="slidenum">
              <a:rPr lang="en-US" smtClean="0"/>
              <a:t>8</a:t>
            </a:fld>
            <a:endParaRPr lang="en-US"/>
          </a:p>
        </p:txBody>
      </p:sp>
    </p:spTree>
    <p:extLst>
      <p:ext uri="{BB962C8B-B14F-4D97-AF65-F5344CB8AC3E}">
        <p14:creationId xmlns:p14="http://schemas.microsoft.com/office/powerpoint/2010/main" val="1236899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2082E2-6C74-3543-8E21-7464F157407C}" type="slidenum">
              <a:rPr lang="en-US" smtClean="0"/>
              <a:t>9</a:t>
            </a:fld>
            <a:endParaRPr lang="en-US"/>
          </a:p>
        </p:txBody>
      </p:sp>
    </p:spTree>
    <p:extLst>
      <p:ext uri="{BB962C8B-B14F-4D97-AF65-F5344CB8AC3E}">
        <p14:creationId xmlns:p14="http://schemas.microsoft.com/office/powerpoint/2010/main" val="4050711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a0b33095fd_3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a0b33095fd_3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9dfeb0f618_0_10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9dfeb0f618_0_10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a0b33095fd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a0b33095f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1- do the drugs included in the study increase the CHF?</a:t>
            </a:r>
          </a:p>
          <a:p>
            <a:pPr marL="0" lvl="0" indent="0" algn="l" rtl="0">
              <a:spcBef>
                <a:spcPts val="0"/>
              </a:spcBef>
              <a:spcAft>
                <a:spcPts val="0"/>
              </a:spcAft>
              <a:buNone/>
            </a:pPr>
            <a:r>
              <a:rPr lang="en-US"/>
              <a:t>2- most drugs assessed decreased the risk of CHF</a:t>
            </a:r>
          </a:p>
          <a:p>
            <a:pPr marL="0" lvl="0" indent="0" algn="l" rtl="0">
              <a:spcBef>
                <a:spcPts val="0"/>
              </a:spcBef>
              <a:spcAft>
                <a:spcPts val="0"/>
              </a:spcAft>
              <a:buNone/>
            </a:pPr>
            <a:r>
              <a:rPr lang="en-US"/>
              <a:t>3- There was immeasurable time bias. Patients were at risk of readmission during which the researchers could not know whether they used the drugs included in the study which underestimated the rsik estimated.</a:t>
            </a:r>
            <a:endParaRPr/>
          </a:p>
        </p:txBody>
      </p:sp>
    </p:spTree>
    <p:extLst>
      <p:ext uri="{BB962C8B-B14F-4D97-AF65-F5344CB8AC3E}">
        <p14:creationId xmlns:p14="http://schemas.microsoft.com/office/powerpoint/2010/main" val="4205132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a0b33095fd_3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a0b33095fd_3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9BA97-7C4A-AB43-BE94-3D4D3A31E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F94669-F4AD-B543-86CC-71A1A5D64F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CBE68E-2323-ED4B-9526-0197A1B82C37}"/>
              </a:ext>
            </a:extLst>
          </p:cNvPr>
          <p:cNvSpPr>
            <a:spLocks noGrp="1"/>
          </p:cNvSpPr>
          <p:nvPr>
            <p:ph type="dt" sz="half" idx="10"/>
          </p:nvPr>
        </p:nvSpPr>
        <p:spPr/>
        <p:txBody>
          <a:bodyPr/>
          <a:lstStyle/>
          <a:p>
            <a:fld id="{A8CDF203-EC65-E54E-862E-3D42F2B243EA}" type="datetimeFigureOut">
              <a:rPr lang="en-US" smtClean="0"/>
              <a:t>5/1/23</a:t>
            </a:fld>
            <a:endParaRPr lang="en-US"/>
          </a:p>
        </p:txBody>
      </p:sp>
      <p:sp>
        <p:nvSpPr>
          <p:cNvPr id="5" name="Footer Placeholder 4">
            <a:extLst>
              <a:ext uri="{FF2B5EF4-FFF2-40B4-BE49-F238E27FC236}">
                <a16:creationId xmlns:a16="http://schemas.microsoft.com/office/drawing/2014/main" id="{CC913CB8-7693-A04B-815C-25FB0DA604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B1D70-E94A-7047-904D-6C18628925E2}"/>
              </a:ext>
            </a:extLst>
          </p:cNvPr>
          <p:cNvSpPr>
            <a:spLocks noGrp="1"/>
          </p:cNvSpPr>
          <p:nvPr>
            <p:ph type="sldNum" sz="quarter" idx="12"/>
          </p:nvPr>
        </p:nvSpPr>
        <p:spPr/>
        <p:txBody>
          <a:bodyPr/>
          <a:lstStyle/>
          <a:p>
            <a:fld id="{90066EC8-F752-8A4C-A8AF-48116EED10FC}" type="slidenum">
              <a:rPr lang="en-US" smtClean="0"/>
              <a:t>‹#›</a:t>
            </a:fld>
            <a:endParaRPr lang="en-US"/>
          </a:p>
        </p:txBody>
      </p:sp>
    </p:spTree>
    <p:extLst>
      <p:ext uri="{BB962C8B-B14F-4D97-AF65-F5344CB8AC3E}">
        <p14:creationId xmlns:p14="http://schemas.microsoft.com/office/powerpoint/2010/main" val="1113390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1423125"/>
            <a:ext cx="8520600" cy="916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a:solidFill>
                  <a:srgbClr val="3D85C6"/>
                </a:solidFill>
              </a:rPr>
              <a:t>Bias in Clinical Research</a:t>
            </a:r>
            <a:endParaRPr sz="3200">
              <a:solidFill>
                <a:srgbClr val="3D85C6"/>
              </a:solidFill>
            </a:endParaRPr>
          </a:p>
        </p:txBody>
      </p:sp>
      <p:sp>
        <p:nvSpPr>
          <p:cNvPr id="55" name="Google Shape;55;p13"/>
          <p:cNvSpPr txBox="1">
            <a:spLocks noGrp="1"/>
          </p:cNvSpPr>
          <p:nvPr>
            <p:ph type="subTitle" idx="1"/>
          </p:nvPr>
        </p:nvSpPr>
        <p:spPr>
          <a:xfrm>
            <a:off x="311700" y="2529325"/>
            <a:ext cx="8520600" cy="7926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2200" dirty="0">
                <a:solidFill>
                  <a:schemeClr val="dk1"/>
                </a:solidFill>
              </a:rPr>
              <a:t>Yasser Albogami, MPH, Ph.D.</a:t>
            </a:r>
            <a:endParaRPr sz="2200" dirty="0">
              <a:solidFill>
                <a:schemeClr val="dk1"/>
              </a:solidFill>
            </a:endParaRPr>
          </a:p>
          <a:p>
            <a:pPr marL="0" lvl="0" indent="0" algn="ctr" rtl="0">
              <a:lnSpc>
                <a:spcPct val="115000"/>
              </a:lnSpc>
              <a:spcBef>
                <a:spcPts val="0"/>
              </a:spcBef>
              <a:spcAft>
                <a:spcPts val="0"/>
              </a:spcAft>
              <a:buClr>
                <a:schemeClr val="dk1"/>
              </a:buClr>
              <a:buSzPts val="1100"/>
              <a:buFont typeface="Arial"/>
              <a:buNone/>
            </a:pPr>
            <a:r>
              <a:rPr lang="en-GB" sz="2200" dirty="0">
                <a:solidFill>
                  <a:schemeClr val="dk1"/>
                </a:solidFill>
              </a:rPr>
              <a:t>PHRM 414</a:t>
            </a:r>
            <a:endParaRPr sz="2200" dirty="0">
              <a:solidFill>
                <a:schemeClr val="dk1"/>
              </a:solidFill>
            </a:endParaRPr>
          </a:p>
          <a:p>
            <a:pPr marL="0" lvl="0" indent="0" algn="ctr" rtl="0">
              <a:spcBef>
                <a:spcPts val="0"/>
              </a:spcBef>
              <a:spcAft>
                <a:spcPts val="0"/>
              </a:spcAft>
              <a:buNone/>
            </a:pPr>
            <a:r>
              <a:rPr lang="en" sz="2200" dirty="0">
                <a:solidFill>
                  <a:schemeClr val="dk1"/>
                </a:solidFill>
              </a:rPr>
              <a:t>(Lab)</a:t>
            </a:r>
            <a:endParaRPr sz="2200" dirty="0">
              <a:solidFill>
                <a:schemeClr val="dk1"/>
              </a:solidFill>
            </a:endParaRPr>
          </a:p>
          <a:p>
            <a:pPr marL="0" lvl="0" indent="0" algn="ctr" rtl="0">
              <a:spcBef>
                <a:spcPts val="0"/>
              </a:spcBef>
              <a:spcAft>
                <a:spcPts val="0"/>
              </a:spcAft>
              <a:buNone/>
            </a:pPr>
            <a:endParaRPr sz="2200" dirty="0">
              <a:solidFill>
                <a:schemeClr val="dk1"/>
              </a:solidFill>
            </a:endParaRPr>
          </a:p>
        </p:txBody>
      </p:sp>
      <p:pic>
        <p:nvPicPr>
          <p:cNvPr id="56" name="Google Shape;56;p13"/>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57" name="Google Shape;57;p13"/>
          <p:cNvPicPr preferRelativeResize="0"/>
          <p:nvPr/>
        </p:nvPicPr>
        <p:blipFill>
          <a:blip r:embed="rId4">
            <a:alphaModFix/>
          </a:blip>
          <a:stretch>
            <a:fillRect/>
          </a:stretch>
        </p:blipFill>
        <p:spPr>
          <a:xfrm>
            <a:off x="0" y="4901075"/>
            <a:ext cx="9144000" cy="242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63" name="Google Shape;63;p14"/>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64" name="Google Shape;64;p14"/>
          <p:cNvSpPr txBox="1">
            <a:spLocks noGrp="1"/>
          </p:cNvSpPr>
          <p:nvPr>
            <p:ph type="ctrTitle"/>
          </p:nvPr>
        </p:nvSpPr>
        <p:spPr>
          <a:xfrm>
            <a:off x="2030250" y="2290800"/>
            <a:ext cx="5083500" cy="5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solidFill>
                  <a:srgbClr val="3D85C6"/>
                </a:solidFill>
              </a:rPr>
              <a:t>Confounding Exercises</a:t>
            </a:r>
            <a:endParaRPr sz="2800" dirty="0">
              <a:solidFill>
                <a:srgbClr val="3D85C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4"/>
          <p:cNvSpPr txBox="1">
            <a:spLocks noGrp="1"/>
          </p:cNvSpPr>
          <p:nvPr>
            <p:ph type="ctrTitle"/>
          </p:nvPr>
        </p:nvSpPr>
        <p:spPr>
          <a:xfrm>
            <a:off x="156525" y="279875"/>
            <a:ext cx="6145500" cy="56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rgbClr val="3D85C6"/>
                </a:solidFill>
              </a:rPr>
              <a:t>Confounding in pharmacoepidemiology</a:t>
            </a:r>
            <a:endParaRPr sz="2400">
              <a:solidFill>
                <a:srgbClr val="3D85C6"/>
              </a:solidFill>
            </a:endParaRPr>
          </a:p>
        </p:txBody>
      </p:sp>
      <p:pic>
        <p:nvPicPr>
          <p:cNvPr id="185" name="Google Shape;185;p24"/>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186" name="Google Shape;186;p24"/>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187" name="Google Shape;187;p24"/>
          <p:cNvSpPr txBox="1">
            <a:spLocks noGrp="1"/>
          </p:cNvSpPr>
          <p:nvPr>
            <p:ph type="subTitle" idx="1"/>
          </p:nvPr>
        </p:nvSpPr>
        <p:spPr>
          <a:xfrm>
            <a:off x="225925" y="1737025"/>
            <a:ext cx="8737500" cy="241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rgbClr val="000000"/>
                </a:solidFill>
              </a:rPr>
              <a:t>The way drugs are being prescribed introduces bias in observational studies which is referred to as </a:t>
            </a:r>
            <a:r>
              <a:rPr lang="en" sz="2000" b="1" i="1" dirty="0">
                <a:solidFill>
                  <a:srgbClr val="000000"/>
                </a:solidFill>
                <a:highlight>
                  <a:srgbClr val="FFFF00"/>
                </a:highlight>
              </a:rPr>
              <a:t>confounding by indication</a:t>
            </a:r>
            <a:r>
              <a:rPr lang="en" sz="2000" dirty="0">
                <a:solidFill>
                  <a:srgbClr val="000000"/>
                </a:solidFill>
              </a:rPr>
              <a:t>. </a:t>
            </a:r>
          </a:p>
          <a:p>
            <a:pPr marL="0" lvl="0" indent="0" algn="l" rtl="0">
              <a:spcBef>
                <a:spcPts val="0"/>
              </a:spcBef>
              <a:spcAft>
                <a:spcPts val="0"/>
              </a:spcAft>
              <a:buNone/>
            </a:pPr>
            <a:endParaRPr lang="en" sz="2000" dirty="0">
              <a:solidFill>
                <a:srgbClr val="000000"/>
              </a:solidFill>
            </a:endParaRPr>
          </a:p>
          <a:p>
            <a:pPr marL="0" lvl="0" indent="0" algn="l" rtl="0">
              <a:spcBef>
                <a:spcPts val="0"/>
              </a:spcBef>
              <a:spcAft>
                <a:spcPts val="0"/>
              </a:spcAft>
              <a:buNone/>
            </a:pPr>
            <a:r>
              <a:rPr lang="en" sz="2000" dirty="0">
                <a:solidFill>
                  <a:srgbClr val="000000"/>
                </a:solidFill>
              </a:rPr>
              <a:t>Physicians prescribe SSRI to treat depression. </a:t>
            </a:r>
            <a:r>
              <a:rPr lang="en" sz="2000" dirty="0">
                <a:solidFill>
                  <a:srgbClr val="000000"/>
                </a:solidFill>
                <a:highlight>
                  <a:srgbClr val="FFFF00"/>
                </a:highlight>
              </a:rPr>
              <a:t>Can we compare SSRI users and non-users to evaluate suicide risk? Why?</a:t>
            </a:r>
            <a:endParaRPr sz="2000" dirty="0">
              <a:solidFill>
                <a:srgbClr val="000000"/>
              </a:solidFill>
              <a:highlight>
                <a:srgbClr val="FFFF00"/>
              </a:highlight>
            </a:endParaRPr>
          </a:p>
          <a:p>
            <a:pPr marL="0" lvl="0" indent="0" algn="l" rtl="0">
              <a:spcBef>
                <a:spcPts val="0"/>
              </a:spcBef>
              <a:spcAft>
                <a:spcPts val="0"/>
              </a:spcAft>
              <a:buNone/>
            </a:pPr>
            <a:endParaRPr sz="2000" dirty="0">
              <a:solidFill>
                <a:srgbClr val="000000"/>
              </a:solidFill>
            </a:endParaRPr>
          </a:p>
          <a:p>
            <a:pPr marL="0" lvl="0" indent="0" algn="l" rtl="0">
              <a:spcBef>
                <a:spcPts val="0"/>
              </a:spcBef>
              <a:spcAft>
                <a:spcPts val="0"/>
              </a:spcAft>
              <a:buNone/>
            </a:pPr>
            <a:endParaRPr sz="2000" dirty="0">
              <a:solidFill>
                <a:srgbClr val="000000"/>
              </a:solidFill>
            </a:endParaRPr>
          </a:p>
          <a:p>
            <a:pPr marL="0" lvl="0" indent="0" algn="l" rtl="0">
              <a:spcBef>
                <a:spcPts val="0"/>
              </a:spcBef>
              <a:spcAft>
                <a:spcPts val="0"/>
              </a:spcAft>
              <a:buNone/>
            </a:pPr>
            <a:endParaRPr sz="2000" dirty="0">
              <a:solidFill>
                <a:srgbClr val="000000"/>
              </a:solidFill>
            </a:endParaRPr>
          </a:p>
          <a:p>
            <a:pPr marL="0" lvl="0" indent="0" algn="l" rtl="0">
              <a:spcBef>
                <a:spcPts val="0"/>
              </a:spcBef>
              <a:spcAft>
                <a:spcPts val="0"/>
              </a:spcAft>
              <a:buNone/>
            </a:pPr>
            <a:endParaRPr sz="20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4"/>
          <p:cNvSpPr txBox="1">
            <a:spLocks noGrp="1"/>
          </p:cNvSpPr>
          <p:nvPr>
            <p:ph type="ctrTitle"/>
          </p:nvPr>
        </p:nvSpPr>
        <p:spPr>
          <a:xfrm>
            <a:off x="156525" y="279875"/>
            <a:ext cx="6145500" cy="56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rgbClr val="3D85C6"/>
                </a:solidFill>
              </a:rPr>
              <a:t>Confounding in pharmacoepidemiology</a:t>
            </a:r>
            <a:endParaRPr sz="2400">
              <a:solidFill>
                <a:srgbClr val="3D85C6"/>
              </a:solidFill>
            </a:endParaRPr>
          </a:p>
        </p:txBody>
      </p:sp>
      <p:pic>
        <p:nvPicPr>
          <p:cNvPr id="185" name="Google Shape;185;p24"/>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186" name="Google Shape;186;p24"/>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187" name="Google Shape;187;p24"/>
          <p:cNvSpPr txBox="1">
            <a:spLocks noGrp="1"/>
          </p:cNvSpPr>
          <p:nvPr>
            <p:ph type="subTitle" idx="1"/>
          </p:nvPr>
        </p:nvSpPr>
        <p:spPr>
          <a:xfrm>
            <a:off x="225925" y="1088436"/>
            <a:ext cx="8737500" cy="241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rgbClr val="000000"/>
                </a:solidFill>
              </a:rPr>
              <a:t>The way drugs are being prescribed introduces bias in observational studies which is referred to as </a:t>
            </a:r>
            <a:r>
              <a:rPr lang="en" sz="2000" b="1" i="1" dirty="0">
                <a:solidFill>
                  <a:srgbClr val="000000"/>
                </a:solidFill>
                <a:highlight>
                  <a:srgbClr val="FFFF00"/>
                </a:highlight>
              </a:rPr>
              <a:t>confounding by indication</a:t>
            </a:r>
            <a:r>
              <a:rPr lang="en" sz="2000" dirty="0">
                <a:solidFill>
                  <a:srgbClr val="000000"/>
                </a:solidFill>
              </a:rPr>
              <a:t>. </a:t>
            </a:r>
          </a:p>
          <a:p>
            <a:pPr marL="0" lvl="0" indent="0" algn="l" rtl="0">
              <a:spcBef>
                <a:spcPts val="0"/>
              </a:spcBef>
              <a:spcAft>
                <a:spcPts val="0"/>
              </a:spcAft>
              <a:buNone/>
            </a:pPr>
            <a:endParaRPr lang="en" sz="2000" dirty="0">
              <a:solidFill>
                <a:srgbClr val="000000"/>
              </a:solidFill>
            </a:endParaRPr>
          </a:p>
          <a:p>
            <a:pPr marL="0" lvl="0" indent="0" algn="l" rtl="0">
              <a:spcBef>
                <a:spcPts val="0"/>
              </a:spcBef>
              <a:spcAft>
                <a:spcPts val="0"/>
              </a:spcAft>
              <a:buNone/>
            </a:pPr>
            <a:r>
              <a:rPr lang="en" sz="2000" dirty="0">
                <a:solidFill>
                  <a:srgbClr val="000000"/>
                </a:solidFill>
              </a:rPr>
              <a:t>Physicians prescribe SSRI to treat depression. </a:t>
            </a:r>
            <a:r>
              <a:rPr lang="en" sz="2000" dirty="0">
                <a:solidFill>
                  <a:srgbClr val="000000"/>
                </a:solidFill>
                <a:highlight>
                  <a:srgbClr val="FFFF00"/>
                </a:highlight>
              </a:rPr>
              <a:t>Can we compare SSRI users and non-users to evaluate suicide risk? Why?</a:t>
            </a:r>
            <a:endParaRPr sz="2000" dirty="0">
              <a:solidFill>
                <a:srgbClr val="000000"/>
              </a:solidFill>
              <a:highlight>
                <a:srgbClr val="FFFF00"/>
              </a:highlight>
            </a:endParaRPr>
          </a:p>
          <a:p>
            <a:pPr marL="0" lvl="0" indent="0" algn="l" rtl="0">
              <a:spcBef>
                <a:spcPts val="0"/>
              </a:spcBef>
              <a:spcAft>
                <a:spcPts val="0"/>
              </a:spcAft>
              <a:buNone/>
            </a:pPr>
            <a:endParaRPr sz="2000" dirty="0">
              <a:solidFill>
                <a:srgbClr val="000000"/>
              </a:solidFill>
            </a:endParaRPr>
          </a:p>
          <a:p>
            <a:pPr marL="0" lvl="0" indent="0" algn="l" rtl="0">
              <a:spcBef>
                <a:spcPts val="0"/>
              </a:spcBef>
              <a:spcAft>
                <a:spcPts val="0"/>
              </a:spcAft>
              <a:buNone/>
            </a:pPr>
            <a:endParaRPr sz="2000" dirty="0">
              <a:solidFill>
                <a:srgbClr val="000000"/>
              </a:solidFill>
            </a:endParaRPr>
          </a:p>
          <a:p>
            <a:pPr marL="0" lvl="0" indent="0" algn="l" rtl="0">
              <a:spcBef>
                <a:spcPts val="0"/>
              </a:spcBef>
              <a:spcAft>
                <a:spcPts val="0"/>
              </a:spcAft>
              <a:buNone/>
            </a:pPr>
            <a:endParaRPr sz="2000" dirty="0">
              <a:solidFill>
                <a:srgbClr val="000000"/>
              </a:solidFill>
            </a:endParaRPr>
          </a:p>
          <a:p>
            <a:pPr marL="0" lvl="0" indent="0" algn="l" rtl="0">
              <a:spcBef>
                <a:spcPts val="0"/>
              </a:spcBef>
              <a:spcAft>
                <a:spcPts val="0"/>
              </a:spcAft>
              <a:buNone/>
            </a:pPr>
            <a:endParaRPr sz="2000" dirty="0">
              <a:solidFill>
                <a:srgbClr val="000000"/>
              </a:solidFill>
            </a:endParaRPr>
          </a:p>
        </p:txBody>
      </p:sp>
      <p:sp>
        <p:nvSpPr>
          <p:cNvPr id="7" name="Google Shape;122;p18">
            <a:extLst>
              <a:ext uri="{FF2B5EF4-FFF2-40B4-BE49-F238E27FC236}">
                <a16:creationId xmlns:a16="http://schemas.microsoft.com/office/drawing/2014/main" id="{A58F1581-7DAE-5847-A776-779883B94970}"/>
              </a:ext>
            </a:extLst>
          </p:cNvPr>
          <p:cNvSpPr/>
          <p:nvPr/>
        </p:nvSpPr>
        <p:spPr>
          <a:xfrm>
            <a:off x="3164550" y="4387986"/>
            <a:ext cx="2814900" cy="176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4;p18">
            <a:extLst>
              <a:ext uri="{FF2B5EF4-FFF2-40B4-BE49-F238E27FC236}">
                <a16:creationId xmlns:a16="http://schemas.microsoft.com/office/drawing/2014/main" id="{F02FEAEF-8824-FB44-B4E0-C8DA1EB358A4}"/>
              </a:ext>
            </a:extLst>
          </p:cNvPr>
          <p:cNvSpPr/>
          <p:nvPr/>
        </p:nvSpPr>
        <p:spPr>
          <a:xfrm rot="3502816">
            <a:off x="3595629" y="3301706"/>
            <a:ext cx="184253" cy="1116605"/>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5;p18">
            <a:extLst>
              <a:ext uri="{FF2B5EF4-FFF2-40B4-BE49-F238E27FC236}">
                <a16:creationId xmlns:a16="http://schemas.microsoft.com/office/drawing/2014/main" id="{115A5712-58B5-0746-9488-E2EF88C31376}"/>
              </a:ext>
            </a:extLst>
          </p:cNvPr>
          <p:cNvSpPr txBox="1"/>
          <p:nvPr/>
        </p:nvSpPr>
        <p:spPr>
          <a:xfrm>
            <a:off x="3840600" y="3191911"/>
            <a:ext cx="1462800" cy="21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Depression</a:t>
            </a:r>
            <a:endParaRPr dirty="0"/>
          </a:p>
        </p:txBody>
      </p:sp>
      <p:sp>
        <p:nvSpPr>
          <p:cNvPr id="11" name="Google Shape;126;p18">
            <a:extLst>
              <a:ext uri="{FF2B5EF4-FFF2-40B4-BE49-F238E27FC236}">
                <a16:creationId xmlns:a16="http://schemas.microsoft.com/office/drawing/2014/main" id="{EEBC4267-8D7E-3B43-B671-5785FC270450}"/>
              </a:ext>
            </a:extLst>
          </p:cNvPr>
          <p:cNvSpPr/>
          <p:nvPr/>
        </p:nvSpPr>
        <p:spPr>
          <a:xfrm rot="-3454736">
            <a:off x="5366596" y="3301689"/>
            <a:ext cx="184095" cy="1116648"/>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5;p18">
            <a:extLst>
              <a:ext uri="{FF2B5EF4-FFF2-40B4-BE49-F238E27FC236}">
                <a16:creationId xmlns:a16="http://schemas.microsoft.com/office/drawing/2014/main" id="{C1EB6DA2-077C-9C44-B04E-6BF990C5998B}"/>
              </a:ext>
            </a:extLst>
          </p:cNvPr>
          <p:cNvSpPr txBox="1"/>
          <p:nvPr/>
        </p:nvSpPr>
        <p:spPr>
          <a:xfrm>
            <a:off x="1600674" y="4172886"/>
            <a:ext cx="1462800" cy="21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SSRI use</a:t>
            </a:r>
            <a:endParaRPr dirty="0"/>
          </a:p>
        </p:txBody>
      </p:sp>
      <p:sp>
        <p:nvSpPr>
          <p:cNvPr id="14" name="Google Shape;125;p18">
            <a:extLst>
              <a:ext uri="{FF2B5EF4-FFF2-40B4-BE49-F238E27FC236}">
                <a16:creationId xmlns:a16="http://schemas.microsoft.com/office/drawing/2014/main" id="{2FFAC977-6186-8444-9E82-2A9F20E0F0B4}"/>
              </a:ext>
            </a:extLst>
          </p:cNvPr>
          <p:cNvSpPr txBox="1"/>
          <p:nvPr/>
        </p:nvSpPr>
        <p:spPr>
          <a:xfrm>
            <a:off x="5979293" y="4175905"/>
            <a:ext cx="1462800" cy="215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Suicide Risk</a:t>
            </a:r>
            <a:endParaRPr dirty="0"/>
          </a:p>
        </p:txBody>
      </p:sp>
    </p:spTree>
    <p:extLst>
      <p:ext uri="{BB962C8B-B14F-4D97-AF65-F5344CB8AC3E}">
        <p14:creationId xmlns:p14="http://schemas.microsoft.com/office/powerpoint/2010/main" val="3211171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70" name="Google Shape;70;p15"/>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71" name="Google Shape;71;p15"/>
          <p:cNvSpPr txBox="1">
            <a:spLocks noGrp="1"/>
          </p:cNvSpPr>
          <p:nvPr>
            <p:ph type="ctrTitle"/>
          </p:nvPr>
        </p:nvSpPr>
        <p:spPr>
          <a:xfrm>
            <a:off x="170550" y="96025"/>
            <a:ext cx="5083500" cy="56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solidFill>
                  <a:srgbClr val="3D85C6"/>
                </a:solidFill>
              </a:rPr>
              <a:t>Confounding Exercises</a:t>
            </a:r>
            <a:endParaRPr sz="2800">
              <a:solidFill>
                <a:srgbClr val="3D85C6"/>
              </a:solidFill>
            </a:endParaRPr>
          </a:p>
        </p:txBody>
      </p:sp>
      <p:sp>
        <p:nvSpPr>
          <p:cNvPr id="73" name="Google Shape;73;p15"/>
          <p:cNvSpPr txBox="1"/>
          <p:nvPr/>
        </p:nvSpPr>
        <p:spPr>
          <a:xfrm>
            <a:off x="1274536" y="3038019"/>
            <a:ext cx="6746580" cy="1828331"/>
          </a:xfrm>
          <a:prstGeom prst="rect">
            <a:avLst/>
          </a:prstGeom>
          <a:solidFill>
            <a:srgbClr val="00B0F0"/>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400" i="1" dirty="0">
                <a:solidFill>
                  <a:schemeClr val="bg1"/>
                </a:solidFill>
              </a:rPr>
              <a:t>Read the article and:</a:t>
            </a:r>
          </a:p>
          <a:p>
            <a:pPr marL="0" lvl="0" indent="0" algn="l" rtl="0">
              <a:lnSpc>
                <a:spcPct val="115000"/>
              </a:lnSpc>
              <a:spcBef>
                <a:spcPts val="0"/>
              </a:spcBef>
              <a:spcAft>
                <a:spcPts val="0"/>
              </a:spcAft>
              <a:buNone/>
            </a:pPr>
            <a:r>
              <a:rPr lang="en-US" sz="2400" i="1" dirty="0">
                <a:solidFill>
                  <a:schemeClr val="bg1"/>
                </a:solidFill>
              </a:rPr>
              <a:t>1- What is the research question?</a:t>
            </a:r>
          </a:p>
          <a:p>
            <a:pPr marL="0" lvl="0" indent="0" algn="l" rtl="0">
              <a:lnSpc>
                <a:spcPct val="115000"/>
              </a:lnSpc>
              <a:spcBef>
                <a:spcPts val="0"/>
              </a:spcBef>
              <a:spcAft>
                <a:spcPts val="0"/>
              </a:spcAft>
              <a:buNone/>
            </a:pPr>
            <a:r>
              <a:rPr lang="en-US" sz="2400" i="1" dirty="0">
                <a:solidFill>
                  <a:schemeClr val="bg1"/>
                </a:solidFill>
              </a:rPr>
              <a:t>2- What is the main finding?</a:t>
            </a:r>
          </a:p>
          <a:p>
            <a:pPr marL="0" lvl="0" indent="0" algn="l" rtl="0">
              <a:lnSpc>
                <a:spcPct val="115000"/>
              </a:lnSpc>
              <a:spcBef>
                <a:spcPts val="0"/>
              </a:spcBef>
              <a:spcAft>
                <a:spcPts val="0"/>
              </a:spcAft>
              <a:buNone/>
            </a:pPr>
            <a:r>
              <a:rPr lang="en-US" sz="2400" i="1" dirty="0">
                <a:solidFill>
                  <a:schemeClr val="bg1"/>
                </a:solidFill>
              </a:rPr>
              <a:t>What do you think of the results?</a:t>
            </a:r>
            <a:endParaRPr sz="2400" i="1" dirty="0">
              <a:solidFill>
                <a:schemeClr val="bg1"/>
              </a:solidFill>
            </a:endParaRPr>
          </a:p>
        </p:txBody>
      </p:sp>
      <p:pic>
        <p:nvPicPr>
          <p:cNvPr id="3" name="Picture 2" descr="Graphical user interface, text, application&#10;&#10;Description automatically generated">
            <a:extLst>
              <a:ext uri="{FF2B5EF4-FFF2-40B4-BE49-F238E27FC236}">
                <a16:creationId xmlns:a16="http://schemas.microsoft.com/office/drawing/2014/main" id="{E8EC68D2-D9FA-B341-9152-15A13061C6B9}"/>
              </a:ext>
            </a:extLst>
          </p:cNvPr>
          <p:cNvPicPr>
            <a:picLocks noChangeAspect="1"/>
          </p:cNvPicPr>
          <p:nvPr/>
        </p:nvPicPr>
        <p:blipFill>
          <a:blip r:embed="rId5"/>
          <a:stretch>
            <a:fillRect/>
          </a:stretch>
        </p:blipFill>
        <p:spPr>
          <a:xfrm>
            <a:off x="1274536" y="926658"/>
            <a:ext cx="6746580" cy="2053307"/>
          </a:xfrm>
          <a:prstGeom prst="rect">
            <a:avLst/>
          </a:prstGeom>
          <a:ln>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21"/>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118" name="Google Shape;118;p21"/>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119" name="Google Shape;119;p21"/>
          <p:cNvSpPr txBox="1">
            <a:spLocks noGrp="1"/>
          </p:cNvSpPr>
          <p:nvPr>
            <p:ph type="ctrTitle"/>
          </p:nvPr>
        </p:nvSpPr>
        <p:spPr>
          <a:xfrm>
            <a:off x="2030250" y="2290800"/>
            <a:ext cx="5083500" cy="5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solidFill>
                  <a:srgbClr val="3D85C6"/>
                </a:solidFill>
              </a:rPr>
              <a:t>Bias Exercises </a:t>
            </a:r>
            <a:endParaRPr sz="2800" dirty="0">
              <a:solidFill>
                <a:srgbClr val="3D85C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8B85-F540-BD46-8AFC-5F439883330F}"/>
              </a:ext>
            </a:extLst>
          </p:cNvPr>
          <p:cNvSpPr>
            <a:spLocks noGrp="1"/>
          </p:cNvSpPr>
          <p:nvPr>
            <p:ph type="title"/>
          </p:nvPr>
        </p:nvSpPr>
        <p:spPr>
          <a:xfrm>
            <a:off x="276866" y="259480"/>
            <a:ext cx="7886700" cy="517464"/>
          </a:xfrm>
        </p:spPr>
        <p:txBody>
          <a:bodyPr>
            <a:normAutofit fontScale="90000"/>
          </a:bodyPr>
          <a:lstStyle/>
          <a:p>
            <a:r>
              <a:rPr lang="en" dirty="0">
                <a:solidFill>
                  <a:srgbClr val="3D85C6"/>
                </a:solidFill>
              </a:rPr>
              <a:t>Prevalent User Bias</a:t>
            </a:r>
            <a:endParaRPr lang="en-US" dirty="0">
              <a:solidFill>
                <a:srgbClr val="FF0000"/>
              </a:solidFill>
            </a:endParaRPr>
          </a:p>
        </p:txBody>
      </p:sp>
      <p:cxnSp>
        <p:nvCxnSpPr>
          <p:cNvPr id="10" name="Straight Connector 9">
            <a:extLst>
              <a:ext uri="{FF2B5EF4-FFF2-40B4-BE49-F238E27FC236}">
                <a16:creationId xmlns:a16="http://schemas.microsoft.com/office/drawing/2014/main" id="{FD8B5A6E-6927-6A46-90AA-042D17BF850A}"/>
              </a:ext>
            </a:extLst>
          </p:cNvPr>
          <p:cNvCxnSpPr/>
          <p:nvPr/>
        </p:nvCxnSpPr>
        <p:spPr>
          <a:xfrm>
            <a:off x="360485" y="842993"/>
            <a:ext cx="55919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33351FC-2D25-8C4C-AABE-182BB328C4E4}"/>
              </a:ext>
            </a:extLst>
          </p:cNvPr>
          <p:cNvSpPr/>
          <p:nvPr/>
        </p:nvSpPr>
        <p:spPr>
          <a:xfrm>
            <a:off x="276867" y="2922374"/>
            <a:ext cx="8651117" cy="1668214"/>
          </a:xfrm>
          <a:prstGeom prst="rect">
            <a:avLst/>
          </a:prstGeom>
        </p:spPr>
        <p:txBody>
          <a:bodyPr wrap="square">
            <a:spAutoFit/>
          </a:bodyPr>
          <a:lstStyle/>
          <a:p>
            <a:pPr marL="342900" indent="-342900">
              <a:lnSpc>
                <a:spcPct val="150000"/>
              </a:lnSpc>
              <a:buFont typeface="Arial" panose="020B0604020202020204" pitchFamily="34" charset="0"/>
              <a:buChar char="•"/>
            </a:pPr>
            <a:r>
              <a:rPr lang="en-US" sz="1575" dirty="0">
                <a:latin typeface="Arial" panose="020B0604020202020204" pitchFamily="34" charset="0"/>
                <a:cs typeface="Arial" panose="020B0604020202020204" pitchFamily="34" charset="0"/>
              </a:rPr>
              <a:t>In 2006, researchers conducted an observational study and found that postmenopausal hormone therapy significantly </a:t>
            </a:r>
            <a:r>
              <a:rPr lang="en-US" sz="1575" dirty="0">
                <a:highlight>
                  <a:srgbClr val="00FFFF"/>
                </a:highlight>
                <a:latin typeface="Arial" panose="020B0604020202020204" pitchFamily="34" charset="0"/>
                <a:cs typeface="Arial" panose="020B0604020202020204" pitchFamily="34" charset="0"/>
              </a:rPr>
              <a:t>reduced</a:t>
            </a:r>
            <a:r>
              <a:rPr lang="en-US" sz="1575" dirty="0">
                <a:latin typeface="Arial" panose="020B0604020202020204" pitchFamily="34" charset="0"/>
                <a:cs typeface="Arial" panose="020B0604020202020204" pitchFamily="34" charset="0"/>
              </a:rPr>
              <a:t> coronary heart disease about 30% compared to postmenopausal women who never used hormone therapy. </a:t>
            </a:r>
          </a:p>
          <a:p>
            <a:pPr marL="685800" lvl="1" indent="-342900">
              <a:lnSpc>
                <a:spcPct val="150000"/>
              </a:lnSpc>
              <a:buFont typeface="Arial" panose="020B0604020202020204" pitchFamily="34" charset="0"/>
              <a:buChar char="•"/>
            </a:pPr>
            <a:r>
              <a:rPr lang="en-US" sz="1050" i="1" dirty="0">
                <a:latin typeface="Arial" panose="020B0604020202020204" pitchFamily="34" charset="0"/>
                <a:cs typeface="Arial" panose="020B0604020202020204" pitchFamily="34" charset="0"/>
              </a:rPr>
              <a:t>These results contradicted previous findings from an RCT that showed initiating hormone therapy </a:t>
            </a:r>
            <a:r>
              <a:rPr lang="en-US" sz="1050" i="1" dirty="0">
                <a:highlight>
                  <a:srgbClr val="00FFFF"/>
                </a:highlight>
                <a:latin typeface="Arial" panose="020B0604020202020204" pitchFamily="34" charset="0"/>
                <a:cs typeface="Arial" panose="020B0604020202020204" pitchFamily="34" charset="0"/>
              </a:rPr>
              <a:t>increases</a:t>
            </a:r>
            <a:r>
              <a:rPr lang="en-US" sz="1050" i="1" dirty="0">
                <a:latin typeface="Arial" panose="020B0604020202020204" pitchFamily="34" charset="0"/>
                <a:cs typeface="Arial" panose="020B0604020202020204" pitchFamily="34" charset="0"/>
              </a:rPr>
              <a:t> the risk of CHD by 20% among postmenopausal women!! </a:t>
            </a:r>
            <a:r>
              <a:rPr lang="en-US" sz="1200" i="1" dirty="0">
                <a:latin typeface="Arial" panose="020B0604020202020204" pitchFamily="34" charset="0"/>
                <a:cs typeface="Arial" panose="020B0604020202020204" pitchFamily="34" charset="0"/>
              </a:rPr>
              <a:t>(Manson et al. NEJM, 2003)</a:t>
            </a:r>
          </a:p>
        </p:txBody>
      </p:sp>
      <p:pic>
        <p:nvPicPr>
          <p:cNvPr id="16" name="Picture 15" descr="Text, letter&#10;&#10;Description automatically generated">
            <a:extLst>
              <a:ext uri="{FF2B5EF4-FFF2-40B4-BE49-F238E27FC236}">
                <a16:creationId xmlns:a16="http://schemas.microsoft.com/office/drawing/2014/main" id="{C9CDC380-CF28-7F48-9382-30B2D17ACD5B}"/>
              </a:ext>
            </a:extLst>
          </p:cNvPr>
          <p:cNvPicPr>
            <a:picLocks noChangeAspect="1"/>
          </p:cNvPicPr>
          <p:nvPr/>
        </p:nvPicPr>
        <p:blipFill rotWithShape="1">
          <a:blip r:embed="rId3"/>
          <a:srcRect t="5599" b="15000"/>
          <a:stretch/>
        </p:blipFill>
        <p:spPr>
          <a:xfrm>
            <a:off x="2140744" y="1127549"/>
            <a:ext cx="4862513" cy="1703700"/>
          </a:xfrm>
          <a:prstGeom prst="rect">
            <a:avLst/>
          </a:prstGeom>
        </p:spPr>
      </p:pic>
      <p:sp>
        <p:nvSpPr>
          <p:cNvPr id="4" name="Content Placeholder 3">
            <a:extLst>
              <a:ext uri="{FF2B5EF4-FFF2-40B4-BE49-F238E27FC236}">
                <a16:creationId xmlns:a16="http://schemas.microsoft.com/office/drawing/2014/main" id="{BC5F0C61-E9FF-B12F-97D0-95AA415A873C}"/>
              </a:ext>
            </a:extLst>
          </p:cNvPr>
          <p:cNvSpPr>
            <a:spLocks noGrp="1"/>
          </p:cNvSpPr>
          <p:nvPr>
            <p:ph idx="1"/>
          </p:nvPr>
        </p:nvSpPr>
        <p:spPr/>
        <p:txBody>
          <a:bodyPr/>
          <a:lstStyle/>
          <a:p>
            <a:endParaRPr lang="en-US"/>
          </a:p>
        </p:txBody>
      </p:sp>
      <p:pic>
        <p:nvPicPr>
          <p:cNvPr id="6" name="Google Shape;185;p24">
            <a:extLst>
              <a:ext uri="{FF2B5EF4-FFF2-40B4-BE49-F238E27FC236}">
                <a16:creationId xmlns:a16="http://schemas.microsoft.com/office/drawing/2014/main" id="{479C4556-8327-415C-354F-738E4DFED824}"/>
              </a:ext>
            </a:extLst>
          </p:cNvPr>
          <p:cNvPicPr preferRelativeResize="0"/>
          <p:nvPr/>
        </p:nvPicPr>
        <p:blipFill>
          <a:blip r:embed="rId4">
            <a:alphaModFix/>
          </a:blip>
          <a:stretch>
            <a:fillRect/>
          </a:stretch>
        </p:blipFill>
        <p:spPr>
          <a:xfrm>
            <a:off x="7644625" y="61201"/>
            <a:ext cx="1462899" cy="562000"/>
          </a:xfrm>
          <a:prstGeom prst="rect">
            <a:avLst/>
          </a:prstGeom>
          <a:noFill/>
          <a:ln>
            <a:noFill/>
          </a:ln>
        </p:spPr>
      </p:pic>
    </p:spTree>
    <p:extLst>
      <p:ext uri="{BB962C8B-B14F-4D97-AF65-F5344CB8AC3E}">
        <p14:creationId xmlns:p14="http://schemas.microsoft.com/office/powerpoint/2010/main" val="380729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8B85-F540-BD46-8AFC-5F439883330F}"/>
              </a:ext>
            </a:extLst>
          </p:cNvPr>
          <p:cNvSpPr>
            <a:spLocks noGrp="1"/>
          </p:cNvSpPr>
          <p:nvPr>
            <p:ph type="title"/>
          </p:nvPr>
        </p:nvSpPr>
        <p:spPr>
          <a:xfrm>
            <a:off x="276866" y="259480"/>
            <a:ext cx="7886700" cy="517464"/>
          </a:xfrm>
        </p:spPr>
        <p:txBody>
          <a:bodyPr>
            <a:normAutofit fontScale="90000"/>
          </a:bodyPr>
          <a:lstStyle/>
          <a:p>
            <a:r>
              <a:rPr lang="en" dirty="0">
                <a:solidFill>
                  <a:srgbClr val="3D85C6"/>
                </a:solidFill>
              </a:rPr>
              <a:t>Prevalent User Bias</a:t>
            </a:r>
            <a:endParaRPr lang="en-US" dirty="0">
              <a:solidFill>
                <a:srgbClr val="FF0000"/>
              </a:solidFill>
            </a:endParaRPr>
          </a:p>
        </p:txBody>
      </p:sp>
      <p:cxnSp>
        <p:nvCxnSpPr>
          <p:cNvPr id="10" name="Straight Connector 9">
            <a:extLst>
              <a:ext uri="{FF2B5EF4-FFF2-40B4-BE49-F238E27FC236}">
                <a16:creationId xmlns:a16="http://schemas.microsoft.com/office/drawing/2014/main" id="{FD8B5A6E-6927-6A46-90AA-042D17BF850A}"/>
              </a:ext>
            </a:extLst>
          </p:cNvPr>
          <p:cNvCxnSpPr/>
          <p:nvPr/>
        </p:nvCxnSpPr>
        <p:spPr>
          <a:xfrm>
            <a:off x="360485" y="842993"/>
            <a:ext cx="5591907"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6" name="Picture 5" descr="Chart&#10;&#10;Description automatically generated">
            <a:extLst>
              <a:ext uri="{FF2B5EF4-FFF2-40B4-BE49-F238E27FC236}">
                <a16:creationId xmlns:a16="http://schemas.microsoft.com/office/drawing/2014/main" id="{E8F10735-926F-B342-BDB2-9180632A5F12}"/>
              </a:ext>
            </a:extLst>
          </p:cNvPr>
          <p:cNvPicPr>
            <a:picLocks noChangeAspect="1"/>
          </p:cNvPicPr>
          <p:nvPr/>
        </p:nvPicPr>
        <p:blipFill>
          <a:blip r:embed="rId3"/>
          <a:stretch>
            <a:fillRect/>
          </a:stretch>
        </p:blipFill>
        <p:spPr>
          <a:xfrm>
            <a:off x="4802822" y="2086226"/>
            <a:ext cx="4230740" cy="2532094"/>
          </a:xfrm>
          <a:prstGeom prst="rect">
            <a:avLst/>
          </a:prstGeom>
        </p:spPr>
      </p:pic>
      <p:sp>
        <p:nvSpPr>
          <p:cNvPr id="7" name="TextBox 6">
            <a:extLst>
              <a:ext uri="{FF2B5EF4-FFF2-40B4-BE49-F238E27FC236}">
                <a16:creationId xmlns:a16="http://schemas.microsoft.com/office/drawing/2014/main" id="{B1686233-86CB-4A42-8D7F-A8FF5E670F33}"/>
              </a:ext>
            </a:extLst>
          </p:cNvPr>
          <p:cNvSpPr txBox="1"/>
          <p:nvPr/>
        </p:nvSpPr>
        <p:spPr>
          <a:xfrm>
            <a:off x="6121134" y="4618320"/>
            <a:ext cx="3143250" cy="276999"/>
          </a:xfrm>
          <a:prstGeom prst="rect">
            <a:avLst/>
          </a:prstGeom>
          <a:noFill/>
        </p:spPr>
        <p:txBody>
          <a:bodyPr wrap="square" rtlCol="0">
            <a:spAutoFit/>
          </a:bodyPr>
          <a:lstStyle/>
          <a:p>
            <a:r>
              <a:rPr lang="en-US" sz="1200" i="1" dirty="0" err="1"/>
              <a:t>Stensrud</a:t>
            </a:r>
            <a:r>
              <a:rPr lang="en-US" sz="1200" i="1" dirty="0"/>
              <a:t> et al., Epidemiology, 2017</a:t>
            </a:r>
          </a:p>
        </p:txBody>
      </p:sp>
      <p:pic>
        <p:nvPicPr>
          <p:cNvPr id="9" name="Picture 8" descr="A picture containing diagram&#10;&#10;Description automatically generated">
            <a:extLst>
              <a:ext uri="{FF2B5EF4-FFF2-40B4-BE49-F238E27FC236}">
                <a16:creationId xmlns:a16="http://schemas.microsoft.com/office/drawing/2014/main" id="{506E1DBB-D80B-E74C-A640-9F9A887D4F75}"/>
              </a:ext>
            </a:extLst>
          </p:cNvPr>
          <p:cNvPicPr>
            <a:picLocks noChangeAspect="1"/>
          </p:cNvPicPr>
          <p:nvPr/>
        </p:nvPicPr>
        <p:blipFill>
          <a:blip r:embed="rId4"/>
          <a:stretch>
            <a:fillRect/>
          </a:stretch>
        </p:blipFill>
        <p:spPr>
          <a:xfrm>
            <a:off x="-94609" y="2000214"/>
            <a:ext cx="4666609" cy="2618121"/>
          </a:xfrm>
          <a:prstGeom prst="rect">
            <a:avLst/>
          </a:prstGeom>
        </p:spPr>
      </p:pic>
      <p:sp>
        <p:nvSpPr>
          <p:cNvPr id="14" name="Rectangle 13">
            <a:extLst>
              <a:ext uri="{FF2B5EF4-FFF2-40B4-BE49-F238E27FC236}">
                <a16:creationId xmlns:a16="http://schemas.microsoft.com/office/drawing/2014/main" id="{F1BC88D2-E322-8B44-A203-305221C506A8}"/>
              </a:ext>
            </a:extLst>
          </p:cNvPr>
          <p:cNvSpPr/>
          <p:nvPr/>
        </p:nvSpPr>
        <p:spPr>
          <a:xfrm>
            <a:off x="246442" y="1296193"/>
            <a:ext cx="8651117" cy="411010"/>
          </a:xfrm>
          <a:prstGeom prst="rect">
            <a:avLst/>
          </a:prstGeom>
        </p:spPr>
        <p:txBody>
          <a:bodyPr wrap="square">
            <a:spAutoFit/>
          </a:bodyPr>
          <a:lstStyle/>
          <a:p>
            <a:pPr marL="342900" indent="-342900">
              <a:lnSpc>
                <a:spcPct val="150000"/>
              </a:lnSpc>
              <a:buFont typeface="Arial" panose="020B0604020202020204" pitchFamily="34" charset="0"/>
              <a:buChar char="•"/>
            </a:pPr>
            <a:r>
              <a:rPr lang="en-US" sz="1575" dirty="0">
                <a:latin typeface="Arial" panose="020B0604020202020204" pitchFamily="34" charset="0"/>
                <a:cs typeface="Arial" panose="020B0604020202020204" pitchFamily="34" charset="0"/>
              </a:rPr>
              <a:t>Researchers </a:t>
            </a:r>
            <a:r>
              <a:rPr lang="en-US" sz="1575" i="1" dirty="0">
                <a:highlight>
                  <a:srgbClr val="00FFFF"/>
                </a:highlight>
                <a:latin typeface="Arial" panose="020B0604020202020204" pitchFamily="34" charset="0"/>
                <a:cs typeface="Arial" panose="020B0604020202020204" pitchFamily="34" charset="0"/>
              </a:rPr>
              <a:t>assumed</a:t>
            </a:r>
            <a:r>
              <a:rPr lang="en-US" sz="1575" dirty="0">
                <a:latin typeface="Arial" panose="020B0604020202020204" pitchFamily="34" charset="0"/>
                <a:cs typeface="Arial" panose="020B0604020202020204" pitchFamily="34" charset="0"/>
              </a:rPr>
              <a:t> the CHD risk is constant during HRT exposure</a:t>
            </a:r>
          </a:p>
        </p:txBody>
      </p:sp>
      <p:sp>
        <p:nvSpPr>
          <p:cNvPr id="4" name="Content Placeholder 3">
            <a:extLst>
              <a:ext uri="{FF2B5EF4-FFF2-40B4-BE49-F238E27FC236}">
                <a16:creationId xmlns:a16="http://schemas.microsoft.com/office/drawing/2014/main" id="{33F8ED01-19BF-DADB-9BCA-E1222D37570B}"/>
              </a:ext>
            </a:extLst>
          </p:cNvPr>
          <p:cNvSpPr>
            <a:spLocks noGrp="1"/>
          </p:cNvSpPr>
          <p:nvPr>
            <p:ph idx="1"/>
          </p:nvPr>
        </p:nvSpPr>
        <p:spPr/>
        <p:txBody>
          <a:bodyPr/>
          <a:lstStyle/>
          <a:p>
            <a:endParaRPr lang="en-US"/>
          </a:p>
        </p:txBody>
      </p:sp>
      <p:pic>
        <p:nvPicPr>
          <p:cNvPr id="8" name="Google Shape;185;p24">
            <a:extLst>
              <a:ext uri="{FF2B5EF4-FFF2-40B4-BE49-F238E27FC236}">
                <a16:creationId xmlns:a16="http://schemas.microsoft.com/office/drawing/2014/main" id="{8E7E4688-A717-0BB2-E892-B3632C5CC387}"/>
              </a:ext>
            </a:extLst>
          </p:cNvPr>
          <p:cNvPicPr preferRelativeResize="0"/>
          <p:nvPr/>
        </p:nvPicPr>
        <p:blipFill>
          <a:blip r:embed="rId5">
            <a:alphaModFix/>
          </a:blip>
          <a:stretch>
            <a:fillRect/>
          </a:stretch>
        </p:blipFill>
        <p:spPr>
          <a:xfrm>
            <a:off x="7644625" y="61201"/>
            <a:ext cx="1462899" cy="562000"/>
          </a:xfrm>
          <a:prstGeom prst="rect">
            <a:avLst/>
          </a:prstGeom>
          <a:noFill/>
          <a:ln>
            <a:noFill/>
          </a:ln>
        </p:spPr>
      </p:pic>
    </p:spTree>
    <p:extLst>
      <p:ext uri="{BB962C8B-B14F-4D97-AF65-F5344CB8AC3E}">
        <p14:creationId xmlns:p14="http://schemas.microsoft.com/office/powerpoint/2010/main" val="1316201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8B85-F540-BD46-8AFC-5F439883330F}"/>
              </a:ext>
            </a:extLst>
          </p:cNvPr>
          <p:cNvSpPr>
            <a:spLocks noGrp="1"/>
          </p:cNvSpPr>
          <p:nvPr>
            <p:ph type="title"/>
          </p:nvPr>
        </p:nvSpPr>
        <p:spPr>
          <a:xfrm>
            <a:off x="276866" y="259480"/>
            <a:ext cx="7886700" cy="517464"/>
          </a:xfrm>
        </p:spPr>
        <p:txBody>
          <a:bodyPr>
            <a:normAutofit fontScale="90000"/>
          </a:bodyPr>
          <a:lstStyle/>
          <a:p>
            <a:r>
              <a:rPr lang="en" dirty="0">
                <a:solidFill>
                  <a:srgbClr val="3D85C6"/>
                </a:solidFill>
              </a:rPr>
              <a:t>Prevalent User Bias</a:t>
            </a:r>
            <a:endParaRPr lang="en-US" dirty="0">
              <a:solidFill>
                <a:srgbClr val="FF0000"/>
              </a:solidFill>
            </a:endParaRPr>
          </a:p>
        </p:txBody>
      </p:sp>
      <p:cxnSp>
        <p:nvCxnSpPr>
          <p:cNvPr id="10" name="Straight Connector 9">
            <a:extLst>
              <a:ext uri="{FF2B5EF4-FFF2-40B4-BE49-F238E27FC236}">
                <a16:creationId xmlns:a16="http://schemas.microsoft.com/office/drawing/2014/main" id="{FD8B5A6E-6927-6A46-90AA-042D17BF850A}"/>
              </a:ext>
            </a:extLst>
          </p:cNvPr>
          <p:cNvCxnSpPr/>
          <p:nvPr/>
        </p:nvCxnSpPr>
        <p:spPr>
          <a:xfrm>
            <a:off x="360485" y="842993"/>
            <a:ext cx="559190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9062CC4-09F0-294C-AE1A-52DBFDE7A859}"/>
              </a:ext>
            </a:extLst>
          </p:cNvPr>
          <p:cNvSpPr/>
          <p:nvPr/>
        </p:nvSpPr>
        <p:spPr>
          <a:xfrm>
            <a:off x="276867" y="998324"/>
            <a:ext cx="8651117" cy="1865254"/>
          </a:xfrm>
          <a:prstGeom prst="rect">
            <a:avLst/>
          </a:prstGeom>
        </p:spPr>
        <p:txBody>
          <a:bodyPr wrap="square">
            <a:spAutoFit/>
          </a:bodyPr>
          <a:lstStyle/>
          <a:p>
            <a:pPr marL="342900" indent="-342900">
              <a:lnSpc>
                <a:spcPct val="150000"/>
              </a:lnSpc>
              <a:buFont typeface="Arial" panose="020B0604020202020204" pitchFamily="34" charset="0"/>
              <a:buChar char="•"/>
            </a:pPr>
            <a:r>
              <a:rPr lang="en-US" sz="1575" dirty="0">
                <a:latin typeface="Arial" panose="020B0604020202020204" pitchFamily="34" charset="0"/>
                <a:cs typeface="Arial" panose="020B0604020202020204" pitchFamily="34" charset="0"/>
              </a:rPr>
              <a:t>In 2008, the same data were re-analyzed to explain the discrepancies between RCTs and RWE findings. </a:t>
            </a:r>
          </a:p>
          <a:p>
            <a:pPr marL="342900" indent="-342900">
              <a:lnSpc>
                <a:spcPct val="150000"/>
              </a:lnSpc>
              <a:buFont typeface="Arial" panose="020B0604020202020204" pitchFamily="34" charset="0"/>
              <a:buChar char="•"/>
            </a:pPr>
            <a:r>
              <a:rPr lang="en-US" sz="1575" dirty="0">
                <a:latin typeface="Arial" panose="020B0604020202020204" pitchFamily="34" charset="0"/>
                <a:cs typeface="Arial" panose="020B0604020202020204" pitchFamily="34" charset="0"/>
              </a:rPr>
              <a:t>The researchers emulated an RCT by only including HRT initiators (new users). The only two differences between the RCT and the new re-analysis are:</a:t>
            </a:r>
          </a:p>
          <a:p>
            <a:pPr lvl="1">
              <a:lnSpc>
                <a:spcPct val="150000"/>
              </a:lnSpc>
            </a:pPr>
            <a:r>
              <a:rPr lang="en-US" sz="1575" dirty="0">
                <a:latin typeface="Arial" panose="020B0604020202020204" pitchFamily="34" charset="0"/>
                <a:cs typeface="Arial" panose="020B0604020202020204" pitchFamily="34" charset="0"/>
              </a:rPr>
              <a:t>	1- No randomization ad 2- No placebo assignment</a:t>
            </a:r>
          </a:p>
        </p:txBody>
      </p:sp>
      <p:graphicFrame>
        <p:nvGraphicFramePr>
          <p:cNvPr id="3" name="Table 3">
            <a:extLst>
              <a:ext uri="{FF2B5EF4-FFF2-40B4-BE49-F238E27FC236}">
                <a16:creationId xmlns:a16="http://schemas.microsoft.com/office/drawing/2014/main" id="{D590F1C5-1CA6-3D45-9770-0B65E8510C10}"/>
              </a:ext>
            </a:extLst>
          </p:cNvPr>
          <p:cNvGraphicFramePr>
            <a:graphicFrameLocks noGrp="1"/>
          </p:cNvGraphicFramePr>
          <p:nvPr>
            <p:extLst>
              <p:ext uri="{D42A27DB-BD31-4B8C-83A1-F6EECF244321}">
                <p14:modId xmlns:p14="http://schemas.microsoft.com/office/powerpoint/2010/main" val="204693468"/>
              </p:ext>
            </p:extLst>
          </p:nvPr>
        </p:nvGraphicFramePr>
        <p:xfrm>
          <a:off x="1271588" y="3226404"/>
          <a:ext cx="6600826" cy="1516380"/>
        </p:xfrm>
        <a:graphic>
          <a:graphicData uri="http://schemas.openxmlformats.org/drawingml/2006/table">
            <a:tbl>
              <a:tblPr firstRow="1" bandRow="1">
                <a:tableStyleId>{5C22544A-7EE6-4342-B048-85BDC9FD1C3A}</a:tableStyleId>
              </a:tblPr>
              <a:tblGrid>
                <a:gridCol w="2309813">
                  <a:extLst>
                    <a:ext uri="{9D8B030D-6E8A-4147-A177-3AD203B41FA5}">
                      <a16:colId xmlns:a16="http://schemas.microsoft.com/office/drawing/2014/main" val="4165992509"/>
                    </a:ext>
                  </a:extLst>
                </a:gridCol>
                <a:gridCol w="2090738">
                  <a:extLst>
                    <a:ext uri="{9D8B030D-6E8A-4147-A177-3AD203B41FA5}">
                      <a16:colId xmlns:a16="http://schemas.microsoft.com/office/drawing/2014/main" val="30088198"/>
                    </a:ext>
                  </a:extLst>
                </a:gridCol>
                <a:gridCol w="2200275">
                  <a:extLst>
                    <a:ext uri="{9D8B030D-6E8A-4147-A177-3AD203B41FA5}">
                      <a16:colId xmlns:a16="http://schemas.microsoft.com/office/drawing/2014/main" val="3204092491"/>
                    </a:ext>
                  </a:extLst>
                </a:gridCol>
              </a:tblGrid>
              <a:tr h="388620">
                <a:tc>
                  <a:txBody>
                    <a:bodyPr/>
                    <a:lstStyle/>
                    <a:p>
                      <a:endParaRPr lang="en-US" sz="1100" dirty="0"/>
                    </a:p>
                  </a:txBody>
                  <a:tcPr marL="68580" marR="68580" marT="34290" marB="34290"/>
                </a:tc>
                <a:tc>
                  <a:txBody>
                    <a:bodyPr/>
                    <a:lstStyle/>
                    <a:p>
                      <a:pPr algn="ctr"/>
                      <a:r>
                        <a:rPr lang="en-US" sz="1100" dirty="0"/>
                        <a:t>RCT </a:t>
                      </a:r>
                    </a:p>
                    <a:p>
                      <a:pPr algn="ctr"/>
                      <a:r>
                        <a:rPr lang="en-US" sz="1100" dirty="0"/>
                        <a:t>(Women Health Initiative)</a:t>
                      </a:r>
                    </a:p>
                  </a:txBody>
                  <a:tcPr marL="68580" marR="68580" marT="34290" marB="34290" anchor="ctr"/>
                </a:tc>
                <a:tc>
                  <a:txBody>
                    <a:bodyPr/>
                    <a:lstStyle/>
                    <a:p>
                      <a:pPr algn="ctr"/>
                      <a:r>
                        <a:rPr lang="en-US" sz="1100" dirty="0"/>
                        <a:t>Observational data</a:t>
                      </a:r>
                    </a:p>
                    <a:p>
                      <a:pPr algn="ctr"/>
                      <a:r>
                        <a:rPr lang="en-US" sz="1100" dirty="0"/>
                        <a:t>(Nurses’ Health Study)</a:t>
                      </a:r>
                    </a:p>
                  </a:txBody>
                  <a:tcPr marL="68580" marR="68580" marT="34290" marB="34290" anchor="ctr"/>
                </a:tc>
                <a:extLst>
                  <a:ext uri="{0D108BD9-81ED-4DB2-BD59-A6C34878D82A}">
                    <a16:rowId xmlns:a16="http://schemas.microsoft.com/office/drawing/2014/main" val="550977125"/>
                  </a:ext>
                </a:extLst>
              </a:tr>
              <a:tr h="278130">
                <a:tc>
                  <a:txBody>
                    <a:bodyPr/>
                    <a:lstStyle/>
                    <a:p>
                      <a:r>
                        <a:rPr lang="en-US" sz="1100" dirty="0"/>
                        <a:t>Overall (HR (95%CI))</a:t>
                      </a:r>
                    </a:p>
                  </a:txBody>
                  <a:tcPr marL="68580" marR="68580" marT="34290" marB="34290"/>
                </a:tc>
                <a:tc>
                  <a:txBody>
                    <a:bodyPr/>
                    <a:lstStyle/>
                    <a:p>
                      <a:pPr algn="ctr"/>
                      <a:r>
                        <a:rPr lang="en-US" sz="1100" dirty="0"/>
                        <a:t>1.23 (0.99 – 1.53)</a:t>
                      </a:r>
                    </a:p>
                  </a:txBody>
                  <a:tcPr marL="68580" marR="68580" marT="34290" marB="34290"/>
                </a:tc>
                <a:tc>
                  <a:txBody>
                    <a:bodyPr/>
                    <a:lstStyle/>
                    <a:p>
                      <a:pPr algn="ctr"/>
                      <a:r>
                        <a:rPr lang="en-US" sz="1100" dirty="0"/>
                        <a:t>1.05 (0.82 – 1.34)</a:t>
                      </a:r>
                    </a:p>
                  </a:txBody>
                  <a:tcPr marL="68580" marR="68580" marT="34290" marB="34290"/>
                </a:tc>
                <a:extLst>
                  <a:ext uri="{0D108BD9-81ED-4DB2-BD59-A6C34878D82A}">
                    <a16:rowId xmlns:a16="http://schemas.microsoft.com/office/drawing/2014/main" val="2604405612"/>
                  </a:ext>
                </a:extLst>
              </a:tr>
              <a:tr h="278130">
                <a:tc gridSpan="3">
                  <a:txBody>
                    <a:bodyPr/>
                    <a:lstStyle/>
                    <a:p>
                      <a:r>
                        <a:rPr lang="en-US" sz="1100" dirty="0"/>
                        <a:t>Stratified by years of follow-up</a:t>
                      </a:r>
                    </a:p>
                  </a:txBody>
                  <a:tcPr marL="68580" marR="68580" marT="34290" marB="3429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281908324"/>
                  </a:ext>
                </a:extLst>
              </a:tr>
              <a:tr h="278130">
                <a:tc>
                  <a:txBody>
                    <a:bodyPr/>
                    <a:lstStyle/>
                    <a:p>
                      <a:r>
                        <a:rPr lang="en-US" sz="1100" dirty="0"/>
                        <a:t>0 – 2 years (HR (95%CI))</a:t>
                      </a:r>
                    </a:p>
                  </a:txBody>
                  <a:tcPr marL="68580" marR="68580" marT="34290" marB="34290"/>
                </a:tc>
                <a:tc>
                  <a:txBody>
                    <a:bodyPr/>
                    <a:lstStyle/>
                    <a:p>
                      <a:pPr algn="ctr"/>
                      <a:r>
                        <a:rPr lang="en-US" sz="1100" dirty="0"/>
                        <a:t>1.51 (1.06 – 2.14)</a:t>
                      </a:r>
                    </a:p>
                  </a:txBody>
                  <a:tcPr marL="68580" marR="68580" marT="34290" marB="34290"/>
                </a:tc>
                <a:tc>
                  <a:txBody>
                    <a:bodyPr/>
                    <a:lstStyle/>
                    <a:p>
                      <a:pPr algn="ctr"/>
                      <a:r>
                        <a:rPr lang="en-US" sz="1100" dirty="0"/>
                        <a:t>1.43 (0.92 – 2.23)</a:t>
                      </a:r>
                    </a:p>
                  </a:txBody>
                  <a:tcPr marL="68580" marR="68580" marT="34290" marB="34290"/>
                </a:tc>
                <a:extLst>
                  <a:ext uri="{0D108BD9-81ED-4DB2-BD59-A6C34878D82A}">
                    <a16:rowId xmlns:a16="http://schemas.microsoft.com/office/drawing/2014/main" val="4279705488"/>
                  </a:ext>
                </a:extLst>
              </a:tr>
              <a:tr h="278130">
                <a:tc>
                  <a:txBody>
                    <a:bodyPr/>
                    <a:lstStyle/>
                    <a:p>
                      <a:r>
                        <a:rPr lang="en-US" sz="1100" dirty="0"/>
                        <a:t>&gt; 2 years (HR (95%CI))</a:t>
                      </a:r>
                    </a:p>
                  </a:txBody>
                  <a:tcPr marL="68580" marR="68580" marT="34290" marB="34290"/>
                </a:tc>
                <a:tc>
                  <a:txBody>
                    <a:bodyPr/>
                    <a:lstStyle/>
                    <a:p>
                      <a:pPr algn="ctr"/>
                      <a:r>
                        <a:rPr lang="en-US" sz="1100" dirty="0"/>
                        <a:t>1.07 (0.81 – 1.41)</a:t>
                      </a:r>
                    </a:p>
                  </a:txBody>
                  <a:tcPr marL="68580" marR="68580" marT="34290" marB="34290"/>
                </a:tc>
                <a:tc>
                  <a:txBody>
                    <a:bodyPr/>
                    <a:lstStyle/>
                    <a:p>
                      <a:pPr algn="ctr"/>
                      <a:r>
                        <a:rPr lang="en-US" sz="1100" dirty="0"/>
                        <a:t>0.91 (0.72 – 1.16)</a:t>
                      </a:r>
                    </a:p>
                  </a:txBody>
                  <a:tcPr marL="68580" marR="68580" marT="34290" marB="34290"/>
                </a:tc>
                <a:extLst>
                  <a:ext uri="{0D108BD9-81ED-4DB2-BD59-A6C34878D82A}">
                    <a16:rowId xmlns:a16="http://schemas.microsoft.com/office/drawing/2014/main" val="1119733427"/>
                  </a:ext>
                </a:extLst>
              </a:tr>
            </a:tbl>
          </a:graphicData>
        </a:graphic>
      </p:graphicFrame>
      <p:sp>
        <p:nvSpPr>
          <p:cNvPr id="4" name="Rectangle 3">
            <a:extLst>
              <a:ext uri="{FF2B5EF4-FFF2-40B4-BE49-F238E27FC236}">
                <a16:creationId xmlns:a16="http://schemas.microsoft.com/office/drawing/2014/main" id="{6D21A925-31A4-084F-B0C1-F50BCC0ADAE9}"/>
              </a:ext>
            </a:extLst>
          </p:cNvPr>
          <p:cNvSpPr/>
          <p:nvPr/>
        </p:nvSpPr>
        <p:spPr>
          <a:xfrm>
            <a:off x="3156438" y="4884021"/>
            <a:ext cx="6600825" cy="276999"/>
          </a:xfrm>
          <a:prstGeom prst="rect">
            <a:avLst/>
          </a:prstGeom>
        </p:spPr>
        <p:txBody>
          <a:bodyPr wrap="square">
            <a:spAutoFit/>
          </a:bodyPr>
          <a:lstStyle/>
          <a:p>
            <a:r>
              <a:rPr lang="en-US" sz="1200" dirty="0" err="1">
                <a:solidFill>
                  <a:srgbClr val="303030"/>
                </a:solidFill>
                <a:latin typeface="arial" panose="020B0604020202020204" pitchFamily="34" charset="0"/>
              </a:rPr>
              <a:t>Hernán</a:t>
            </a:r>
            <a:r>
              <a:rPr lang="en-US" sz="1200" dirty="0">
                <a:solidFill>
                  <a:srgbClr val="303030"/>
                </a:solidFill>
                <a:latin typeface="arial" panose="020B0604020202020204" pitchFamily="34" charset="0"/>
              </a:rPr>
              <a:t> et al. </a:t>
            </a:r>
            <a:r>
              <a:rPr lang="en-US" sz="1200" i="1" dirty="0">
                <a:solidFill>
                  <a:srgbClr val="303030"/>
                </a:solidFill>
                <a:latin typeface="arial" panose="020B0604020202020204" pitchFamily="34" charset="0"/>
              </a:rPr>
              <a:t>Epidemiology</a:t>
            </a:r>
            <a:r>
              <a:rPr lang="en-US" sz="1200" dirty="0">
                <a:solidFill>
                  <a:srgbClr val="303030"/>
                </a:solidFill>
                <a:latin typeface="arial" panose="020B0604020202020204" pitchFamily="34" charset="0"/>
              </a:rPr>
              <a:t>. 2008;19(6):766-779. doi:10.1097/EDE.0b013e3181875e61</a:t>
            </a:r>
            <a:endParaRPr lang="en-US" sz="1200" dirty="0"/>
          </a:p>
        </p:txBody>
      </p:sp>
      <p:sp>
        <p:nvSpPr>
          <p:cNvPr id="8" name="Content Placeholder 7">
            <a:extLst>
              <a:ext uri="{FF2B5EF4-FFF2-40B4-BE49-F238E27FC236}">
                <a16:creationId xmlns:a16="http://schemas.microsoft.com/office/drawing/2014/main" id="{7E5D6F0D-B1CF-98DF-3F41-02AC5DB7D103}"/>
              </a:ext>
            </a:extLst>
          </p:cNvPr>
          <p:cNvSpPr>
            <a:spLocks noGrp="1"/>
          </p:cNvSpPr>
          <p:nvPr>
            <p:ph idx="1"/>
          </p:nvPr>
        </p:nvSpPr>
        <p:spPr/>
        <p:txBody>
          <a:bodyPr/>
          <a:lstStyle/>
          <a:p>
            <a:endParaRPr lang="en-US"/>
          </a:p>
        </p:txBody>
      </p:sp>
      <p:pic>
        <p:nvPicPr>
          <p:cNvPr id="9" name="Google Shape;185;p24">
            <a:extLst>
              <a:ext uri="{FF2B5EF4-FFF2-40B4-BE49-F238E27FC236}">
                <a16:creationId xmlns:a16="http://schemas.microsoft.com/office/drawing/2014/main" id="{C14D4FC4-FE0B-9C18-0885-EE9EE6FBA3DE}"/>
              </a:ext>
            </a:extLst>
          </p:cNvPr>
          <p:cNvPicPr preferRelativeResize="0"/>
          <p:nvPr/>
        </p:nvPicPr>
        <p:blipFill>
          <a:blip r:embed="rId3">
            <a:alphaModFix/>
          </a:blip>
          <a:stretch>
            <a:fillRect/>
          </a:stretch>
        </p:blipFill>
        <p:spPr>
          <a:xfrm>
            <a:off x="7644625" y="61201"/>
            <a:ext cx="1462899" cy="562000"/>
          </a:xfrm>
          <a:prstGeom prst="rect">
            <a:avLst/>
          </a:prstGeom>
          <a:noFill/>
          <a:ln>
            <a:noFill/>
          </a:ln>
        </p:spPr>
      </p:pic>
    </p:spTree>
    <p:extLst>
      <p:ext uri="{BB962C8B-B14F-4D97-AF65-F5344CB8AC3E}">
        <p14:creationId xmlns:p14="http://schemas.microsoft.com/office/powerpoint/2010/main" val="4161550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32"/>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207" name="Google Shape;207;p32"/>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208" name="Google Shape;208;p32"/>
          <p:cNvSpPr txBox="1">
            <a:spLocks noGrp="1"/>
          </p:cNvSpPr>
          <p:nvPr>
            <p:ph type="ctrTitle"/>
          </p:nvPr>
        </p:nvSpPr>
        <p:spPr>
          <a:xfrm>
            <a:off x="2030250" y="2290800"/>
            <a:ext cx="5083500" cy="5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a:solidFill>
                  <a:srgbClr val="3D85C6"/>
                </a:solidFill>
              </a:rPr>
              <a:t>Immeasurable Time Bias</a:t>
            </a:r>
            <a:endParaRPr sz="2800">
              <a:solidFill>
                <a:srgbClr val="3D85C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6"/>
          <p:cNvSpPr txBox="1">
            <a:spLocks noGrp="1"/>
          </p:cNvSpPr>
          <p:nvPr>
            <p:ph type="ctrTitle"/>
          </p:nvPr>
        </p:nvSpPr>
        <p:spPr>
          <a:xfrm>
            <a:off x="156525" y="279875"/>
            <a:ext cx="6535200" cy="56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solidFill>
                  <a:srgbClr val="3D85C6"/>
                </a:solidFill>
              </a:rPr>
              <a:t>Immeasurable time bias</a:t>
            </a:r>
            <a:endParaRPr sz="2400" dirty="0">
              <a:solidFill>
                <a:srgbClr val="3D85C6"/>
              </a:solidFill>
            </a:endParaRPr>
          </a:p>
        </p:txBody>
      </p:sp>
      <p:pic>
        <p:nvPicPr>
          <p:cNvPr id="373" name="Google Shape;373;p46"/>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374" name="Google Shape;374;p46"/>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375" name="Google Shape;375;p46"/>
          <p:cNvSpPr txBox="1">
            <a:spLocks noGrp="1"/>
          </p:cNvSpPr>
          <p:nvPr>
            <p:ph type="subTitle" idx="1"/>
          </p:nvPr>
        </p:nvSpPr>
        <p:spPr>
          <a:xfrm>
            <a:off x="203250" y="960000"/>
            <a:ext cx="8737500" cy="1104300"/>
          </a:xfrm>
          <a:prstGeom prst="rect">
            <a:avLst/>
          </a:prstGeom>
          <a:ln>
            <a:noFill/>
          </a:ln>
        </p:spPr>
        <p:txBody>
          <a:bodyPr spcFirstLastPara="1" wrap="square" lIns="91425" tIns="91425" rIns="91425" bIns="91425" anchor="t" anchorCtr="0">
            <a:noAutofit/>
          </a:bodyPr>
          <a:lstStyle/>
          <a:p>
            <a:pPr marL="0" lvl="0" indent="0" algn="l" rtl="0">
              <a:lnSpc>
                <a:spcPct val="120000"/>
              </a:lnSpc>
              <a:spcBef>
                <a:spcPts val="900"/>
              </a:spcBef>
              <a:spcAft>
                <a:spcPts val="900"/>
              </a:spcAft>
              <a:buNone/>
            </a:pPr>
            <a:r>
              <a:rPr lang="en" sz="1650" dirty="0">
                <a:solidFill>
                  <a:srgbClr val="1F1F1F"/>
                </a:solidFill>
              </a:rPr>
              <a:t>It refers to a period of time during follow-up, during which a subject cannot be recognized as being exposed.</a:t>
            </a:r>
            <a:endParaRPr sz="1650" dirty="0">
              <a:solidFill>
                <a:srgbClr val="1F1F1F"/>
              </a:solidFill>
            </a:endParaRPr>
          </a:p>
        </p:txBody>
      </p:sp>
      <p:sp>
        <p:nvSpPr>
          <p:cNvPr id="376" name="Google Shape;376;p46"/>
          <p:cNvSpPr txBox="1">
            <a:spLocks noGrp="1"/>
          </p:cNvSpPr>
          <p:nvPr>
            <p:ph type="subTitle" idx="1"/>
          </p:nvPr>
        </p:nvSpPr>
        <p:spPr>
          <a:xfrm>
            <a:off x="203250" y="2616138"/>
            <a:ext cx="4368900" cy="1733100"/>
          </a:xfrm>
          <a:prstGeom prst="rect">
            <a:avLst/>
          </a:prstGeom>
          <a:ln>
            <a:noFill/>
          </a:ln>
        </p:spPr>
        <p:txBody>
          <a:bodyPr spcFirstLastPara="1" wrap="square" lIns="91425" tIns="91425" rIns="91425" bIns="91425" anchor="t" anchorCtr="0">
            <a:noAutofit/>
          </a:bodyPr>
          <a:lstStyle/>
          <a:p>
            <a:pPr marL="0" lvl="0" indent="0" algn="l" rtl="0">
              <a:lnSpc>
                <a:spcPct val="120000"/>
              </a:lnSpc>
              <a:spcBef>
                <a:spcPts val="900"/>
              </a:spcBef>
              <a:spcAft>
                <a:spcPts val="900"/>
              </a:spcAft>
              <a:buNone/>
            </a:pPr>
            <a:r>
              <a:rPr lang="en" sz="1650" dirty="0">
                <a:solidFill>
                  <a:srgbClr val="1F1F1F"/>
                </a:solidFill>
              </a:rPr>
              <a:t>For example, we would like to evaluate the association between inhaled corticosteroids and death in a case-control study. However, we have only outpatients data, which means patients admission data are not available.</a:t>
            </a:r>
            <a:endParaRPr sz="1650" dirty="0">
              <a:solidFill>
                <a:srgbClr val="1F1F1F"/>
              </a:solidFill>
            </a:endParaRPr>
          </a:p>
        </p:txBody>
      </p:sp>
      <p:pic>
        <p:nvPicPr>
          <p:cNvPr id="377" name="Google Shape;377;p46"/>
          <p:cNvPicPr preferRelativeResize="0"/>
          <p:nvPr/>
        </p:nvPicPr>
        <p:blipFill>
          <a:blip r:embed="rId5">
            <a:alphaModFix/>
          </a:blip>
          <a:stretch>
            <a:fillRect/>
          </a:stretch>
        </p:blipFill>
        <p:spPr>
          <a:xfrm>
            <a:off x="4866875" y="2065162"/>
            <a:ext cx="3744296" cy="2531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70" name="Google Shape;70;p15"/>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71" name="Google Shape;71;p15"/>
          <p:cNvSpPr txBox="1">
            <a:spLocks noGrp="1"/>
          </p:cNvSpPr>
          <p:nvPr>
            <p:ph type="ctrTitle"/>
          </p:nvPr>
        </p:nvSpPr>
        <p:spPr>
          <a:xfrm>
            <a:off x="170550" y="96025"/>
            <a:ext cx="5083500" cy="561900"/>
          </a:xfrm>
          <a:prstGeom prst="rect">
            <a:avLst/>
          </a:prstGeom>
        </p:spPr>
        <p:txBody>
          <a:bodyPr spcFirstLastPara="1" wrap="square" lIns="91425" tIns="91425" rIns="91425" bIns="91425" anchor="b" anchorCtr="0">
            <a:noAutofit/>
          </a:bodyPr>
          <a:lstStyle/>
          <a:p>
            <a:pPr lvl="0" algn="l"/>
            <a:r>
              <a:rPr lang="en" sz="2800" dirty="0">
                <a:solidFill>
                  <a:srgbClr val="3D85C6"/>
                </a:solidFill>
              </a:rPr>
              <a:t>Immeasurable time bias</a:t>
            </a:r>
            <a:endParaRPr sz="2800" dirty="0">
              <a:solidFill>
                <a:srgbClr val="3D85C6"/>
              </a:solidFill>
            </a:endParaRPr>
          </a:p>
        </p:txBody>
      </p:sp>
      <p:sp>
        <p:nvSpPr>
          <p:cNvPr id="73" name="Google Shape;73;p15"/>
          <p:cNvSpPr txBox="1"/>
          <p:nvPr/>
        </p:nvSpPr>
        <p:spPr>
          <a:xfrm>
            <a:off x="1274536" y="3038019"/>
            <a:ext cx="6746580" cy="1828331"/>
          </a:xfrm>
          <a:prstGeom prst="rect">
            <a:avLst/>
          </a:prstGeom>
          <a:solidFill>
            <a:srgbClr val="00B0F0"/>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400" i="1" dirty="0">
                <a:solidFill>
                  <a:schemeClr val="bg1"/>
                </a:solidFill>
              </a:rPr>
              <a:t>Read the article and:</a:t>
            </a:r>
          </a:p>
          <a:p>
            <a:pPr marL="0" lvl="0" indent="0" algn="l" rtl="0">
              <a:lnSpc>
                <a:spcPct val="115000"/>
              </a:lnSpc>
              <a:spcBef>
                <a:spcPts val="0"/>
              </a:spcBef>
              <a:spcAft>
                <a:spcPts val="0"/>
              </a:spcAft>
              <a:buNone/>
            </a:pPr>
            <a:r>
              <a:rPr lang="en-US" sz="2400" i="1" dirty="0">
                <a:solidFill>
                  <a:schemeClr val="bg1"/>
                </a:solidFill>
              </a:rPr>
              <a:t>1- What is the research question?</a:t>
            </a:r>
          </a:p>
          <a:p>
            <a:pPr marL="0" lvl="0" indent="0" algn="l" rtl="0">
              <a:lnSpc>
                <a:spcPct val="115000"/>
              </a:lnSpc>
              <a:spcBef>
                <a:spcPts val="0"/>
              </a:spcBef>
              <a:spcAft>
                <a:spcPts val="0"/>
              </a:spcAft>
              <a:buNone/>
            </a:pPr>
            <a:r>
              <a:rPr lang="en-US" sz="2400" i="1" dirty="0">
                <a:solidFill>
                  <a:schemeClr val="bg1"/>
                </a:solidFill>
              </a:rPr>
              <a:t>2- What is the main finding?</a:t>
            </a:r>
          </a:p>
          <a:p>
            <a:pPr marL="0" lvl="0" indent="0" algn="l" rtl="0">
              <a:lnSpc>
                <a:spcPct val="115000"/>
              </a:lnSpc>
              <a:spcBef>
                <a:spcPts val="0"/>
              </a:spcBef>
              <a:spcAft>
                <a:spcPts val="0"/>
              </a:spcAft>
              <a:buNone/>
            </a:pPr>
            <a:r>
              <a:rPr lang="en-US" sz="2400" i="1" dirty="0">
                <a:solidFill>
                  <a:schemeClr val="bg1"/>
                </a:solidFill>
              </a:rPr>
              <a:t>What do you think of the results?</a:t>
            </a:r>
            <a:endParaRPr sz="2400" i="1" dirty="0">
              <a:solidFill>
                <a:schemeClr val="bg1"/>
              </a:solidFill>
            </a:endParaRPr>
          </a:p>
        </p:txBody>
      </p:sp>
      <p:pic>
        <p:nvPicPr>
          <p:cNvPr id="4" name="Picture 3" descr="Graphical user interface, text, application&#10;&#10;Description automatically generated">
            <a:extLst>
              <a:ext uri="{FF2B5EF4-FFF2-40B4-BE49-F238E27FC236}">
                <a16:creationId xmlns:a16="http://schemas.microsoft.com/office/drawing/2014/main" id="{A1180064-A30F-894C-8C0A-B2965069AD2A}"/>
              </a:ext>
            </a:extLst>
          </p:cNvPr>
          <p:cNvPicPr>
            <a:picLocks noChangeAspect="1"/>
          </p:cNvPicPr>
          <p:nvPr/>
        </p:nvPicPr>
        <p:blipFill>
          <a:blip r:embed="rId5"/>
          <a:stretch>
            <a:fillRect/>
          </a:stretch>
        </p:blipFill>
        <p:spPr>
          <a:xfrm>
            <a:off x="1425121" y="1066922"/>
            <a:ext cx="6718300" cy="1562100"/>
          </a:xfrm>
          <a:prstGeom prst="rect">
            <a:avLst/>
          </a:prstGeom>
        </p:spPr>
      </p:pic>
    </p:spTree>
    <p:extLst>
      <p:ext uri="{BB962C8B-B14F-4D97-AF65-F5344CB8AC3E}">
        <p14:creationId xmlns:p14="http://schemas.microsoft.com/office/powerpoint/2010/main" val="218219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35"/>
          <p:cNvPicPr preferRelativeResize="0"/>
          <p:nvPr/>
        </p:nvPicPr>
        <p:blipFill>
          <a:blip r:embed="rId3">
            <a:alphaModFix/>
          </a:blip>
          <a:stretch>
            <a:fillRect/>
          </a:stretch>
        </p:blipFill>
        <p:spPr>
          <a:xfrm>
            <a:off x="7644625" y="61201"/>
            <a:ext cx="1462899" cy="562000"/>
          </a:xfrm>
          <a:prstGeom prst="rect">
            <a:avLst/>
          </a:prstGeom>
          <a:noFill/>
          <a:ln>
            <a:noFill/>
          </a:ln>
        </p:spPr>
      </p:pic>
      <p:pic>
        <p:nvPicPr>
          <p:cNvPr id="237" name="Google Shape;237;p35"/>
          <p:cNvPicPr preferRelativeResize="0"/>
          <p:nvPr/>
        </p:nvPicPr>
        <p:blipFill>
          <a:blip r:embed="rId4">
            <a:alphaModFix/>
          </a:blip>
          <a:stretch>
            <a:fillRect/>
          </a:stretch>
        </p:blipFill>
        <p:spPr>
          <a:xfrm>
            <a:off x="0" y="4901075"/>
            <a:ext cx="9144000" cy="242425"/>
          </a:xfrm>
          <a:prstGeom prst="rect">
            <a:avLst/>
          </a:prstGeom>
          <a:noFill/>
          <a:ln>
            <a:noFill/>
          </a:ln>
        </p:spPr>
      </p:pic>
      <p:sp>
        <p:nvSpPr>
          <p:cNvPr id="238" name="Google Shape;238;p35"/>
          <p:cNvSpPr txBox="1">
            <a:spLocks noGrp="1"/>
          </p:cNvSpPr>
          <p:nvPr>
            <p:ph type="ctrTitle"/>
          </p:nvPr>
        </p:nvSpPr>
        <p:spPr>
          <a:xfrm>
            <a:off x="2030250" y="2290800"/>
            <a:ext cx="5083500" cy="56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a:solidFill>
                  <a:srgbClr val="3D85C6"/>
                </a:solidFill>
              </a:rPr>
              <a:t>Assignments </a:t>
            </a:r>
            <a:endParaRPr sz="2800">
              <a:solidFill>
                <a:srgbClr val="3D85C6"/>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591</Words>
  <Application>Microsoft Macintosh PowerPoint</Application>
  <PresentationFormat>On-screen Show (16:9)</PresentationFormat>
  <Paragraphs>70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Arial</vt:lpstr>
      <vt:lpstr>Simple Light</vt:lpstr>
      <vt:lpstr>Bias in Clinical Research</vt:lpstr>
      <vt:lpstr>Confounding Exercises</vt:lpstr>
      <vt:lpstr>Confounding in pharmacoepidemiology</vt:lpstr>
      <vt:lpstr>Confounding in pharmacoepidemiology</vt:lpstr>
      <vt:lpstr>Confounding Exercises</vt:lpstr>
      <vt:lpstr>Bias Exercises </vt:lpstr>
      <vt:lpstr>Prevalent User Bias</vt:lpstr>
      <vt:lpstr>Prevalent User Bias</vt:lpstr>
      <vt:lpstr>Prevalent User Bias</vt:lpstr>
      <vt:lpstr>Immeasurable Time Bias</vt:lpstr>
      <vt:lpstr>Immeasurable time bias</vt:lpstr>
      <vt:lpstr>Immeasurable time bias</vt:lpstr>
      <vt:lpstr>Assignments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 in Clinical Research</dc:title>
  <cp:lastModifiedBy>Yasser Albogami</cp:lastModifiedBy>
  <cp:revision>5</cp:revision>
  <dcterms:modified xsi:type="dcterms:W3CDTF">2023-05-01T08:39:57Z</dcterms:modified>
</cp:coreProperties>
</file>