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7" r:id="rId1"/>
  </p:sldMasterIdLst>
  <p:notesMasterIdLst>
    <p:notesMasterId r:id="rId40"/>
  </p:notesMasterIdLst>
  <p:handoutMasterIdLst>
    <p:handoutMasterId r:id="rId41"/>
  </p:handoutMasterIdLst>
  <p:sldIdLst>
    <p:sldId id="256" r:id="rId2"/>
    <p:sldId id="372" r:id="rId3"/>
    <p:sldId id="469" r:id="rId4"/>
    <p:sldId id="378" r:id="rId5"/>
    <p:sldId id="379" r:id="rId6"/>
    <p:sldId id="364" r:id="rId7"/>
    <p:sldId id="374" r:id="rId8"/>
    <p:sldId id="375" r:id="rId9"/>
    <p:sldId id="376" r:id="rId10"/>
    <p:sldId id="454" r:id="rId11"/>
    <p:sldId id="462" r:id="rId12"/>
    <p:sldId id="380" r:id="rId13"/>
    <p:sldId id="377" r:id="rId14"/>
    <p:sldId id="381" r:id="rId15"/>
    <p:sldId id="435" r:id="rId16"/>
    <p:sldId id="382" r:id="rId17"/>
    <p:sldId id="383" r:id="rId18"/>
    <p:sldId id="384" r:id="rId19"/>
    <p:sldId id="385" r:id="rId20"/>
    <p:sldId id="434" r:id="rId21"/>
    <p:sldId id="390" r:id="rId22"/>
    <p:sldId id="467" r:id="rId23"/>
    <p:sldId id="393" r:id="rId24"/>
    <p:sldId id="395" r:id="rId25"/>
    <p:sldId id="396" r:id="rId26"/>
    <p:sldId id="398" r:id="rId27"/>
    <p:sldId id="455" r:id="rId28"/>
    <p:sldId id="470" r:id="rId29"/>
    <p:sldId id="471" r:id="rId30"/>
    <p:sldId id="472" r:id="rId31"/>
    <p:sldId id="473" r:id="rId32"/>
    <p:sldId id="369" r:id="rId33"/>
    <p:sldId id="307" r:id="rId34"/>
    <p:sldId id="304" r:id="rId35"/>
    <p:sldId id="306" r:id="rId36"/>
    <p:sldId id="404" r:id="rId37"/>
    <p:sldId id="468" r:id="rId38"/>
    <p:sldId id="371" r:id="rId39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3801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16"/>
  </p:normalViewPr>
  <p:slideViewPr>
    <p:cSldViewPr>
      <p:cViewPr>
        <p:scale>
          <a:sx n="80" d="100"/>
          <a:sy n="80" d="100"/>
        </p:scale>
        <p:origin x="544" y="12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-332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2F22E13-CC99-4FEF-98EF-BE0ABA937671}" type="doc">
      <dgm:prSet loTypeId="urn:microsoft.com/office/officeart/2005/8/layout/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AC92B2A-CC85-47BD-BF55-25A302FA0BE9}">
      <dgm:prSet/>
      <dgm:spPr/>
      <dgm:t>
        <a:bodyPr/>
        <a:lstStyle/>
        <a:p>
          <a:pPr rtl="0"/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Formulation of the research questions</a:t>
          </a:r>
        </a:p>
      </dgm:t>
    </dgm:pt>
    <dgm:pt modelId="{462DDE1D-8C5B-4249-9FF3-0D90E9D1786B}" type="parTrans" cxnId="{09CA0E2A-A7A8-4052-9158-A7B726EC5D28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B0DC493-2D26-476E-BFD9-B1314DD8E2B6}" type="sibTrans" cxnId="{09CA0E2A-A7A8-4052-9158-A7B726EC5D28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FBEC1B0-309B-45C1-A729-9B5BA420F0D9}">
      <dgm:prSet/>
      <dgm:spPr/>
      <dgm:t>
        <a:bodyPr/>
        <a:lstStyle/>
        <a:p>
          <a:pPr rtl="0"/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Identification and collection of cases</a:t>
          </a:r>
        </a:p>
      </dgm:t>
    </dgm:pt>
    <dgm:pt modelId="{B654E625-72A4-4091-A434-1875D6488C00}" type="parTrans" cxnId="{7BBA1CA1-2941-48EA-BE8D-A15AC25C5FD9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9CAF91C-8322-4E25-9C37-01AE3187F8AA}" type="sibTrans" cxnId="{7BBA1CA1-2941-48EA-BE8D-A15AC25C5FD9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3A1CD59-4977-4B7D-B2E1-07FA2089C54B}">
      <dgm:prSet/>
      <dgm:spPr/>
      <dgm:t>
        <a:bodyPr/>
        <a:lstStyle/>
        <a:p>
          <a:pPr rtl="0"/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Selection of controls and matching</a:t>
          </a:r>
        </a:p>
      </dgm:t>
    </dgm:pt>
    <dgm:pt modelId="{DF88D7CC-4C47-4200-8263-B60948FA68AB}" type="parTrans" cxnId="{BA16A766-F570-4A04-B071-E619A653A193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7A35450-01C2-4D50-AD9D-FE0617A99720}" type="sibTrans" cxnId="{BA16A766-F570-4A04-B071-E619A653A193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788A340-4F79-4484-83B8-78B71D522FDB}">
      <dgm:prSet/>
      <dgm:spPr/>
      <dgm:t>
        <a:bodyPr/>
        <a:lstStyle/>
        <a:p>
          <a:pPr rtl="0"/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Determination of exposure in all subjects</a:t>
          </a:r>
        </a:p>
      </dgm:t>
    </dgm:pt>
    <dgm:pt modelId="{E8CF8F31-BB2D-48AB-A67C-4898408426EC}" type="parTrans" cxnId="{82D95F94-1A48-4006-91F6-BE97842C4905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2060225-8224-4ED6-ABEF-2123C6DB3581}" type="sibTrans" cxnId="{82D95F94-1A48-4006-91F6-BE97842C4905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48B06B0-00E8-4159-BC5A-FD4DC3AE3CC5}">
      <dgm:prSet/>
      <dgm:spPr/>
      <dgm:t>
        <a:bodyPr/>
        <a:lstStyle/>
        <a:p>
          <a:pPr rtl="0"/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Collection, analysis, and interpretation of data</a:t>
          </a:r>
        </a:p>
      </dgm:t>
    </dgm:pt>
    <dgm:pt modelId="{432E7071-7FED-44A3-B4EB-377E6B624B83}" type="parTrans" cxnId="{CAF47408-487B-4EC8-8681-E1449039534E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C081353-55B2-4BCB-BE73-8756E3BCACCC}" type="sibTrans" cxnId="{CAF47408-487B-4EC8-8681-E1449039534E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230E5D6-4F14-448E-94E6-8F290DCD0D9F}" type="pres">
      <dgm:prSet presAssocID="{02F22E13-CC99-4FEF-98EF-BE0ABA937671}" presName="Name0" presStyleCnt="0">
        <dgm:presLayoutVars>
          <dgm:dir/>
          <dgm:animLvl val="lvl"/>
          <dgm:resizeHandles val="exact"/>
        </dgm:presLayoutVars>
      </dgm:prSet>
      <dgm:spPr/>
    </dgm:pt>
    <dgm:pt modelId="{0AFDDBEC-5A98-4B32-9870-77EF2EA8FA4A}" type="pres">
      <dgm:prSet presAssocID="{048B06B0-00E8-4159-BC5A-FD4DC3AE3CC5}" presName="boxAndChildren" presStyleCnt="0"/>
      <dgm:spPr/>
    </dgm:pt>
    <dgm:pt modelId="{362CBB3E-C966-4E78-94F4-86716AEC98F4}" type="pres">
      <dgm:prSet presAssocID="{048B06B0-00E8-4159-BC5A-FD4DC3AE3CC5}" presName="parentTextBox" presStyleLbl="node1" presStyleIdx="0" presStyleCnt="5"/>
      <dgm:spPr/>
    </dgm:pt>
    <dgm:pt modelId="{235472EF-43E8-4DD7-A138-7D496C8E8936}" type="pres">
      <dgm:prSet presAssocID="{72060225-8224-4ED6-ABEF-2123C6DB3581}" presName="sp" presStyleCnt="0"/>
      <dgm:spPr/>
    </dgm:pt>
    <dgm:pt modelId="{D9A10541-C81D-4F1D-8CCE-79FF86F613D6}" type="pres">
      <dgm:prSet presAssocID="{1788A340-4F79-4484-83B8-78B71D522FDB}" presName="arrowAndChildren" presStyleCnt="0"/>
      <dgm:spPr/>
    </dgm:pt>
    <dgm:pt modelId="{76CA75ED-74FE-4EAA-96AD-E40DC81A60FC}" type="pres">
      <dgm:prSet presAssocID="{1788A340-4F79-4484-83B8-78B71D522FDB}" presName="parentTextArrow" presStyleLbl="node1" presStyleIdx="1" presStyleCnt="5"/>
      <dgm:spPr/>
    </dgm:pt>
    <dgm:pt modelId="{09074AD6-6882-4C71-BBC7-E8DA9B325155}" type="pres">
      <dgm:prSet presAssocID="{F7A35450-01C2-4D50-AD9D-FE0617A99720}" presName="sp" presStyleCnt="0"/>
      <dgm:spPr/>
    </dgm:pt>
    <dgm:pt modelId="{9897182E-5F40-4056-BCA2-9B99118B4367}" type="pres">
      <dgm:prSet presAssocID="{93A1CD59-4977-4B7D-B2E1-07FA2089C54B}" presName="arrowAndChildren" presStyleCnt="0"/>
      <dgm:spPr/>
    </dgm:pt>
    <dgm:pt modelId="{F7ADAEA0-082E-4531-A436-53030B5EF046}" type="pres">
      <dgm:prSet presAssocID="{93A1CD59-4977-4B7D-B2E1-07FA2089C54B}" presName="parentTextArrow" presStyleLbl="node1" presStyleIdx="2" presStyleCnt="5"/>
      <dgm:spPr/>
    </dgm:pt>
    <dgm:pt modelId="{B9C2BD1D-E707-4121-BC3F-2BE66138CC4D}" type="pres">
      <dgm:prSet presAssocID="{99CAF91C-8322-4E25-9C37-01AE3187F8AA}" presName="sp" presStyleCnt="0"/>
      <dgm:spPr/>
    </dgm:pt>
    <dgm:pt modelId="{C4D961DF-8A89-4204-A801-AC5C3304F0E7}" type="pres">
      <dgm:prSet presAssocID="{3FBEC1B0-309B-45C1-A729-9B5BA420F0D9}" presName="arrowAndChildren" presStyleCnt="0"/>
      <dgm:spPr/>
    </dgm:pt>
    <dgm:pt modelId="{FF48D29B-3C03-441E-A820-30217C48E771}" type="pres">
      <dgm:prSet presAssocID="{3FBEC1B0-309B-45C1-A729-9B5BA420F0D9}" presName="parentTextArrow" presStyleLbl="node1" presStyleIdx="3" presStyleCnt="5"/>
      <dgm:spPr/>
    </dgm:pt>
    <dgm:pt modelId="{85584454-9075-46DB-ACA1-3EF084D5A208}" type="pres">
      <dgm:prSet presAssocID="{0B0DC493-2D26-476E-BFD9-B1314DD8E2B6}" presName="sp" presStyleCnt="0"/>
      <dgm:spPr/>
    </dgm:pt>
    <dgm:pt modelId="{C11351B9-DF42-4AB8-AAD3-0B9DCE97CDAF}" type="pres">
      <dgm:prSet presAssocID="{6AC92B2A-CC85-47BD-BF55-25A302FA0BE9}" presName="arrowAndChildren" presStyleCnt="0"/>
      <dgm:spPr/>
    </dgm:pt>
    <dgm:pt modelId="{CE2D3F71-0C66-49DA-BBDA-A361DAA697F6}" type="pres">
      <dgm:prSet presAssocID="{6AC92B2A-CC85-47BD-BF55-25A302FA0BE9}" presName="parentTextArrow" presStyleLbl="node1" presStyleIdx="4" presStyleCnt="5"/>
      <dgm:spPr/>
    </dgm:pt>
  </dgm:ptLst>
  <dgm:cxnLst>
    <dgm:cxn modelId="{CAF47408-487B-4EC8-8681-E1449039534E}" srcId="{02F22E13-CC99-4FEF-98EF-BE0ABA937671}" destId="{048B06B0-00E8-4159-BC5A-FD4DC3AE3CC5}" srcOrd="4" destOrd="0" parTransId="{432E7071-7FED-44A3-B4EB-377E6B624B83}" sibTransId="{5C081353-55B2-4BCB-BE73-8756E3BCACCC}"/>
    <dgm:cxn modelId="{DF23630C-B017-4CA5-A68F-49DE0471488B}" type="presOf" srcId="{3FBEC1B0-309B-45C1-A729-9B5BA420F0D9}" destId="{FF48D29B-3C03-441E-A820-30217C48E771}" srcOrd="0" destOrd="0" presId="urn:microsoft.com/office/officeart/2005/8/layout/process4"/>
    <dgm:cxn modelId="{3F7CF816-4BE4-42DA-A050-008B5ECB9888}" type="presOf" srcId="{6AC92B2A-CC85-47BD-BF55-25A302FA0BE9}" destId="{CE2D3F71-0C66-49DA-BBDA-A361DAA697F6}" srcOrd="0" destOrd="0" presId="urn:microsoft.com/office/officeart/2005/8/layout/process4"/>
    <dgm:cxn modelId="{7975D228-56C5-406C-B500-67123FA45D60}" type="presOf" srcId="{048B06B0-00E8-4159-BC5A-FD4DC3AE3CC5}" destId="{362CBB3E-C966-4E78-94F4-86716AEC98F4}" srcOrd="0" destOrd="0" presId="urn:microsoft.com/office/officeart/2005/8/layout/process4"/>
    <dgm:cxn modelId="{09CA0E2A-A7A8-4052-9158-A7B726EC5D28}" srcId="{02F22E13-CC99-4FEF-98EF-BE0ABA937671}" destId="{6AC92B2A-CC85-47BD-BF55-25A302FA0BE9}" srcOrd="0" destOrd="0" parTransId="{462DDE1D-8C5B-4249-9FF3-0D90E9D1786B}" sibTransId="{0B0DC493-2D26-476E-BFD9-B1314DD8E2B6}"/>
    <dgm:cxn modelId="{5F87634F-AA09-4F9C-9961-192318706362}" type="presOf" srcId="{93A1CD59-4977-4B7D-B2E1-07FA2089C54B}" destId="{F7ADAEA0-082E-4531-A436-53030B5EF046}" srcOrd="0" destOrd="0" presId="urn:microsoft.com/office/officeart/2005/8/layout/process4"/>
    <dgm:cxn modelId="{BA16A766-F570-4A04-B071-E619A653A193}" srcId="{02F22E13-CC99-4FEF-98EF-BE0ABA937671}" destId="{93A1CD59-4977-4B7D-B2E1-07FA2089C54B}" srcOrd="2" destOrd="0" parTransId="{DF88D7CC-4C47-4200-8263-B60948FA68AB}" sibTransId="{F7A35450-01C2-4D50-AD9D-FE0617A99720}"/>
    <dgm:cxn modelId="{82D95F94-1A48-4006-91F6-BE97842C4905}" srcId="{02F22E13-CC99-4FEF-98EF-BE0ABA937671}" destId="{1788A340-4F79-4484-83B8-78B71D522FDB}" srcOrd="3" destOrd="0" parTransId="{E8CF8F31-BB2D-48AB-A67C-4898408426EC}" sibTransId="{72060225-8224-4ED6-ABEF-2123C6DB3581}"/>
    <dgm:cxn modelId="{7BBA1CA1-2941-48EA-BE8D-A15AC25C5FD9}" srcId="{02F22E13-CC99-4FEF-98EF-BE0ABA937671}" destId="{3FBEC1B0-309B-45C1-A729-9B5BA420F0D9}" srcOrd="1" destOrd="0" parTransId="{B654E625-72A4-4091-A434-1875D6488C00}" sibTransId="{99CAF91C-8322-4E25-9C37-01AE3187F8AA}"/>
    <dgm:cxn modelId="{4E2B3CD4-1B97-48F8-A192-1D7F1631CD17}" type="presOf" srcId="{1788A340-4F79-4484-83B8-78B71D522FDB}" destId="{76CA75ED-74FE-4EAA-96AD-E40DC81A60FC}" srcOrd="0" destOrd="0" presId="urn:microsoft.com/office/officeart/2005/8/layout/process4"/>
    <dgm:cxn modelId="{471AF2E1-DF88-4C31-AF0F-547F248AF64D}" type="presOf" srcId="{02F22E13-CC99-4FEF-98EF-BE0ABA937671}" destId="{0230E5D6-4F14-448E-94E6-8F290DCD0D9F}" srcOrd="0" destOrd="0" presId="urn:microsoft.com/office/officeart/2005/8/layout/process4"/>
    <dgm:cxn modelId="{9632BC47-2526-4326-A3A1-718908F0A506}" type="presParOf" srcId="{0230E5D6-4F14-448E-94E6-8F290DCD0D9F}" destId="{0AFDDBEC-5A98-4B32-9870-77EF2EA8FA4A}" srcOrd="0" destOrd="0" presId="urn:microsoft.com/office/officeart/2005/8/layout/process4"/>
    <dgm:cxn modelId="{D103906A-CCB9-44BE-991E-A09A021282B3}" type="presParOf" srcId="{0AFDDBEC-5A98-4B32-9870-77EF2EA8FA4A}" destId="{362CBB3E-C966-4E78-94F4-86716AEC98F4}" srcOrd="0" destOrd="0" presId="urn:microsoft.com/office/officeart/2005/8/layout/process4"/>
    <dgm:cxn modelId="{BB38B24B-0A51-490B-AD4D-D5EC73254AFF}" type="presParOf" srcId="{0230E5D6-4F14-448E-94E6-8F290DCD0D9F}" destId="{235472EF-43E8-4DD7-A138-7D496C8E8936}" srcOrd="1" destOrd="0" presId="urn:microsoft.com/office/officeart/2005/8/layout/process4"/>
    <dgm:cxn modelId="{9453E78E-AF63-4528-9B46-3D1771534402}" type="presParOf" srcId="{0230E5D6-4F14-448E-94E6-8F290DCD0D9F}" destId="{D9A10541-C81D-4F1D-8CCE-79FF86F613D6}" srcOrd="2" destOrd="0" presId="urn:microsoft.com/office/officeart/2005/8/layout/process4"/>
    <dgm:cxn modelId="{45417D13-6DC3-4507-A5F9-E50B31654459}" type="presParOf" srcId="{D9A10541-C81D-4F1D-8CCE-79FF86F613D6}" destId="{76CA75ED-74FE-4EAA-96AD-E40DC81A60FC}" srcOrd="0" destOrd="0" presId="urn:microsoft.com/office/officeart/2005/8/layout/process4"/>
    <dgm:cxn modelId="{7493991B-C231-4FAC-84D1-1B48121FFA75}" type="presParOf" srcId="{0230E5D6-4F14-448E-94E6-8F290DCD0D9F}" destId="{09074AD6-6882-4C71-BBC7-E8DA9B325155}" srcOrd="3" destOrd="0" presId="urn:microsoft.com/office/officeart/2005/8/layout/process4"/>
    <dgm:cxn modelId="{577266A5-C9F3-46EC-AE61-BDA338D0FC41}" type="presParOf" srcId="{0230E5D6-4F14-448E-94E6-8F290DCD0D9F}" destId="{9897182E-5F40-4056-BCA2-9B99118B4367}" srcOrd="4" destOrd="0" presId="urn:microsoft.com/office/officeart/2005/8/layout/process4"/>
    <dgm:cxn modelId="{49D6D86D-550D-47C8-B6D8-3E5FED293465}" type="presParOf" srcId="{9897182E-5F40-4056-BCA2-9B99118B4367}" destId="{F7ADAEA0-082E-4531-A436-53030B5EF046}" srcOrd="0" destOrd="0" presId="urn:microsoft.com/office/officeart/2005/8/layout/process4"/>
    <dgm:cxn modelId="{4DF7E57D-69C9-458D-AE24-AF21CA0BCB39}" type="presParOf" srcId="{0230E5D6-4F14-448E-94E6-8F290DCD0D9F}" destId="{B9C2BD1D-E707-4121-BC3F-2BE66138CC4D}" srcOrd="5" destOrd="0" presId="urn:microsoft.com/office/officeart/2005/8/layout/process4"/>
    <dgm:cxn modelId="{366B860B-4708-49CB-A654-B8C3FE5ADA91}" type="presParOf" srcId="{0230E5D6-4F14-448E-94E6-8F290DCD0D9F}" destId="{C4D961DF-8A89-4204-A801-AC5C3304F0E7}" srcOrd="6" destOrd="0" presId="urn:microsoft.com/office/officeart/2005/8/layout/process4"/>
    <dgm:cxn modelId="{5B118257-E1EB-4CB3-BA8D-2A22DA4B25B3}" type="presParOf" srcId="{C4D961DF-8A89-4204-A801-AC5C3304F0E7}" destId="{FF48D29B-3C03-441E-A820-30217C48E771}" srcOrd="0" destOrd="0" presId="urn:microsoft.com/office/officeart/2005/8/layout/process4"/>
    <dgm:cxn modelId="{3CD84D1D-2A69-4060-8ED9-27B5AA2D02B4}" type="presParOf" srcId="{0230E5D6-4F14-448E-94E6-8F290DCD0D9F}" destId="{85584454-9075-46DB-ACA1-3EF084D5A208}" srcOrd="7" destOrd="0" presId="urn:microsoft.com/office/officeart/2005/8/layout/process4"/>
    <dgm:cxn modelId="{477D4E14-F38B-4EAF-8CE9-A7D5B669CA80}" type="presParOf" srcId="{0230E5D6-4F14-448E-94E6-8F290DCD0D9F}" destId="{C11351B9-DF42-4AB8-AAD3-0B9DCE97CDAF}" srcOrd="8" destOrd="0" presId="urn:microsoft.com/office/officeart/2005/8/layout/process4"/>
    <dgm:cxn modelId="{673B38A5-082F-4CC1-94D7-BE9748D9050F}" type="presParOf" srcId="{C11351B9-DF42-4AB8-AAD3-0B9DCE97CDAF}" destId="{CE2D3F71-0C66-49DA-BBDA-A361DAA697F6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2CBB3E-C966-4E78-94F4-86716AEC98F4}">
      <dsp:nvSpPr>
        <dsp:cNvPr id="0" name=""/>
        <dsp:cNvSpPr/>
      </dsp:nvSpPr>
      <dsp:spPr>
        <a:xfrm>
          <a:off x="0" y="3740387"/>
          <a:ext cx="7432253" cy="6136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Arial" panose="020B0604020202020204" pitchFamily="34" charset="0"/>
              <a:cs typeface="Arial" panose="020B0604020202020204" pitchFamily="34" charset="0"/>
            </a:rPr>
            <a:t>Collection, analysis, and interpretation of data</a:t>
          </a:r>
        </a:p>
      </dsp:txBody>
      <dsp:txXfrm>
        <a:off x="0" y="3740387"/>
        <a:ext cx="7432253" cy="613641"/>
      </dsp:txXfrm>
    </dsp:sp>
    <dsp:sp modelId="{76CA75ED-74FE-4EAA-96AD-E40DC81A60FC}">
      <dsp:nvSpPr>
        <dsp:cNvPr id="0" name=""/>
        <dsp:cNvSpPr/>
      </dsp:nvSpPr>
      <dsp:spPr>
        <a:xfrm rot="10800000">
          <a:off x="0" y="2805810"/>
          <a:ext cx="7432253" cy="943780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Arial" panose="020B0604020202020204" pitchFamily="34" charset="0"/>
              <a:cs typeface="Arial" panose="020B0604020202020204" pitchFamily="34" charset="0"/>
            </a:rPr>
            <a:t>Determination of exposure in all subjects</a:t>
          </a:r>
        </a:p>
      </dsp:txBody>
      <dsp:txXfrm rot="10800000">
        <a:off x="0" y="2805810"/>
        <a:ext cx="7432253" cy="613240"/>
      </dsp:txXfrm>
    </dsp:sp>
    <dsp:sp modelId="{F7ADAEA0-082E-4531-A436-53030B5EF046}">
      <dsp:nvSpPr>
        <dsp:cNvPr id="0" name=""/>
        <dsp:cNvSpPr/>
      </dsp:nvSpPr>
      <dsp:spPr>
        <a:xfrm rot="10800000">
          <a:off x="0" y="1871234"/>
          <a:ext cx="7432253" cy="943780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Arial" panose="020B0604020202020204" pitchFamily="34" charset="0"/>
              <a:cs typeface="Arial" panose="020B0604020202020204" pitchFamily="34" charset="0"/>
            </a:rPr>
            <a:t>Selection of controls and matching</a:t>
          </a:r>
        </a:p>
      </dsp:txBody>
      <dsp:txXfrm rot="10800000">
        <a:off x="0" y="1871234"/>
        <a:ext cx="7432253" cy="613240"/>
      </dsp:txXfrm>
    </dsp:sp>
    <dsp:sp modelId="{FF48D29B-3C03-441E-A820-30217C48E771}">
      <dsp:nvSpPr>
        <dsp:cNvPr id="0" name=""/>
        <dsp:cNvSpPr/>
      </dsp:nvSpPr>
      <dsp:spPr>
        <a:xfrm rot="10800000">
          <a:off x="0" y="936658"/>
          <a:ext cx="7432253" cy="943780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Arial" panose="020B0604020202020204" pitchFamily="34" charset="0"/>
              <a:cs typeface="Arial" panose="020B0604020202020204" pitchFamily="34" charset="0"/>
            </a:rPr>
            <a:t>Identification and collection of cases</a:t>
          </a:r>
        </a:p>
      </dsp:txBody>
      <dsp:txXfrm rot="10800000">
        <a:off x="0" y="936658"/>
        <a:ext cx="7432253" cy="613240"/>
      </dsp:txXfrm>
    </dsp:sp>
    <dsp:sp modelId="{CE2D3F71-0C66-49DA-BBDA-A361DAA697F6}">
      <dsp:nvSpPr>
        <dsp:cNvPr id="0" name=""/>
        <dsp:cNvSpPr/>
      </dsp:nvSpPr>
      <dsp:spPr>
        <a:xfrm rot="10800000">
          <a:off x="0" y="2082"/>
          <a:ext cx="7432253" cy="943780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Arial" panose="020B0604020202020204" pitchFamily="34" charset="0"/>
              <a:cs typeface="Arial" panose="020B0604020202020204" pitchFamily="34" charset="0"/>
            </a:rPr>
            <a:t>Formulation of the research questions</a:t>
          </a:r>
        </a:p>
      </dsp:txBody>
      <dsp:txXfrm rot="10800000">
        <a:off x="0" y="2082"/>
        <a:ext cx="7432253" cy="6132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46DFDDBA-A09B-4B47-8BC1-D843A167BE8A}" type="datetimeFigureOut">
              <a:rPr lang="en-US" smtClean="0"/>
              <a:t>4/2/23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E7A33F87-ABAD-4159-8FD9-665D17F64D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6253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57A43F-1B82-43CB-98AF-EC83FBC2A9C9}" type="datetimeFigureOut">
              <a:rPr lang="en-US" smtClean="0"/>
              <a:t>4/2/23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1162050"/>
            <a:ext cx="4181475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1A39AA-CBE5-49B3-80FD-25185405DA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1482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individuals with endometrial cancer are 4.42 times more likely to be exposed to estrogen than those without endometrial carcinoma.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1A39AA-CBE5-49B3-80FD-25185405DA3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4367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individuals with endometrial cancer are 4.42 times more likely to be exposed to estrogen than those without endometrial carcinoma.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1A39AA-CBE5-49B3-80FD-25185405DA3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3689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individuals with endometrial cancer are 4.42 times more likely to be exposed to estrogen than those without endometrial carcinoma.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1A39AA-CBE5-49B3-80FD-25185405DA3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7563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individuals with endometrial cancer are 4.42 times more likely to be exposed to estrogen than those without endometrial carcinoma.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1A39AA-CBE5-49B3-80FD-25185405DA3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7852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individuals with endometrial cancer are 4.42 times more likely to be exposed to estrogen than those without endometrial carcinoma.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1A39AA-CBE5-49B3-80FD-25185405DA3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7794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7238" y="1038688"/>
            <a:ext cx="7629525" cy="2746422"/>
          </a:xfrm>
        </p:spPr>
        <p:txBody>
          <a:bodyPr anchor="ctr">
            <a:normAutofit/>
          </a:bodyPr>
          <a:lstStyle>
            <a:lvl1pPr algn="ctr">
              <a:defRPr sz="4000"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7238" y="3921634"/>
            <a:ext cx="7629525" cy="16557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5CA77-F0EA-4AAF-86CA-9CA21FF51974}" type="datetimeFigureOut">
              <a:rPr lang="en-US" smtClean="0"/>
              <a:pPr/>
              <a:t>4/2/23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A0AE2-D1B3-41FA-AD56-87061FA37DE1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2B605D-6DFB-4D5A-AB80-AD3A7E9D50DF}"/>
              </a:ext>
            </a:extLst>
          </p:cNvPr>
          <p:cNvCxnSpPr>
            <a:cxnSpLocks/>
          </p:cNvCxnSpPr>
          <p:nvPr userDrawn="1"/>
        </p:nvCxnSpPr>
        <p:spPr>
          <a:xfrm flipH="1">
            <a:off x="685800" y="3543300"/>
            <a:ext cx="8439151" cy="9525"/>
          </a:xfrm>
          <a:prstGeom prst="line">
            <a:avLst/>
          </a:prstGeom>
          <a:ln w="762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1617565-612B-4453-9CC0-C1F2348AEE99}"/>
              </a:ext>
            </a:extLst>
          </p:cNvPr>
          <p:cNvCxnSpPr>
            <a:cxnSpLocks/>
          </p:cNvCxnSpPr>
          <p:nvPr userDrawn="1"/>
        </p:nvCxnSpPr>
        <p:spPr>
          <a:xfrm flipH="1">
            <a:off x="47625" y="3552825"/>
            <a:ext cx="485774" cy="0"/>
          </a:xfrm>
          <a:prstGeom prst="line">
            <a:avLst/>
          </a:prstGeom>
          <a:ln w="762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331248B-CC7D-482C-A846-B20E1F21E7BF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6781800"/>
            <a:ext cx="9144000" cy="0"/>
          </a:xfrm>
          <a:prstGeom prst="line">
            <a:avLst/>
          </a:prstGeom>
          <a:ln w="1524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0098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7" y="203200"/>
            <a:ext cx="8728089" cy="1023635"/>
          </a:xfrm>
        </p:spPr>
        <p:txBody>
          <a:bodyPr>
            <a:normAutofit/>
          </a:bodyPr>
          <a:lstStyle>
            <a:lvl1pPr>
              <a:defRPr sz="33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399" y="1666875"/>
            <a:ext cx="8080017" cy="4846334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  <a:defRPr sz="2400">
                <a:latin typeface="+mn-lt"/>
                <a:cs typeface="Arial" panose="020B0604020202020204" pitchFamily="34" charset="0"/>
              </a:defRPr>
            </a:lvl1pPr>
            <a:lvl2pPr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  <a:defRPr sz="2400">
                <a:latin typeface="+mn-lt"/>
                <a:cs typeface="Arial" panose="020B0604020202020204" pitchFamily="34" charset="0"/>
              </a:defRPr>
            </a:lvl2pPr>
            <a:lvl3pPr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  <a:defRPr sz="2400">
                <a:latin typeface="+mn-lt"/>
                <a:cs typeface="Arial" panose="020B0604020202020204" pitchFamily="34" charset="0"/>
              </a:defRPr>
            </a:lvl3pPr>
            <a:lvl4pPr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  <a:defRPr sz="2400">
                <a:latin typeface="+mn-lt"/>
                <a:cs typeface="Arial" panose="020B0604020202020204" pitchFamily="34" charset="0"/>
              </a:defRPr>
            </a:lvl4pPr>
            <a:lvl5pPr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  <a:defRPr sz="24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E55CA77-F0EA-4AAF-86CA-9CA21FF51974}" type="datetimeFigureOut">
              <a:rPr lang="en-US" smtClean="0"/>
              <a:pPr/>
              <a:t>4/2/23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91AA0AE2-D1B3-41FA-AD56-87061FA37DE1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B75704C-0C36-4627-84B4-537F8A3EBAB1}"/>
              </a:ext>
            </a:extLst>
          </p:cNvPr>
          <p:cNvCxnSpPr>
            <a:cxnSpLocks/>
          </p:cNvCxnSpPr>
          <p:nvPr userDrawn="1"/>
        </p:nvCxnSpPr>
        <p:spPr>
          <a:xfrm flipH="1">
            <a:off x="685800" y="1485900"/>
            <a:ext cx="8439151" cy="9525"/>
          </a:xfrm>
          <a:prstGeom prst="line">
            <a:avLst/>
          </a:prstGeom>
          <a:ln w="762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8C816D5-3635-4135-AEFB-10928D9EEF06}"/>
              </a:ext>
            </a:extLst>
          </p:cNvPr>
          <p:cNvCxnSpPr>
            <a:cxnSpLocks/>
          </p:cNvCxnSpPr>
          <p:nvPr userDrawn="1"/>
        </p:nvCxnSpPr>
        <p:spPr>
          <a:xfrm flipH="1">
            <a:off x="47625" y="1495425"/>
            <a:ext cx="485774" cy="0"/>
          </a:xfrm>
          <a:prstGeom prst="line">
            <a:avLst/>
          </a:prstGeom>
          <a:ln w="762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57917B8-2E7E-4FC5-AFE2-836DAB0101DB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6781800"/>
            <a:ext cx="9144000" cy="0"/>
          </a:xfrm>
          <a:prstGeom prst="line">
            <a:avLst/>
          </a:prstGeom>
          <a:ln w="1524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2512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5CA77-F0EA-4AAF-86CA-9CA21FF51974}" type="datetimeFigureOut">
              <a:rPr lang="en-US" smtClean="0"/>
              <a:pPr/>
              <a:t>4/2/23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A0AE2-D1B3-41FA-AD56-87061FA37DE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513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5CA77-F0EA-4AAF-86CA-9CA21FF51974}" type="datetimeFigureOut">
              <a:rPr lang="en-US" smtClean="0"/>
              <a:pPr/>
              <a:t>4/2/23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A0AE2-D1B3-41FA-AD56-87061FA37DE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48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5CA77-F0EA-4AAF-86CA-9CA21FF51974}" type="datetimeFigureOut">
              <a:rPr lang="en-US" smtClean="0"/>
              <a:pPr/>
              <a:t>4/2/23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A0AE2-D1B3-41FA-AD56-87061FA37DE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761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5CA77-F0EA-4AAF-86CA-9CA21FF51974}" type="datetimeFigureOut">
              <a:rPr lang="en-US" smtClean="0"/>
              <a:pPr/>
              <a:t>4/2/23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A0AE2-D1B3-41FA-AD56-87061FA37DE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466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5CA77-F0EA-4AAF-86CA-9CA21FF51974}" type="datetimeFigureOut">
              <a:rPr lang="en-US" smtClean="0"/>
              <a:pPr/>
              <a:t>4/2/23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A0AE2-D1B3-41FA-AD56-87061FA37DE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318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5CA77-F0EA-4AAF-86CA-9CA21FF51974}" type="datetimeFigureOut">
              <a:rPr lang="en-US" smtClean="0"/>
              <a:pPr/>
              <a:t>4/2/23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A0AE2-D1B3-41FA-AD56-87061FA37DE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300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5CA77-F0EA-4AAF-86CA-9CA21FF51974}" type="datetimeFigureOut">
              <a:rPr lang="en-US" smtClean="0"/>
              <a:pPr/>
              <a:t>4/2/23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A0AE2-D1B3-41FA-AD56-87061FA37DE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96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5CA77-F0EA-4AAF-86CA-9CA21FF51974}" type="datetimeFigureOut">
              <a:rPr lang="en-US" smtClean="0"/>
              <a:pPr/>
              <a:t>4/2/23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A0AE2-D1B3-41FA-AD56-87061FA37DE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671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5CA77-F0EA-4AAF-86CA-9CA21FF51974}" type="datetimeFigureOut">
              <a:rPr lang="en-US" smtClean="0"/>
              <a:pPr/>
              <a:t>4/2/23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A0AE2-D1B3-41FA-AD56-87061FA37DE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0186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E55CA77-F0EA-4AAF-86CA-9CA21FF51974}" type="datetimeFigureOut">
              <a:rPr lang="en-US" smtClean="0"/>
              <a:pPr/>
              <a:t>4/2/23</a:t>
            </a:fld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1AA0AE2-D1B3-41FA-AD56-87061FA37DE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14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55CA77-F0EA-4AAF-86CA-9CA21FF51974}" type="datetimeFigureOut">
              <a:rPr lang="en-US" smtClean="0"/>
              <a:pPr/>
              <a:t>4/2/23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AA0AE2-D1B3-41FA-AD56-87061FA37DE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93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789" r:id="rId2"/>
    <p:sldLayoutId id="2147483790" r:id="rId3"/>
    <p:sldLayoutId id="2147483791" r:id="rId4"/>
    <p:sldLayoutId id="2147483792" r:id="rId5"/>
    <p:sldLayoutId id="2147483793" r:id="rId6"/>
    <p:sldLayoutId id="2147483794" r:id="rId7"/>
    <p:sldLayoutId id="2147483795" r:id="rId8"/>
    <p:sldLayoutId id="2147483796" r:id="rId9"/>
    <p:sldLayoutId id="2147483797" r:id="rId10"/>
    <p:sldLayoutId id="2147483798" r:id="rId11"/>
    <p:sldLayoutId id="2147483799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ctrTitle"/>
          </p:nvPr>
        </p:nvSpPr>
        <p:spPr>
          <a:xfrm>
            <a:off x="757238" y="1038688"/>
            <a:ext cx="7629525" cy="2746422"/>
          </a:xfrm>
        </p:spPr>
        <p:txBody>
          <a:bodyPr>
            <a:normAutofit/>
          </a:bodyPr>
          <a:lstStyle/>
          <a:p>
            <a:r>
              <a:rPr lang="en-US" dirty="0"/>
              <a:t>Case – Control Studies 1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1" name="Subtitle 2"/>
          <p:cNvSpPr>
            <a:spLocks noGrp="1"/>
          </p:cNvSpPr>
          <p:nvPr>
            <p:ph type="subTitle" idx="1"/>
          </p:nvPr>
        </p:nvSpPr>
        <p:spPr>
          <a:xfrm>
            <a:off x="757238" y="3921634"/>
            <a:ext cx="7629525" cy="1655762"/>
          </a:xfrm>
        </p:spPr>
        <p:txBody>
          <a:bodyPr>
            <a:normAutofit/>
          </a:bodyPr>
          <a:lstStyle/>
          <a:p>
            <a:r>
              <a:rPr lang="en-US" sz="2200" dirty="0"/>
              <a:t>Yasser Albogami, MPH, PhD</a:t>
            </a:r>
          </a:p>
          <a:p>
            <a:endParaRPr lang="en-US" sz="2200" dirty="0"/>
          </a:p>
          <a:p>
            <a:r>
              <a:rPr lang="en-US" sz="2200" dirty="0"/>
              <a:t>PHRM 414</a:t>
            </a:r>
          </a:p>
          <a:p>
            <a:r>
              <a:rPr lang="en-US" sz="2200" dirty="0"/>
              <a:t>September 2023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Describe case-control studies and how they are used in pharmacoepidemiology</a:t>
            </a:r>
          </a:p>
          <a:p>
            <a:r>
              <a:rPr lang="en-US" dirty="0"/>
              <a:t>Discuss the relative advantages and disadvantages of the case-control study designs</a:t>
            </a:r>
          </a:p>
        </p:txBody>
      </p:sp>
    </p:spTree>
    <p:extLst>
      <p:ext uri="{BB962C8B-B14F-4D97-AF65-F5344CB8AC3E}">
        <p14:creationId xmlns:p14="http://schemas.microsoft.com/office/powerpoint/2010/main" val="2303053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Case-Control Studies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Analytical, usually retrospective study comparing: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People with the disease (cases) to a sample of people without the disease (controls) with respect to exposures or characteristics of interest</a:t>
            </a:r>
          </a:p>
        </p:txBody>
      </p:sp>
    </p:spTree>
    <p:extLst>
      <p:ext uri="{BB962C8B-B14F-4D97-AF65-F5344CB8AC3E}">
        <p14:creationId xmlns:p14="http://schemas.microsoft.com/office/powerpoint/2010/main" val="3112609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Case-Control Studies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Aims to identify factors that could be responsible for the development of a disease or drug use problem</a:t>
            </a:r>
          </a:p>
          <a:p>
            <a:r>
              <a:rPr lang="en-US" dirty="0"/>
              <a:t>We don't calculate relative risk (RR) directly because the study design doesn't allow us to estimate the incidence rates of the outcome in the exposed and unexposed groups</a:t>
            </a:r>
          </a:p>
          <a:p>
            <a:pPr lvl="1"/>
            <a:r>
              <a:rPr lang="en-US" dirty="0"/>
              <a:t> However, OR can be calculated, which in turn, usually approximate to the relative risk</a:t>
            </a:r>
          </a:p>
        </p:txBody>
      </p:sp>
    </p:spTree>
    <p:extLst>
      <p:ext uri="{BB962C8B-B14F-4D97-AF65-F5344CB8AC3E}">
        <p14:creationId xmlns:p14="http://schemas.microsoft.com/office/powerpoint/2010/main" val="3086480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Case-Control Studies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Motivation: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Prospective cohort study may require long period of follow-up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Rare disease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Data may not exist for retrospective cohort study</a:t>
            </a:r>
          </a:p>
          <a:p>
            <a:r>
              <a:rPr lang="en-US" dirty="0"/>
              <a:t>Usually retrospective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117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Case-Control Studies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A889BAC-68DB-4732-B7FE-F79F411934FB}"/>
              </a:ext>
            </a:extLst>
          </p:cNvPr>
          <p:cNvGrpSpPr/>
          <p:nvPr/>
        </p:nvGrpSpPr>
        <p:grpSpPr>
          <a:xfrm>
            <a:off x="755576" y="1916832"/>
            <a:ext cx="7467600" cy="4137025"/>
            <a:chOff x="685800" y="1579880"/>
            <a:chExt cx="7467600" cy="4137025"/>
          </a:xfrm>
        </p:grpSpPr>
        <p:sp>
          <p:nvSpPr>
            <p:cNvPr id="13" name="Rectangle 2"/>
            <p:cNvSpPr>
              <a:spLocks noChangeArrowheads="1"/>
            </p:cNvSpPr>
            <p:nvPr/>
          </p:nvSpPr>
          <p:spPr bwMode="auto">
            <a:xfrm>
              <a:off x="1752600" y="1579880"/>
              <a:ext cx="5638800" cy="609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600" b="1"/>
                <a:t>Backward Directionality</a:t>
              </a:r>
            </a:p>
          </p:txBody>
        </p:sp>
        <p:sp>
          <p:nvSpPr>
            <p:cNvPr id="14" name="Text Box 3"/>
            <p:cNvSpPr txBox="1">
              <a:spLocks noChangeArrowheads="1"/>
            </p:cNvSpPr>
            <p:nvPr/>
          </p:nvSpPr>
          <p:spPr bwMode="auto">
            <a:xfrm>
              <a:off x="1630363" y="2287905"/>
              <a:ext cx="2103437" cy="4730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500" b="1"/>
                <a:t>Exposure</a:t>
              </a:r>
            </a:p>
          </p:txBody>
        </p:sp>
        <p:sp>
          <p:nvSpPr>
            <p:cNvPr id="15" name="Text Box 4"/>
            <p:cNvSpPr txBox="1">
              <a:spLocks noChangeArrowheads="1"/>
            </p:cNvSpPr>
            <p:nvPr/>
          </p:nvSpPr>
          <p:spPr bwMode="auto">
            <a:xfrm>
              <a:off x="4953000" y="2287905"/>
              <a:ext cx="3200400" cy="4730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500" b="1"/>
                <a:t>Outcome/Disease</a:t>
              </a:r>
            </a:p>
          </p:txBody>
        </p:sp>
        <p:sp>
          <p:nvSpPr>
            <p:cNvPr id="16" name="Text Box 5"/>
            <p:cNvSpPr txBox="1">
              <a:spLocks noChangeArrowheads="1"/>
            </p:cNvSpPr>
            <p:nvPr/>
          </p:nvSpPr>
          <p:spPr bwMode="auto">
            <a:xfrm>
              <a:off x="685800" y="2783205"/>
              <a:ext cx="12954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b="1"/>
                <a:t>Time</a:t>
              </a:r>
            </a:p>
          </p:txBody>
        </p:sp>
        <p:sp>
          <p:nvSpPr>
            <p:cNvPr id="17" name="Rectangle 6"/>
            <p:cNvSpPr>
              <a:spLocks noChangeArrowheads="1"/>
            </p:cNvSpPr>
            <p:nvPr/>
          </p:nvSpPr>
          <p:spPr bwMode="auto">
            <a:xfrm>
              <a:off x="5715000" y="3408680"/>
              <a:ext cx="1371600" cy="9144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1">
                  <a:solidFill>
                    <a:srgbClr val="000000"/>
                  </a:solidFill>
                </a:rPr>
                <a:t>Yes</a:t>
              </a:r>
            </a:p>
          </p:txBody>
        </p:sp>
        <p:sp>
          <p:nvSpPr>
            <p:cNvPr id="18" name="Rectangle 7"/>
            <p:cNvSpPr>
              <a:spLocks noChangeArrowheads="1"/>
            </p:cNvSpPr>
            <p:nvPr/>
          </p:nvSpPr>
          <p:spPr bwMode="auto">
            <a:xfrm>
              <a:off x="5715000" y="4802505"/>
              <a:ext cx="1371600" cy="914400"/>
            </a:xfrm>
            <a:prstGeom prst="rect">
              <a:avLst/>
            </a:prstGeom>
            <a:solidFill>
              <a:srgbClr val="FF7C8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1">
                  <a:solidFill>
                    <a:srgbClr val="000000"/>
                  </a:solidFill>
                </a:rPr>
                <a:t>No</a:t>
              </a:r>
            </a:p>
          </p:txBody>
        </p:sp>
        <p:sp>
          <p:nvSpPr>
            <p:cNvPr id="19" name="Line 8"/>
            <p:cNvSpPr>
              <a:spLocks noChangeShapeType="1"/>
            </p:cNvSpPr>
            <p:nvPr/>
          </p:nvSpPr>
          <p:spPr bwMode="auto">
            <a:xfrm rot="10800000">
              <a:off x="1577975" y="2983230"/>
              <a:ext cx="6553200" cy="1588"/>
            </a:xfrm>
            <a:prstGeom prst="line">
              <a:avLst/>
            </a:prstGeom>
            <a:noFill/>
            <a:ln w="57150">
              <a:solidFill>
                <a:schemeClr val="accent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Line 9"/>
            <p:cNvSpPr>
              <a:spLocks noChangeShapeType="1"/>
            </p:cNvSpPr>
            <p:nvPr/>
          </p:nvSpPr>
          <p:spPr bwMode="auto">
            <a:xfrm rot="10800000">
              <a:off x="2590800" y="3878580"/>
              <a:ext cx="2971800" cy="1588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arrow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 Box 10"/>
            <p:cNvSpPr txBox="1">
              <a:spLocks noChangeArrowheads="1"/>
            </p:cNvSpPr>
            <p:nvPr/>
          </p:nvSpPr>
          <p:spPr bwMode="auto">
            <a:xfrm>
              <a:off x="1981200" y="3637280"/>
              <a:ext cx="68580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1" dirty="0"/>
                <a:t>?</a:t>
              </a:r>
            </a:p>
          </p:txBody>
        </p:sp>
        <p:sp>
          <p:nvSpPr>
            <p:cNvPr id="22" name="Text Box 11"/>
            <p:cNvSpPr txBox="1">
              <a:spLocks noChangeArrowheads="1"/>
            </p:cNvSpPr>
            <p:nvPr/>
          </p:nvSpPr>
          <p:spPr bwMode="auto">
            <a:xfrm>
              <a:off x="1981200" y="5023168"/>
              <a:ext cx="685800" cy="5191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 b="1" dirty="0"/>
                <a:t>?</a:t>
              </a:r>
            </a:p>
          </p:txBody>
        </p:sp>
        <p:sp>
          <p:nvSpPr>
            <p:cNvPr id="23" name="Line 12"/>
            <p:cNvSpPr>
              <a:spLocks noChangeShapeType="1"/>
            </p:cNvSpPr>
            <p:nvPr/>
          </p:nvSpPr>
          <p:spPr bwMode="auto">
            <a:xfrm rot="10800000">
              <a:off x="2590800" y="5312093"/>
              <a:ext cx="2971800" cy="1587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arrow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318509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Case-Control Studies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4294967295"/>
          </p:nvPr>
        </p:nvPicPr>
        <p:blipFill rotWithShape="1">
          <a:blip r:embed="rId2" cstate="print"/>
          <a:srcRect l="18900" t="15745" r="35126" b="15264"/>
          <a:stretch/>
        </p:blipFill>
        <p:spPr bwMode="auto">
          <a:xfrm>
            <a:off x="2211237" y="1772816"/>
            <a:ext cx="4721526" cy="442835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TextBox 4"/>
          <p:cNvSpPr txBox="1"/>
          <p:nvPr/>
        </p:nvSpPr>
        <p:spPr>
          <a:xfrm>
            <a:off x="251520" y="6374585"/>
            <a:ext cx="55851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Basic &amp; Clinical Biostatistics: Chapter 2. Study Designs in Medical Research </a:t>
            </a:r>
          </a:p>
        </p:txBody>
      </p:sp>
    </p:spTree>
    <p:extLst>
      <p:ext uri="{BB962C8B-B14F-4D97-AF65-F5344CB8AC3E}">
        <p14:creationId xmlns:p14="http://schemas.microsoft.com/office/powerpoint/2010/main" val="23034959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Case-Control Studies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4294967295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26" t="20958" r="32408" b="35656"/>
          <a:stretch/>
        </p:blipFill>
        <p:spPr bwMode="auto">
          <a:xfrm>
            <a:off x="1148559" y="1798823"/>
            <a:ext cx="6846882" cy="4833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093208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Case-Control Studies</a:t>
            </a:r>
          </a:p>
        </p:txBody>
      </p:sp>
      <p:pic>
        <p:nvPicPr>
          <p:cNvPr id="2051" name="Picture 3"/>
          <p:cNvPicPr>
            <a:picLocks noGrp="1" noChangeAspect="1" noChangeArrowheads="1"/>
          </p:cNvPicPr>
          <p:nvPr>
            <p:ph idx="4294967295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63" t="30246" r="32143" b="29072"/>
          <a:stretch/>
        </p:blipFill>
        <p:spPr bwMode="auto">
          <a:xfrm>
            <a:off x="1115616" y="1772816"/>
            <a:ext cx="7128792" cy="4795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47477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92383" y="1988840"/>
            <a:ext cx="8959234" cy="17915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dirty="0"/>
              <a:t>A case control study </a:t>
            </a:r>
            <a:r>
              <a:rPr lang="en-US" dirty="0"/>
              <a:t>is a type of observational study is useful to look at factors associated with rare outcomes</a:t>
            </a:r>
          </a:p>
        </p:txBody>
      </p:sp>
      <p:sp>
        <p:nvSpPr>
          <p:cNvPr id="4" name="Oval 3"/>
          <p:cNvSpPr/>
          <p:nvPr/>
        </p:nvSpPr>
        <p:spPr>
          <a:xfrm>
            <a:off x="2627784" y="4062200"/>
            <a:ext cx="914400" cy="914400"/>
          </a:xfrm>
          <a:prstGeom prst="ellipse">
            <a:avLst/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T</a:t>
            </a:r>
            <a:r>
              <a:rPr lang="en-US" dirty="0"/>
              <a:t> </a:t>
            </a:r>
          </a:p>
        </p:txBody>
      </p:sp>
      <p:sp>
        <p:nvSpPr>
          <p:cNvPr id="5" name="Oval 4"/>
          <p:cNvSpPr/>
          <p:nvPr/>
        </p:nvSpPr>
        <p:spPr>
          <a:xfrm>
            <a:off x="5796136" y="4062200"/>
            <a:ext cx="914400" cy="91440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F </a:t>
            </a:r>
          </a:p>
        </p:txBody>
      </p:sp>
    </p:spTree>
    <p:extLst>
      <p:ext uri="{BB962C8B-B14F-4D97-AF65-F5344CB8AC3E}">
        <p14:creationId xmlns:p14="http://schemas.microsoft.com/office/powerpoint/2010/main" val="40089953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92383" y="1988840"/>
            <a:ext cx="8959234" cy="17915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dirty="0"/>
              <a:t>A case control study </a:t>
            </a:r>
            <a:r>
              <a:rPr lang="en-US" dirty="0"/>
              <a:t>is a type of observational study is useful to look at factors associated with rare outcomes</a:t>
            </a:r>
          </a:p>
        </p:txBody>
      </p:sp>
      <p:sp>
        <p:nvSpPr>
          <p:cNvPr id="4" name="Oval 3"/>
          <p:cNvSpPr/>
          <p:nvPr/>
        </p:nvSpPr>
        <p:spPr>
          <a:xfrm>
            <a:off x="2627784" y="4062200"/>
            <a:ext cx="914400" cy="914400"/>
          </a:xfrm>
          <a:prstGeom prst="ellipse">
            <a:avLst/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T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557229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Case-Control Studies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Much quicker and cheaper than prospective cohort study</a:t>
            </a:r>
          </a:p>
          <a:p>
            <a:r>
              <a:rPr lang="en-US" dirty="0"/>
              <a:t>Potential good starting point for scientific inquiry</a:t>
            </a:r>
          </a:p>
          <a:p>
            <a:r>
              <a:rPr lang="en-US" dirty="0"/>
              <a:t>Biggest challenge: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Who to select as controls?</a:t>
            </a:r>
          </a:p>
        </p:txBody>
      </p:sp>
    </p:spTree>
    <p:extLst>
      <p:ext uri="{BB962C8B-B14F-4D97-AF65-F5344CB8AC3E}">
        <p14:creationId xmlns:p14="http://schemas.microsoft.com/office/powerpoint/2010/main" val="542230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Steps of Case-Control Studies 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759031833"/>
              </p:ext>
            </p:extLst>
          </p:nvPr>
        </p:nvGraphicFramePr>
        <p:xfrm>
          <a:off x="755576" y="1844824"/>
          <a:ext cx="7432253" cy="43561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Oval 4"/>
          <p:cNvSpPr/>
          <p:nvPr/>
        </p:nvSpPr>
        <p:spPr>
          <a:xfrm>
            <a:off x="1619672" y="2348880"/>
            <a:ext cx="5674454" cy="23295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16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of Cases and Controls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Cases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Have disease of interest</a:t>
            </a:r>
          </a:p>
          <a:p>
            <a:r>
              <a:rPr lang="en-US" dirty="0"/>
              <a:t>Controls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Do not have disease of interest</a:t>
            </a:r>
          </a:p>
        </p:txBody>
      </p:sp>
    </p:spTree>
    <p:extLst>
      <p:ext uri="{BB962C8B-B14F-4D97-AF65-F5344CB8AC3E}">
        <p14:creationId xmlns:p14="http://schemas.microsoft.com/office/powerpoint/2010/main" val="40471221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Case definition: specifying criteria to identify a person as a case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Diagnostic criteria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Inclusion (eligibility)/ exclusion criteria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Incident/prevalent</a:t>
            </a:r>
          </a:p>
          <a:p>
            <a:r>
              <a:rPr lang="en-US" dirty="0"/>
              <a:t>Cases source: define source population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Registries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Hospitals, medical facilities, physicians' office</a:t>
            </a:r>
          </a:p>
        </p:txBody>
      </p:sp>
    </p:spTree>
    <p:extLst>
      <p:ext uri="{BB962C8B-B14F-4D97-AF65-F5344CB8AC3E}">
        <p14:creationId xmlns:p14="http://schemas.microsoft.com/office/powerpoint/2010/main" val="11029276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Ideal Control Group</a:t>
            </a:r>
          </a:p>
        </p:txBody>
      </p:sp>
      <p:sp>
        <p:nvSpPr>
          <p:cNvPr id="18" name="Content Placeholder 17"/>
          <p:cNvSpPr>
            <a:spLocks noGrp="1"/>
          </p:cNvSpPr>
          <p:nvPr>
            <p:ph idx="4294967295"/>
          </p:nvPr>
        </p:nvSpPr>
        <p:spPr>
          <a:xfrm>
            <a:off x="567996" y="1779257"/>
            <a:ext cx="8008008" cy="4672740"/>
          </a:xfrm>
        </p:spPr>
        <p:txBody>
          <a:bodyPr/>
          <a:lstStyle/>
          <a:p>
            <a:r>
              <a:rPr lang="en-US" spc="-5" dirty="0"/>
              <a:t>The purpose </a:t>
            </a:r>
            <a:r>
              <a:rPr lang="en-US" dirty="0"/>
              <a:t>of controls is to measure the </a:t>
            </a:r>
            <a:r>
              <a:rPr lang="en-US" spc="-5" dirty="0"/>
              <a:t>frequency</a:t>
            </a:r>
            <a:r>
              <a:rPr lang="en-US" spc="-150" dirty="0"/>
              <a:t> </a:t>
            </a:r>
            <a:r>
              <a:rPr lang="en-US" spc="-5" dirty="0"/>
              <a:t>of </a:t>
            </a:r>
            <a:r>
              <a:rPr lang="en-US" dirty="0"/>
              <a:t>exposure in the </a:t>
            </a:r>
            <a:r>
              <a:rPr lang="en-US" spc="-5" dirty="0">
                <a:solidFill>
                  <a:srgbClr val="FF0000"/>
                </a:solidFill>
              </a:rPr>
              <a:t>source population </a:t>
            </a:r>
            <a:r>
              <a:rPr lang="en-US" dirty="0"/>
              <a:t>that </a:t>
            </a:r>
            <a:r>
              <a:rPr lang="en-US" spc="-5" dirty="0"/>
              <a:t>produced </a:t>
            </a:r>
            <a:r>
              <a:rPr lang="en-US" dirty="0"/>
              <a:t>the cases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71333" y="5053203"/>
            <a:ext cx="1325880" cy="619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000" b="1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Controls:  </a:t>
            </a:r>
            <a:r>
              <a:rPr sz="2000" b="1" spc="5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r>
              <a:rPr sz="2000" b="1" spc="-105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asthma</a:t>
            </a:r>
            <a:endParaRPr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85849" y="3295650"/>
            <a:ext cx="5257800" cy="114300"/>
          </a:xfrm>
          <a:custGeom>
            <a:avLst/>
            <a:gdLst/>
            <a:ahLst/>
            <a:cxnLst/>
            <a:rect l="l" t="t" r="r" b="b"/>
            <a:pathLst>
              <a:path w="5257800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5257800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5257800" h="114300">
                <a:moveTo>
                  <a:pt x="5257800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5257800" y="76200"/>
                </a:lnTo>
                <a:lnTo>
                  <a:pt x="52578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934200" y="320040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50" y="0"/>
                </a:moveTo>
                <a:lnTo>
                  <a:pt x="125853" y="6120"/>
                </a:lnTo>
                <a:lnTo>
                  <a:pt x="84892" y="23396"/>
                </a:lnTo>
                <a:lnTo>
                  <a:pt x="50196" y="50196"/>
                </a:lnTo>
                <a:lnTo>
                  <a:pt x="23396" y="84892"/>
                </a:lnTo>
                <a:lnTo>
                  <a:pt x="6120" y="125853"/>
                </a:lnTo>
                <a:lnTo>
                  <a:pt x="0" y="171450"/>
                </a:lnTo>
                <a:lnTo>
                  <a:pt x="6120" y="217046"/>
                </a:lnTo>
                <a:lnTo>
                  <a:pt x="23396" y="258007"/>
                </a:lnTo>
                <a:lnTo>
                  <a:pt x="50196" y="292703"/>
                </a:lnTo>
                <a:lnTo>
                  <a:pt x="84892" y="319503"/>
                </a:lnTo>
                <a:lnTo>
                  <a:pt x="125853" y="336779"/>
                </a:lnTo>
                <a:lnTo>
                  <a:pt x="171450" y="342900"/>
                </a:lnTo>
                <a:lnTo>
                  <a:pt x="217046" y="336779"/>
                </a:lnTo>
                <a:lnTo>
                  <a:pt x="258007" y="319503"/>
                </a:lnTo>
                <a:lnTo>
                  <a:pt x="292703" y="292703"/>
                </a:lnTo>
                <a:lnTo>
                  <a:pt x="319503" y="258007"/>
                </a:lnTo>
                <a:lnTo>
                  <a:pt x="336779" y="217046"/>
                </a:lnTo>
                <a:lnTo>
                  <a:pt x="342900" y="171450"/>
                </a:lnTo>
                <a:lnTo>
                  <a:pt x="336779" y="125853"/>
                </a:lnTo>
                <a:lnTo>
                  <a:pt x="319503" y="84892"/>
                </a:lnTo>
                <a:lnTo>
                  <a:pt x="292703" y="50196"/>
                </a:lnTo>
                <a:lnTo>
                  <a:pt x="258007" y="23396"/>
                </a:lnTo>
                <a:lnTo>
                  <a:pt x="217046" y="6120"/>
                </a:lnTo>
                <a:lnTo>
                  <a:pt x="171450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934200" y="320040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0" y="171450"/>
                </a:moveTo>
                <a:lnTo>
                  <a:pt x="6120" y="125853"/>
                </a:lnTo>
                <a:lnTo>
                  <a:pt x="23396" y="84892"/>
                </a:lnTo>
                <a:lnTo>
                  <a:pt x="50196" y="50196"/>
                </a:lnTo>
                <a:lnTo>
                  <a:pt x="84892" y="23396"/>
                </a:lnTo>
                <a:lnTo>
                  <a:pt x="125853" y="6120"/>
                </a:lnTo>
                <a:lnTo>
                  <a:pt x="171450" y="0"/>
                </a:lnTo>
                <a:lnTo>
                  <a:pt x="217046" y="6120"/>
                </a:lnTo>
                <a:lnTo>
                  <a:pt x="258007" y="23396"/>
                </a:lnTo>
                <a:lnTo>
                  <a:pt x="292703" y="50196"/>
                </a:lnTo>
                <a:lnTo>
                  <a:pt x="319503" y="84892"/>
                </a:lnTo>
                <a:lnTo>
                  <a:pt x="336779" y="125853"/>
                </a:lnTo>
                <a:lnTo>
                  <a:pt x="342900" y="171450"/>
                </a:lnTo>
                <a:lnTo>
                  <a:pt x="336779" y="217046"/>
                </a:lnTo>
                <a:lnTo>
                  <a:pt x="319503" y="258007"/>
                </a:lnTo>
                <a:lnTo>
                  <a:pt x="292703" y="292703"/>
                </a:lnTo>
                <a:lnTo>
                  <a:pt x="258007" y="319503"/>
                </a:lnTo>
                <a:lnTo>
                  <a:pt x="217046" y="336779"/>
                </a:lnTo>
                <a:lnTo>
                  <a:pt x="171450" y="342900"/>
                </a:lnTo>
                <a:lnTo>
                  <a:pt x="125853" y="336779"/>
                </a:lnTo>
                <a:lnTo>
                  <a:pt x="84892" y="319503"/>
                </a:lnTo>
                <a:lnTo>
                  <a:pt x="50196" y="292703"/>
                </a:lnTo>
                <a:lnTo>
                  <a:pt x="23396" y="258007"/>
                </a:lnTo>
                <a:lnTo>
                  <a:pt x="6120" y="217046"/>
                </a:lnTo>
                <a:lnTo>
                  <a:pt x="0" y="17145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934200" y="506095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50" y="0"/>
                </a:moveTo>
                <a:lnTo>
                  <a:pt x="125853" y="6120"/>
                </a:lnTo>
                <a:lnTo>
                  <a:pt x="84892" y="23396"/>
                </a:lnTo>
                <a:lnTo>
                  <a:pt x="50196" y="50196"/>
                </a:lnTo>
                <a:lnTo>
                  <a:pt x="23396" y="84892"/>
                </a:lnTo>
                <a:lnTo>
                  <a:pt x="6120" y="125853"/>
                </a:lnTo>
                <a:lnTo>
                  <a:pt x="0" y="171450"/>
                </a:lnTo>
                <a:lnTo>
                  <a:pt x="6120" y="217046"/>
                </a:lnTo>
                <a:lnTo>
                  <a:pt x="23396" y="258007"/>
                </a:lnTo>
                <a:lnTo>
                  <a:pt x="50196" y="292703"/>
                </a:lnTo>
                <a:lnTo>
                  <a:pt x="84892" y="319503"/>
                </a:lnTo>
                <a:lnTo>
                  <a:pt x="125853" y="336779"/>
                </a:lnTo>
                <a:lnTo>
                  <a:pt x="171450" y="342900"/>
                </a:lnTo>
                <a:lnTo>
                  <a:pt x="217046" y="336779"/>
                </a:lnTo>
                <a:lnTo>
                  <a:pt x="258007" y="319503"/>
                </a:lnTo>
                <a:lnTo>
                  <a:pt x="292703" y="292703"/>
                </a:lnTo>
                <a:lnTo>
                  <a:pt x="319503" y="258007"/>
                </a:lnTo>
                <a:lnTo>
                  <a:pt x="336779" y="217046"/>
                </a:lnTo>
                <a:lnTo>
                  <a:pt x="342900" y="171450"/>
                </a:lnTo>
                <a:lnTo>
                  <a:pt x="336779" y="125853"/>
                </a:lnTo>
                <a:lnTo>
                  <a:pt x="319503" y="84892"/>
                </a:lnTo>
                <a:lnTo>
                  <a:pt x="292703" y="50196"/>
                </a:lnTo>
                <a:lnTo>
                  <a:pt x="258007" y="23396"/>
                </a:lnTo>
                <a:lnTo>
                  <a:pt x="217046" y="6120"/>
                </a:lnTo>
                <a:lnTo>
                  <a:pt x="17145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934200" y="506095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0" y="171450"/>
                </a:moveTo>
                <a:lnTo>
                  <a:pt x="6120" y="125853"/>
                </a:lnTo>
                <a:lnTo>
                  <a:pt x="23396" y="84892"/>
                </a:lnTo>
                <a:lnTo>
                  <a:pt x="50196" y="50196"/>
                </a:lnTo>
                <a:lnTo>
                  <a:pt x="84892" y="23396"/>
                </a:lnTo>
                <a:lnTo>
                  <a:pt x="125853" y="6120"/>
                </a:lnTo>
                <a:lnTo>
                  <a:pt x="171450" y="0"/>
                </a:lnTo>
                <a:lnTo>
                  <a:pt x="217046" y="6120"/>
                </a:lnTo>
                <a:lnTo>
                  <a:pt x="258007" y="23396"/>
                </a:lnTo>
                <a:lnTo>
                  <a:pt x="292703" y="50196"/>
                </a:lnTo>
                <a:lnTo>
                  <a:pt x="319503" y="84892"/>
                </a:lnTo>
                <a:lnTo>
                  <a:pt x="336779" y="125853"/>
                </a:lnTo>
                <a:lnTo>
                  <a:pt x="342900" y="171450"/>
                </a:lnTo>
                <a:lnTo>
                  <a:pt x="336779" y="217046"/>
                </a:lnTo>
                <a:lnTo>
                  <a:pt x="319503" y="258007"/>
                </a:lnTo>
                <a:lnTo>
                  <a:pt x="292703" y="292703"/>
                </a:lnTo>
                <a:lnTo>
                  <a:pt x="258007" y="319503"/>
                </a:lnTo>
                <a:lnTo>
                  <a:pt x="217046" y="336779"/>
                </a:lnTo>
                <a:lnTo>
                  <a:pt x="171450" y="342900"/>
                </a:lnTo>
                <a:lnTo>
                  <a:pt x="125853" y="336779"/>
                </a:lnTo>
                <a:lnTo>
                  <a:pt x="84892" y="319503"/>
                </a:lnTo>
                <a:lnTo>
                  <a:pt x="50196" y="292703"/>
                </a:lnTo>
                <a:lnTo>
                  <a:pt x="23396" y="258007"/>
                </a:lnTo>
                <a:lnTo>
                  <a:pt x="6120" y="217046"/>
                </a:lnTo>
                <a:lnTo>
                  <a:pt x="0" y="17145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5536" y="3981767"/>
            <a:ext cx="1584176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2000" b="1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Have used ibuprofen</a:t>
            </a:r>
            <a:r>
              <a:rPr sz="2000" b="1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662048" y="5184775"/>
            <a:ext cx="5257800" cy="114300"/>
          </a:xfrm>
          <a:custGeom>
            <a:avLst/>
            <a:gdLst/>
            <a:ahLst/>
            <a:cxnLst/>
            <a:rect l="l" t="t" r="r" b="b"/>
            <a:pathLst>
              <a:path w="5257800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5257800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5257800" h="114300">
                <a:moveTo>
                  <a:pt x="5257800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5257800" y="76200"/>
                </a:lnTo>
                <a:lnTo>
                  <a:pt x="52578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452320" y="3045023"/>
            <a:ext cx="959485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2000" b="1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Cases</a:t>
            </a: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Asthma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38242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Ideal Control Group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Probability of sampling any “exposed” person as a control should be proportional to the number of exposed people in the source population</a:t>
            </a:r>
          </a:p>
        </p:txBody>
      </p:sp>
    </p:spTree>
    <p:extLst>
      <p:ext uri="{BB962C8B-B14F-4D97-AF65-F5344CB8AC3E}">
        <p14:creationId xmlns:p14="http://schemas.microsoft.com/office/powerpoint/2010/main" val="24219352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Ideal Control Group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To achieve this ideal (these are equivalent):</a:t>
            </a:r>
          </a:p>
          <a:p>
            <a:r>
              <a:rPr lang="en-US" dirty="0"/>
              <a:t>Controls should be drawn from the source population that  produced the cases</a:t>
            </a:r>
          </a:p>
          <a:p>
            <a:r>
              <a:rPr lang="en-US" dirty="0"/>
              <a:t>Controls much be sampled independently of their exposure status</a:t>
            </a:r>
          </a:p>
          <a:p>
            <a:r>
              <a:rPr lang="en-US" dirty="0"/>
              <a:t>Controls should be those who, had they in fact developed  the outcome, would have ended up being sampled in your study as a case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39156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33400" y="3209925"/>
            <a:ext cx="4495800" cy="2971800"/>
          </a:xfrm>
          <a:custGeom>
            <a:avLst/>
            <a:gdLst/>
            <a:ahLst/>
            <a:cxnLst/>
            <a:rect l="l" t="t" r="r" b="b"/>
            <a:pathLst>
              <a:path w="4495800" h="2971800">
                <a:moveTo>
                  <a:pt x="2590220" y="2959100"/>
                </a:moveTo>
                <a:lnTo>
                  <a:pt x="1905579" y="2959100"/>
                </a:lnTo>
                <a:lnTo>
                  <a:pt x="1961610" y="2971800"/>
                </a:lnTo>
                <a:lnTo>
                  <a:pt x="2534189" y="2971800"/>
                </a:lnTo>
                <a:lnTo>
                  <a:pt x="2590220" y="2959100"/>
                </a:lnTo>
                <a:close/>
              </a:path>
              <a:path w="4495800" h="2971800">
                <a:moveTo>
                  <a:pt x="2700914" y="2946400"/>
                </a:moveTo>
                <a:lnTo>
                  <a:pt x="1794885" y="2946400"/>
                </a:lnTo>
                <a:lnTo>
                  <a:pt x="1849998" y="2959100"/>
                </a:lnTo>
                <a:lnTo>
                  <a:pt x="2645801" y="2959100"/>
                </a:lnTo>
                <a:lnTo>
                  <a:pt x="2700914" y="2946400"/>
                </a:lnTo>
                <a:close/>
              </a:path>
              <a:path w="4495800" h="2971800">
                <a:moveTo>
                  <a:pt x="2755541" y="38100"/>
                </a:moveTo>
                <a:lnTo>
                  <a:pt x="1740258" y="38100"/>
                </a:lnTo>
                <a:lnTo>
                  <a:pt x="1526954" y="88900"/>
                </a:lnTo>
                <a:lnTo>
                  <a:pt x="1224564" y="165100"/>
                </a:lnTo>
                <a:lnTo>
                  <a:pt x="1176442" y="190500"/>
                </a:lnTo>
                <a:lnTo>
                  <a:pt x="1082306" y="215900"/>
                </a:lnTo>
                <a:lnTo>
                  <a:pt x="1036329" y="241300"/>
                </a:lnTo>
                <a:lnTo>
                  <a:pt x="991102" y="254000"/>
                </a:lnTo>
                <a:lnTo>
                  <a:pt x="946643" y="279400"/>
                </a:lnTo>
                <a:lnTo>
                  <a:pt x="902969" y="304800"/>
                </a:lnTo>
                <a:lnTo>
                  <a:pt x="860099" y="317500"/>
                </a:lnTo>
                <a:lnTo>
                  <a:pt x="818050" y="342900"/>
                </a:lnTo>
                <a:lnTo>
                  <a:pt x="776839" y="368300"/>
                </a:lnTo>
                <a:lnTo>
                  <a:pt x="736484" y="393700"/>
                </a:lnTo>
                <a:lnTo>
                  <a:pt x="697004" y="419100"/>
                </a:lnTo>
                <a:lnTo>
                  <a:pt x="658415" y="444500"/>
                </a:lnTo>
                <a:lnTo>
                  <a:pt x="620735" y="469900"/>
                </a:lnTo>
                <a:lnTo>
                  <a:pt x="583983" y="495300"/>
                </a:lnTo>
                <a:lnTo>
                  <a:pt x="548175" y="520700"/>
                </a:lnTo>
                <a:lnTo>
                  <a:pt x="513329" y="546100"/>
                </a:lnTo>
                <a:lnTo>
                  <a:pt x="479463" y="571500"/>
                </a:lnTo>
                <a:lnTo>
                  <a:pt x="446594" y="596900"/>
                </a:lnTo>
                <a:lnTo>
                  <a:pt x="414741" y="635000"/>
                </a:lnTo>
                <a:lnTo>
                  <a:pt x="383920" y="660400"/>
                </a:lnTo>
                <a:lnTo>
                  <a:pt x="354150" y="685800"/>
                </a:lnTo>
                <a:lnTo>
                  <a:pt x="325449" y="723900"/>
                </a:lnTo>
                <a:lnTo>
                  <a:pt x="297833" y="749300"/>
                </a:lnTo>
                <a:lnTo>
                  <a:pt x="271320" y="787400"/>
                </a:lnTo>
                <a:lnTo>
                  <a:pt x="245929" y="812800"/>
                </a:lnTo>
                <a:lnTo>
                  <a:pt x="221676" y="850900"/>
                </a:lnTo>
                <a:lnTo>
                  <a:pt x="198580" y="876300"/>
                </a:lnTo>
                <a:lnTo>
                  <a:pt x="176658" y="914400"/>
                </a:lnTo>
                <a:lnTo>
                  <a:pt x="155928" y="952500"/>
                </a:lnTo>
                <a:lnTo>
                  <a:pt x="136408" y="977900"/>
                </a:lnTo>
                <a:lnTo>
                  <a:pt x="118114" y="1016000"/>
                </a:lnTo>
                <a:lnTo>
                  <a:pt x="101065" y="1054100"/>
                </a:lnTo>
                <a:lnTo>
                  <a:pt x="85279" y="1079500"/>
                </a:lnTo>
                <a:lnTo>
                  <a:pt x="70773" y="1117600"/>
                </a:lnTo>
                <a:lnTo>
                  <a:pt x="57564" y="1155700"/>
                </a:lnTo>
                <a:lnTo>
                  <a:pt x="45671" y="1193800"/>
                </a:lnTo>
                <a:lnTo>
                  <a:pt x="35111" y="1231900"/>
                </a:lnTo>
                <a:lnTo>
                  <a:pt x="25902" y="1270000"/>
                </a:lnTo>
                <a:lnTo>
                  <a:pt x="18061" y="1308100"/>
                </a:lnTo>
                <a:lnTo>
                  <a:pt x="11606" y="1346200"/>
                </a:lnTo>
                <a:lnTo>
                  <a:pt x="6555" y="1371600"/>
                </a:lnTo>
                <a:lnTo>
                  <a:pt x="2925" y="1409700"/>
                </a:lnTo>
                <a:lnTo>
                  <a:pt x="734" y="1447800"/>
                </a:lnTo>
                <a:lnTo>
                  <a:pt x="0" y="1485900"/>
                </a:lnTo>
                <a:lnTo>
                  <a:pt x="734" y="1536700"/>
                </a:lnTo>
                <a:lnTo>
                  <a:pt x="2925" y="1574800"/>
                </a:lnTo>
                <a:lnTo>
                  <a:pt x="6555" y="1612900"/>
                </a:lnTo>
                <a:lnTo>
                  <a:pt x="11606" y="1638300"/>
                </a:lnTo>
                <a:lnTo>
                  <a:pt x="18061" y="1676400"/>
                </a:lnTo>
                <a:lnTo>
                  <a:pt x="25902" y="1714500"/>
                </a:lnTo>
                <a:lnTo>
                  <a:pt x="35111" y="1752600"/>
                </a:lnTo>
                <a:lnTo>
                  <a:pt x="45671" y="1790700"/>
                </a:lnTo>
                <a:lnTo>
                  <a:pt x="57564" y="1828800"/>
                </a:lnTo>
                <a:lnTo>
                  <a:pt x="70773" y="1866900"/>
                </a:lnTo>
                <a:lnTo>
                  <a:pt x="85279" y="1905000"/>
                </a:lnTo>
                <a:lnTo>
                  <a:pt x="101065" y="1930400"/>
                </a:lnTo>
                <a:lnTo>
                  <a:pt x="118114" y="1968500"/>
                </a:lnTo>
                <a:lnTo>
                  <a:pt x="136408" y="2006600"/>
                </a:lnTo>
                <a:lnTo>
                  <a:pt x="155928" y="2032000"/>
                </a:lnTo>
                <a:lnTo>
                  <a:pt x="176658" y="2070100"/>
                </a:lnTo>
                <a:lnTo>
                  <a:pt x="198580" y="2108200"/>
                </a:lnTo>
                <a:lnTo>
                  <a:pt x="221676" y="2133600"/>
                </a:lnTo>
                <a:lnTo>
                  <a:pt x="245929" y="2171700"/>
                </a:lnTo>
                <a:lnTo>
                  <a:pt x="271320" y="2197100"/>
                </a:lnTo>
                <a:lnTo>
                  <a:pt x="297833" y="2235200"/>
                </a:lnTo>
                <a:lnTo>
                  <a:pt x="325449" y="2260600"/>
                </a:lnTo>
                <a:lnTo>
                  <a:pt x="354150" y="2298700"/>
                </a:lnTo>
                <a:lnTo>
                  <a:pt x="383920" y="2324100"/>
                </a:lnTo>
                <a:lnTo>
                  <a:pt x="414741" y="2349500"/>
                </a:lnTo>
                <a:lnTo>
                  <a:pt x="446594" y="2387600"/>
                </a:lnTo>
                <a:lnTo>
                  <a:pt x="479463" y="2413000"/>
                </a:lnTo>
                <a:lnTo>
                  <a:pt x="513329" y="2438400"/>
                </a:lnTo>
                <a:lnTo>
                  <a:pt x="548175" y="2463800"/>
                </a:lnTo>
                <a:lnTo>
                  <a:pt x="583983" y="2489200"/>
                </a:lnTo>
                <a:lnTo>
                  <a:pt x="620735" y="2514600"/>
                </a:lnTo>
                <a:lnTo>
                  <a:pt x="658415" y="2540000"/>
                </a:lnTo>
                <a:lnTo>
                  <a:pt x="697004" y="2565400"/>
                </a:lnTo>
                <a:lnTo>
                  <a:pt x="736484" y="2590800"/>
                </a:lnTo>
                <a:lnTo>
                  <a:pt x="776839" y="2616200"/>
                </a:lnTo>
                <a:lnTo>
                  <a:pt x="818050" y="2641600"/>
                </a:lnTo>
                <a:lnTo>
                  <a:pt x="860099" y="2667000"/>
                </a:lnTo>
                <a:lnTo>
                  <a:pt x="902969" y="2679700"/>
                </a:lnTo>
                <a:lnTo>
                  <a:pt x="946643" y="2705100"/>
                </a:lnTo>
                <a:lnTo>
                  <a:pt x="991102" y="2730500"/>
                </a:lnTo>
                <a:lnTo>
                  <a:pt x="1036329" y="2743200"/>
                </a:lnTo>
                <a:lnTo>
                  <a:pt x="1082306" y="2768600"/>
                </a:lnTo>
                <a:lnTo>
                  <a:pt x="1176442" y="2794000"/>
                </a:lnTo>
                <a:lnTo>
                  <a:pt x="1224564" y="2819400"/>
                </a:lnTo>
                <a:lnTo>
                  <a:pt x="1372939" y="2857500"/>
                </a:lnTo>
                <a:lnTo>
                  <a:pt x="1740258" y="2946400"/>
                </a:lnTo>
                <a:lnTo>
                  <a:pt x="2755541" y="2946400"/>
                </a:lnTo>
                <a:lnTo>
                  <a:pt x="3122860" y="2857500"/>
                </a:lnTo>
                <a:lnTo>
                  <a:pt x="3271235" y="2819400"/>
                </a:lnTo>
                <a:lnTo>
                  <a:pt x="3319357" y="2794000"/>
                </a:lnTo>
                <a:lnTo>
                  <a:pt x="3413493" y="2768600"/>
                </a:lnTo>
                <a:lnTo>
                  <a:pt x="3459470" y="2743200"/>
                </a:lnTo>
                <a:lnTo>
                  <a:pt x="3504697" y="2730500"/>
                </a:lnTo>
                <a:lnTo>
                  <a:pt x="3549156" y="2705100"/>
                </a:lnTo>
                <a:lnTo>
                  <a:pt x="3592830" y="2679700"/>
                </a:lnTo>
                <a:lnTo>
                  <a:pt x="3635700" y="2667000"/>
                </a:lnTo>
                <a:lnTo>
                  <a:pt x="3677749" y="2641600"/>
                </a:lnTo>
                <a:lnTo>
                  <a:pt x="3718960" y="2616200"/>
                </a:lnTo>
                <a:lnTo>
                  <a:pt x="3759315" y="2590800"/>
                </a:lnTo>
                <a:lnTo>
                  <a:pt x="3798795" y="2565400"/>
                </a:lnTo>
                <a:lnTo>
                  <a:pt x="3837384" y="2540000"/>
                </a:lnTo>
                <a:lnTo>
                  <a:pt x="3875064" y="2514600"/>
                </a:lnTo>
                <a:lnTo>
                  <a:pt x="3911816" y="2489200"/>
                </a:lnTo>
                <a:lnTo>
                  <a:pt x="3947624" y="2463800"/>
                </a:lnTo>
                <a:lnTo>
                  <a:pt x="3982470" y="2438400"/>
                </a:lnTo>
                <a:lnTo>
                  <a:pt x="4016336" y="2413000"/>
                </a:lnTo>
                <a:lnTo>
                  <a:pt x="4049205" y="2387600"/>
                </a:lnTo>
                <a:lnTo>
                  <a:pt x="4081058" y="2349500"/>
                </a:lnTo>
                <a:lnTo>
                  <a:pt x="4111879" y="2324100"/>
                </a:lnTo>
                <a:lnTo>
                  <a:pt x="4141649" y="2298700"/>
                </a:lnTo>
                <a:lnTo>
                  <a:pt x="4170350" y="2260600"/>
                </a:lnTo>
                <a:lnTo>
                  <a:pt x="4197966" y="2235200"/>
                </a:lnTo>
                <a:lnTo>
                  <a:pt x="4224479" y="2197100"/>
                </a:lnTo>
                <a:lnTo>
                  <a:pt x="4249870" y="2171700"/>
                </a:lnTo>
                <a:lnTo>
                  <a:pt x="4274123" y="2133600"/>
                </a:lnTo>
                <a:lnTo>
                  <a:pt x="4297219" y="2108200"/>
                </a:lnTo>
                <a:lnTo>
                  <a:pt x="4319141" y="2070100"/>
                </a:lnTo>
                <a:lnTo>
                  <a:pt x="4339871" y="2032000"/>
                </a:lnTo>
                <a:lnTo>
                  <a:pt x="4359391" y="2006600"/>
                </a:lnTo>
                <a:lnTo>
                  <a:pt x="4377685" y="1968500"/>
                </a:lnTo>
                <a:lnTo>
                  <a:pt x="4394734" y="1930400"/>
                </a:lnTo>
                <a:lnTo>
                  <a:pt x="4410520" y="1905000"/>
                </a:lnTo>
                <a:lnTo>
                  <a:pt x="4425026" y="1866900"/>
                </a:lnTo>
                <a:lnTo>
                  <a:pt x="4438235" y="1828800"/>
                </a:lnTo>
                <a:lnTo>
                  <a:pt x="4450128" y="1790700"/>
                </a:lnTo>
                <a:lnTo>
                  <a:pt x="4460688" y="1752600"/>
                </a:lnTo>
                <a:lnTo>
                  <a:pt x="4469897" y="1714500"/>
                </a:lnTo>
                <a:lnTo>
                  <a:pt x="4477738" y="1676400"/>
                </a:lnTo>
                <a:lnTo>
                  <a:pt x="4484193" y="1638300"/>
                </a:lnTo>
                <a:lnTo>
                  <a:pt x="4489244" y="1612900"/>
                </a:lnTo>
                <a:lnTo>
                  <a:pt x="4492874" y="1574800"/>
                </a:lnTo>
                <a:lnTo>
                  <a:pt x="4495065" y="1536700"/>
                </a:lnTo>
                <a:lnTo>
                  <a:pt x="4495800" y="1485900"/>
                </a:lnTo>
                <a:lnTo>
                  <a:pt x="4495065" y="1447800"/>
                </a:lnTo>
                <a:lnTo>
                  <a:pt x="4492874" y="1409700"/>
                </a:lnTo>
                <a:lnTo>
                  <a:pt x="4489244" y="1371600"/>
                </a:lnTo>
                <a:lnTo>
                  <a:pt x="4484193" y="1346200"/>
                </a:lnTo>
                <a:lnTo>
                  <a:pt x="4477738" y="1308100"/>
                </a:lnTo>
                <a:lnTo>
                  <a:pt x="4469897" y="1270000"/>
                </a:lnTo>
                <a:lnTo>
                  <a:pt x="4460688" y="1231900"/>
                </a:lnTo>
                <a:lnTo>
                  <a:pt x="4450128" y="1193800"/>
                </a:lnTo>
                <a:lnTo>
                  <a:pt x="4438235" y="1155700"/>
                </a:lnTo>
                <a:lnTo>
                  <a:pt x="4425026" y="1117600"/>
                </a:lnTo>
                <a:lnTo>
                  <a:pt x="4410520" y="1079500"/>
                </a:lnTo>
                <a:lnTo>
                  <a:pt x="4394734" y="1054100"/>
                </a:lnTo>
                <a:lnTo>
                  <a:pt x="4377685" y="1016000"/>
                </a:lnTo>
                <a:lnTo>
                  <a:pt x="4359391" y="977900"/>
                </a:lnTo>
                <a:lnTo>
                  <a:pt x="4339871" y="952500"/>
                </a:lnTo>
                <a:lnTo>
                  <a:pt x="4319141" y="914400"/>
                </a:lnTo>
                <a:lnTo>
                  <a:pt x="4297219" y="876300"/>
                </a:lnTo>
                <a:lnTo>
                  <a:pt x="4274123" y="850900"/>
                </a:lnTo>
                <a:lnTo>
                  <a:pt x="4249870" y="812800"/>
                </a:lnTo>
                <a:lnTo>
                  <a:pt x="4224479" y="787400"/>
                </a:lnTo>
                <a:lnTo>
                  <a:pt x="4197966" y="749300"/>
                </a:lnTo>
                <a:lnTo>
                  <a:pt x="4170350" y="723900"/>
                </a:lnTo>
                <a:lnTo>
                  <a:pt x="4141649" y="685800"/>
                </a:lnTo>
                <a:lnTo>
                  <a:pt x="4111879" y="660400"/>
                </a:lnTo>
                <a:lnTo>
                  <a:pt x="4081058" y="635000"/>
                </a:lnTo>
                <a:lnTo>
                  <a:pt x="4049205" y="596900"/>
                </a:lnTo>
                <a:lnTo>
                  <a:pt x="4016336" y="571500"/>
                </a:lnTo>
                <a:lnTo>
                  <a:pt x="3982470" y="546100"/>
                </a:lnTo>
                <a:lnTo>
                  <a:pt x="3947624" y="520700"/>
                </a:lnTo>
                <a:lnTo>
                  <a:pt x="3911816" y="495300"/>
                </a:lnTo>
                <a:lnTo>
                  <a:pt x="3875064" y="469900"/>
                </a:lnTo>
                <a:lnTo>
                  <a:pt x="3837384" y="444500"/>
                </a:lnTo>
                <a:lnTo>
                  <a:pt x="3798795" y="419100"/>
                </a:lnTo>
                <a:lnTo>
                  <a:pt x="3759315" y="393700"/>
                </a:lnTo>
                <a:lnTo>
                  <a:pt x="3718960" y="368300"/>
                </a:lnTo>
                <a:lnTo>
                  <a:pt x="3677749" y="342900"/>
                </a:lnTo>
                <a:lnTo>
                  <a:pt x="3635700" y="317500"/>
                </a:lnTo>
                <a:lnTo>
                  <a:pt x="3592830" y="304800"/>
                </a:lnTo>
                <a:lnTo>
                  <a:pt x="3549156" y="279400"/>
                </a:lnTo>
                <a:lnTo>
                  <a:pt x="3504697" y="254000"/>
                </a:lnTo>
                <a:lnTo>
                  <a:pt x="3459470" y="241300"/>
                </a:lnTo>
                <a:lnTo>
                  <a:pt x="3413493" y="215900"/>
                </a:lnTo>
                <a:lnTo>
                  <a:pt x="3319357" y="190500"/>
                </a:lnTo>
                <a:lnTo>
                  <a:pt x="3271235" y="165100"/>
                </a:lnTo>
                <a:lnTo>
                  <a:pt x="2968845" y="88900"/>
                </a:lnTo>
                <a:lnTo>
                  <a:pt x="2755541" y="38100"/>
                </a:lnTo>
                <a:close/>
              </a:path>
              <a:path w="4495800" h="2971800">
                <a:moveTo>
                  <a:pt x="2645801" y="25400"/>
                </a:moveTo>
                <a:lnTo>
                  <a:pt x="1849998" y="25400"/>
                </a:lnTo>
                <a:lnTo>
                  <a:pt x="1794885" y="38100"/>
                </a:lnTo>
                <a:lnTo>
                  <a:pt x="2700914" y="38100"/>
                </a:lnTo>
                <a:lnTo>
                  <a:pt x="2645801" y="25400"/>
                </a:lnTo>
                <a:close/>
              </a:path>
              <a:path w="4495800" h="2971800">
                <a:moveTo>
                  <a:pt x="2534189" y="12700"/>
                </a:moveTo>
                <a:lnTo>
                  <a:pt x="1961610" y="12700"/>
                </a:lnTo>
                <a:lnTo>
                  <a:pt x="1905579" y="25400"/>
                </a:lnTo>
                <a:lnTo>
                  <a:pt x="2590220" y="25400"/>
                </a:lnTo>
                <a:lnTo>
                  <a:pt x="2534189" y="12700"/>
                </a:lnTo>
                <a:close/>
              </a:path>
              <a:path w="4495800" h="2971800">
                <a:moveTo>
                  <a:pt x="2247900" y="0"/>
                </a:moveTo>
                <a:lnTo>
                  <a:pt x="2189883" y="12700"/>
                </a:lnTo>
                <a:lnTo>
                  <a:pt x="2305916" y="12700"/>
                </a:lnTo>
                <a:lnTo>
                  <a:pt x="2247900" y="0"/>
                </a:lnTo>
                <a:close/>
              </a:path>
            </a:pathLst>
          </a:custGeom>
          <a:solidFill>
            <a:srgbClr val="FF0000">
              <a:alpha val="909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33400" y="3209925"/>
            <a:ext cx="4495800" cy="2971800"/>
          </a:xfrm>
          <a:custGeom>
            <a:avLst/>
            <a:gdLst/>
            <a:ahLst/>
            <a:cxnLst/>
            <a:rect l="l" t="t" r="r" b="b"/>
            <a:pathLst>
              <a:path w="4495800" h="2971800">
                <a:moveTo>
                  <a:pt x="0" y="1485900"/>
                </a:moveTo>
                <a:lnTo>
                  <a:pt x="734" y="1447546"/>
                </a:lnTo>
                <a:lnTo>
                  <a:pt x="2925" y="1409432"/>
                </a:lnTo>
                <a:lnTo>
                  <a:pt x="11606" y="1333969"/>
                </a:lnTo>
                <a:lnTo>
                  <a:pt x="25902" y="1259604"/>
                </a:lnTo>
                <a:lnTo>
                  <a:pt x="45671" y="1186429"/>
                </a:lnTo>
                <a:lnTo>
                  <a:pt x="70773" y="1114539"/>
                </a:lnTo>
                <a:lnTo>
                  <a:pt x="85279" y="1079104"/>
                </a:lnTo>
                <a:lnTo>
                  <a:pt x="101065" y="1044026"/>
                </a:lnTo>
                <a:lnTo>
                  <a:pt x="118114" y="1009315"/>
                </a:lnTo>
                <a:lnTo>
                  <a:pt x="136408" y="974984"/>
                </a:lnTo>
                <a:lnTo>
                  <a:pt x="155928" y="941043"/>
                </a:lnTo>
                <a:lnTo>
                  <a:pt x="176658" y="907506"/>
                </a:lnTo>
                <a:lnTo>
                  <a:pt x="198580" y="874383"/>
                </a:lnTo>
                <a:lnTo>
                  <a:pt x="221676" y="841686"/>
                </a:lnTo>
                <a:lnTo>
                  <a:pt x="245929" y="809426"/>
                </a:lnTo>
                <a:lnTo>
                  <a:pt x="271320" y="777616"/>
                </a:lnTo>
                <a:lnTo>
                  <a:pt x="297833" y="746267"/>
                </a:lnTo>
                <a:lnTo>
                  <a:pt x="325449" y="715391"/>
                </a:lnTo>
                <a:lnTo>
                  <a:pt x="354150" y="684999"/>
                </a:lnTo>
                <a:lnTo>
                  <a:pt x="383920" y="655104"/>
                </a:lnTo>
                <a:lnTo>
                  <a:pt x="414741" y="625716"/>
                </a:lnTo>
                <a:lnTo>
                  <a:pt x="446594" y="596847"/>
                </a:lnTo>
                <a:lnTo>
                  <a:pt x="479463" y="568510"/>
                </a:lnTo>
                <a:lnTo>
                  <a:pt x="513329" y="540715"/>
                </a:lnTo>
                <a:lnTo>
                  <a:pt x="548175" y="513475"/>
                </a:lnTo>
                <a:lnTo>
                  <a:pt x="583983" y="486800"/>
                </a:lnTo>
                <a:lnTo>
                  <a:pt x="620735" y="460704"/>
                </a:lnTo>
                <a:lnTo>
                  <a:pt x="658415" y="435197"/>
                </a:lnTo>
                <a:lnTo>
                  <a:pt x="697004" y="410291"/>
                </a:lnTo>
                <a:lnTo>
                  <a:pt x="736484" y="385997"/>
                </a:lnTo>
                <a:lnTo>
                  <a:pt x="776839" y="362329"/>
                </a:lnTo>
                <a:lnTo>
                  <a:pt x="818050" y="339296"/>
                </a:lnTo>
                <a:lnTo>
                  <a:pt x="860099" y="316911"/>
                </a:lnTo>
                <a:lnTo>
                  <a:pt x="902969" y="295185"/>
                </a:lnTo>
                <a:lnTo>
                  <a:pt x="946643" y="274131"/>
                </a:lnTo>
                <a:lnTo>
                  <a:pt x="991102" y="253759"/>
                </a:lnTo>
                <a:lnTo>
                  <a:pt x="1036329" y="234082"/>
                </a:lnTo>
                <a:lnTo>
                  <a:pt x="1082306" y="215110"/>
                </a:lnTo>
                <a:lnTo>
                  <a:pt x="1129017" y="196857"/>
                </a:lnTo>
                <a:lnTo>
                  <a:pt x="1176442" y="179333"/>
                </a:lnTo>
                <a:lnTo>
                  <a:pt x="1224564" y="162550"/>
                </a:lnTo>
                <a:lnTo>
                  <a:pt x="1273366" y="146520"/>
                </a:lnTo>
                <a:lnTo>
                  <a:pt x="1322830" y="131254"/>
                </a:lnTo>
                <a:lnTo>
                  <a:pt x="1372939" y="116764"/>
                </a:lnTo>
                <a:lnTo>
                  <a:pt x="1423674" y="103062"/>
                </a:lnTo>
                <a:lnTo>
                  <a:pt x="1475018" y="90160"/>
                </a:lnTo>
                <a:lnTo>
                  <a:pt x="1526954" y="78068"/>
                </a:lnTo>
                <a:lnTo>
                  <a:pt x="1579464" y="66800"/>
                </a:lnTo>
                <a:lnTo>
                  <a:pt x="1632529" y="56366"/>
                </a:lnTo>
                <a:lnTo>
                  <a:pt x="1686133" y="46777"/>
                </a:lnTo>
                <a:lnTo>
                  <a:pt x="1740258" y="38047"/>
                </a:lnTo>
                <a:lnTo>
                  <a:pt x="1794885" y="30186"/>
                </a:lnTo>
                <a:lnTo>
                  <a:pt x="1849998" y="23207"/>
                </a:lnTo>
                <a:lnTo>
                  <a:pt x="1905579" y="17120"/>
                </a:lnTo>
                <a:lnTo>
                  <a:pt x="1961610" y="11937"/>
                </a:lnTo>
                <a:lnTo>
                  <a:pt x="2018074" y="7671"/>
                </a:lnTo>
                <a:lnTo>
                  <a:pt x="2074952" y="4332"/>
                </a:lnTo>
                <a:lnTo>
                  <a:pt x="2132228" y="1933"/>
                </a:lnTo>
                <a:lnTo>
                  <a:pt x="2189883" y="485"/>
                </a:lnTo>
                <a:lnTo>
                  <a:pt x="2247900" y="0"/>
                </a:lnTo>
                <a:lnTo>
                  <a:pt x="2305916" y="485"/>
                </a:lnTo>
                <a:lnTo>
                  <a:pt x="2363571" y="1933"/>
                </a:lnTo>
                <a:lnTo>
                  <a:pt x="2420847" y="4332"/>
                </a:lnTo>
                <a:lnTo>
                  <a:pt x="2477725" y="7671"/>
                </a:lnTo>
                <a:lnTo>
                  <a:pt x="2534189" y="11937"/>
                </a:lnTo>
                <a:lnTo>
                  <a:pt x="2590220" y="17120"/>
                </a:lnTo>
                <a:lnTo>
                  <a:pt x="2645801" y="23207"/>
                </a:lnTo>
                <a:lnTo>
                  <a:pt x="2700914" y="30186"/>
                </a:lnTo>
                <a:lnTo>
                  <a:pt x="2755541" y="38047"/>
                </a:lnTo>
                <a:lnTo>
                  <a:pt x="2809666" y="46777"/>
                </a:lnTo>
                <a:lnTo>
                  <a:pt x="2863270" y="56366"/>
                </a:lnTo>
                <a:lnTo>
                  <a:pt x="2916335" y="66800"/>
                </a:lnTo>
                <a:lnTo>
                  <a:pt x="2968845" y="78068"/>
                </a:lnTo>
                <a:lnTo>
                  <a:pt x="3020781" y="90160"/>
                </a:lnTo>
                <a:lnTo>
                  <a:pt x="3072125" y="103062"/>
                </a:lnTo>
                <a:lnTo>
                  <a:pt x="3122860" y="116764"/>
                </a:lnTo>
                <a:lnTo>
                  <a:pt x="3172969" y="131254"/>
                </a:lnTo>
                <a:lnTo>
                  <a:pt x="3222433" y="146520"/>
                </a:lnTo>
                <a:lnTo>
                  <a:pt x="3271235" y="162550"/>
                </a:lnTo>
                <a:lnTo>
                  <a:pt x="3319357" y="179333"/>
                </a:lnTo>
                <a:lnTo>
                  <a:pt x="3366782" y="196857"/>
                </a:lnTo>
                <a:lnTo>
                  <a:pt x="3413493" y="215110"/>
                </a:lnTo>
                <a:lnTo>
                  <a:pt x="3459470" y="234082"/>
                </a:lnTo>
                <a:lnTo>
                  <a:pt x="3504697" y="253759"/>
                </a:lnTo>
                <a:lnTo>
                  <a:pt x="3549156" y="274131"/>
                </a:lnTo>
                <a:lnTo>
                  <a:pt x="3592830" y="295185"/>
                </a:lnTo>
                <a:lnTo>
                  <a:pt x="3635700" y="316911"/>
                </a:lnTo>
                <a:lnTo>
                  <a:pt x="3677749" y="339296"/>
                </a:lnTo>
                <a:lnTo>
                  <a:pt x="3718960" y="362329"/>
                </a:lnTo>
                <a:lnTo>
                  <a:pt x="3759315" y="385997"/>
                </a:lnTo>
                <a:lnTo>
                  <a:pt x="3798795" y="410291"/>
                </a:lnTo>
                <a:lnTo>
                  <a:pt x="3837384" y="435197"/>
                </a:lnTo>
                <a:lnTo>
                  <a:pt x="3875064" y="460704"/>
                </a:lnTo>
                <a:lnTo>
                  <a:pt x="3911816" y="486800"/>
                </a:lnTo>
                <a:lnTo>
                  <a:pt x="3947624" y="513475"/>
                </a:lnTo>
                <a:lnTo>
                  <a:pt x="3982470" y="540715"/>
                </a:lnTo>
                <a:lnTo>
                  <a:pt x="4016336" y="568510"/>
                </a:lnTo>
                <a:lnTo>
                  <a:pt x="4049205" y="596847"/>
                </a:lnTo>
                <a:lnTo>
                  <a:pt x="4081058" y="625716"/>
                </a:lnTo>
                <a:lnTo>
                  <a:pt x="4111879" y="655104"/>
                </a:lnTo>
                <a:lnTo>
                  <a:pt x="4141649" y="684999"/>
                </a:lnTo>
                <a:lnTo>
                  <a:pt x="4170350" y="715391"/>
                </a:lnTo>
                <a:lnTo>
                  <a:pt x="4197966" y="746267"/>
                </a:lnTo>
                <a:lnTo>
                  <a:pt x="4224479" y="777616"/>
                </a:lnTo>
                <a:lnTo>
                  <a:pt x="4249870" y="809426"/>
                </a:lnTo>
                <a:lnTo>
                  <a:pt x="4274123" y="841686"/>
                </a:lnTo>
                <a:lnTo>
                  <a:pt x="4297219" y="874383"/>
                </a:lnTo>
                <a:lnTo>
                  <a:pt x="4319141" y="907506"/>
                </a:lnTo>
                <a:lnTo>
                  <a:pt x="4339871" y="941043"/>
                </a:lnTo>
                <a:lnTo>
                  <a:pt x="4359391" y="974984"/>
                </a:lnTo>
                <a:lnTo>
                  <a:pt x="4377685" y="1009315"/>
                </a:lnTo>
                <a:lnTo>
                  <a:pt x="4394734" y="1044026"/>
                </a:lnTo>
                <a:lnTo>
                  <a:pt x="4410520" y="1079104"/>
                </a:lnTo>
                <a:lnTo>
                  <a:pt x="4425026" y="1114539"/>
                </a:lnTo>
                <a:lnTo>
                  <a:pt x="4438235" y="1150317"/>
                </a:lnTo>
                <a:lnTo>
                  <a:pt x="4460688" y="1222862"/>
                </a:lnTo>
                <a:lnTo>
                  <a:pt x="4477738" y="1296643"/>
                </a:lnTo>
                <a:lnTo>
                  <a:pt x="4489244" y="1371569"/>
                </a:lnTo>
                <a:lnTo>
                  <a:pt x="4495065" y="1447546"/>
                </a:lnTo>
                <a:lnTo>
                  <a:pt x="4495800" y="1485900"/>
                </a:lnTo>
                <a:lnTo>
                  <a:pt x="4495065" y="1524253"/>
                </a:lnTo>
                <a:lnTo>
                  <a:pt x="4492874" y="1562367"/>
                </a:lnTo>
                <a:lnTo>
                  <a:pt x="4484193" y="1637830"/>
                </a:lnTo>
                <a:lnTo>
                  <a:pt x="4469897" y="1712195"/>
                </a:lnTo>
                <a:lnTo>
                  <a:pt x="4450128" y="1785370"/>
                </a:lnTo>
                <a:lnTo>
                  <a:pt x="4425026" y="1857260"/>
                </a:lnTo>
                <a:lnTo>
                  <a:pt x="4410520" y="1892695"/>
                </a:lnTo>
                <a:lnTo>
                  <a:pt x="4394734" y="1927773"/>
                </a:lnTo>
                <a:lnTo>
                  <a:pt x="4377685" y="1962484"/>
                </a:lnTo>
                <a:lnTo>
                  <a:pt x="4359391" y="1996815"/>
                </a:lnTo>
                <a:lnTo>
                  <a:pt x="4339871" y="2030756"/>
                </a:lnTo>
                <a:lnTo>
                  <a:pt x="4319141" y="2064293"/>
                </a:lnTo>
                <a:lnTo>
                  <a:pt x="4297219" y="2097416"/>
                </a:lnTo>
                <a:lnTo>
                  <a:pt x="4274123" y="2130113"/>
                </a:lnTo>
                <a:lnTo>
                  <a:pt x="4249870" y="2162373"/>
                </a:lnTo>
                <a:lnTo>
                  <a:pt x="4224479" y="2194183"/>
                </a:lnTo>
                <a:lnTo>
                  <a:pt x="4197966" y="2225532"/>
                </a:lnTo>
                <a:lnTo>
                  <a:pt x="4170350" y="2256408"/>
                </a:lnTo>
                <a:lnTo>
                  <a:pt x="4141649" y="2286800"/>
                </a:lnTo>
                <a:lnTo>
                  <a:pt x="4111879" y="2316695"/>
                </a:lnTo>
                <a:lnTo>
                  <a:pt x="4081058" y="2346083"/>
                </a:lnTo>
                <a:lnTo>
                  <a:pt x="4049205" y="2374952"/>
                </a:lnTo>
                <a:lnTo>
                  <a:pt x="4016336" y="2403289"/>
                </a:lnTo>
                <a:lnTo>
                  <a:pt x="3982470" y="2431084"/>
                </a:lnTo>
                <a:lnTo>
                  <a:pt x="3947624" y="2458324"/>
                </a:lnTo>
                <a:lnTo>
                  <a:pt x="3911816" y="2484999"/>
                </a:lnTo>
                <a:lnTo>
                  <a:pt x="3875064" y="2511095"/>
                </a:lnTo>
                <a:lnTo>
                  <a:pt x="3837384" y="2536602"/>
                </a:lnTo>
                <a:lnTo>
                  <a:pt x="3798795" y="2561508"/>
                </a:lnTo>
                <a:lnTo>
                  <a:pt x="3759315" y="2585802"/>
                </a:lnTo>
                <a:lnTo>
                  <a:pt x="3718960" y="2609470"/>
                </a:lnTo>
                <a:lnTo>
                  <a:pt x="3677749" y="2632503"/>
                </a:lnTo>
                <a:lnTo>
                  <a:pt x="3635700" y="2654888"/>
                </a:lnTo>
                <a:lnTo>
                  <a:pt x="3592830" y="2676614"/>
                </a:lnTo>
                <a:lnTo>
                  <a:pt x="3549156" y="2697668"/>
                </a:lnTo>
                <a:lnTo>
                  <a:pt x="3504697" y="2718040"/>
                </a:lnTo>
                <a:lnTo>
                  <a:pt x="3459470" y="2737717"/>
                </a:lnTo>
                <a:lnTo>
                  <a:pt x="3413493" y="2756689"/>
                </a:lnTo>
                <a:lnTo>
                  <a:pt x="3366782" y="2774942"/>
                </a:lnTo>
                <a:lnTo>
                  <a:pt x="3319357" y="2792466"/>
                </a:lnTo>
                <a:lnTo>
                  <a:pt x="3271235" y="2809249"/>
                </a:lnTo>
                <a:lnTo>
                  <a:pt x="3222433" y="2825279"/>
                </a:lnTo>
                <a:lnTo>
                  <a:pt x="3172969" y="2840545"/>
                </a:lnTo>
                <a:lnTo>
                  <a:pt x="3122860" y="2855035"/>
                </a:lnTo>
                <a:lnTo>
                  <a:pt x="3072125" y="2868737"/>
                </a:lnTo>
                <a:lnTo>
                  <a:pt x="3020781" y="2881639"/>
                </a:lnTo>
                <a:lnTo>
                  <a:pt x="2968845" y="2893731"/>
                </a:lnTo>
                <a:lnTo>
                  <a:pt x="2916335" y="2904999"/>
                </a:lnTo>
                <a:lnTo>
                  <a:pt x="2863270" y="2915433"/>
                </a:lnTo>
                <a:lnTo>
                  <a:pt x="2809666" y="2925022"/>
                </a:lnTo>
                <a:lnTo>
                  <a:pt x="2755541" y="2933752"/>
                </a:lnTo>
                <a:lnTo>
                  <a:pt x="2700914" y="2941613"/>
                </a:lnTo>
                <a:lnTo>
                  <a:pt x="2645801" y="2948592"/>
                </a:lnTo>
                <a:lnTo>
                  <a:pt x="2590220" y="2954679"/>
                </a:lnTo>
                <a:lnTo>
                  <a:pt x="2534189" y="2959862"/>
                </a:lnTo>
                <a:lnTo>
                  <a:pt x="2477725" y="2964128"/>
                </a:lnTo>
                <a:lnTo>
                  <a:pt x="2420847" y="2967467"/>
                </a:lnTo>
                <a:lnTo>
                  <a:pt x="2363571" y="2969866"/>
                </a:lnTo>
                <a:lnTo>
                  <a:pt x="2305916" y="2971314"/>
                </a:lnTo>
                <a:lnTo>
                  <a:pt x="2247900" y="2971800"/>
                </a:lnTo>
                <a:lnTo>
                  <a:pt x="2189883" y="2971314"/>
                </a:lnTo>
                <a:lnTo>
                  <a:pt x="2132228" y="2969866"/>
                </a:lnTo>
                <a:lnTo>
                  <a:pt x="2074952" y="2967467"/>
                </a:lnTo>
                <a:lnTo>
                  <a:pt x="2018074" y="2964128"/>
                </a:lnTo>
                <a:lnTo>
                  <a:pt x="1961610" y="2959862"/>
                </a:lnTo>
                <a:lnTo>
                  <a:pt x="1905579" y="2954679"/>
                </a:lnTo>
                <a:lnTo>
                  <a:pt x="1849998" y="2948592"/>
                </a:lnTo>
                <a:lnTo>
                  <a:pt x="1794885" y="2941613"/>
                </a:lnTo>
                <a:lnTo>
                  <a:pt x="1740258" y="2933752"/>
                </a:lnTo>
                <a:lnTo>
                  <a:pt x="1686133" y="2925022"/>
                </a:lnTo>
                <a:lnTo>
                  <a:pt x="1632529" y="2915433"/>
                </a:lnTo>
                <a:lnTo>
                  <a:pt x="1579464" y="2904999"/>
                </a:lnTo>
                <a:lnTo>
                  <a:pt x="1526954" y="2893731"/>
                </a:lnTo>
                <a:lnTo>
                  <a:pt x="1475018" y="2881639"/>
                </a:lnTo>
                <a:lnTo>
                  <a:pt x="1423674" y="2868737"/>
                </a:lnTo>
                <a:lnTo>
                  <a:pt x="1372939" y="2855035"/>
                </a:lnTo>
                <a:lnTo>
                  <a:pt x="1322830" y="2840545"/>
                </a:lnTo>
                <a:lnTo>
                  <a:pt x="1273366" y="2825279"/>
                </a:lnTo>
                <a:lnTo>
                  <a:pt x="1224564" y="2809249"/>
                </a:lnTo>
                <a:lnTo>
                  <a:pt x="1176442" y="2792466"/>
                </a:lnTo>
                <a:lnTo>
                  <a:pt x="1129017" y="2774942"/>
                </a:lnTo>
                <a:lnTo>
                  <a:pt x="1082306" y="2756689"/>
                </a:lnTo>
                <a:lnTo>
                  <a:pt x="1036329" y="2737717"/>
                </a:lnTo>
                <a:lnTo>
                  <a:pt x="991102" y="2718040"/>
                </a:lnTo>
                <a:lnTo>
                  <a:pt x="946643" y="2697668"/>
                </a:lnTo>
                <a:lnTo>
                  <a:pt x="902969" y="2676614"/>
                </a:lnTo>
                <a:lnTo>
                  <a:pt x="860099" y="2654888"/>
                </a:lnTo>
                <a:lnTo>
                  <a:pt x="818050" y="2632503"/>
                </a:lnTo>
                <a:lnTo>
                  <a:pt x="776839" y="2609470"/>
                </a:lnTo>
                <a:lnTo>
                  <a:pt x="736484" y="2585802"/>
                </a:lnTo>
                <a:lnTo>
                  <a:pt x="697004" y="2561508"/>
                </a:lnTo>
                <a:lnTo>
                  <a:pt x="658415" y="2536602"/>
                </a:lnTo>
                <a:lnTo>
                  <a:pt x="620735" y="2511095"/>
                </a:lnTo>
                <a:lnTo>
                  <a:pt x="583983" y="2484999"/>
                </a:lnTo>
                <a:lnTo>
                  <a:pt x="548175" y="2458324"/>
                </a:lnTo>
                <a:lnTo>
                  <a:pt x="513329" y="2431084"/>
                </a:lnTo>
                <a:lnTo>
                  <a:pt x="479463" y="2403289"/>
                </a:lnTo>
                <a:lnTo>
                  <a:pt x="446594" y="2374952"/>
                </a:lnTo>
                <a:lnTo>
                  <a:pt x="414741" y="2346083"/>
                </a:lnTo>
                <a:lnTo>
                  <a:pt x="383920" y="2316695"/>
                </a:lnTo>
                <a:lnTo>
                  <a:pt x="354150" y="2286800"/>
                </a:lnTo>
                <a:lnTo>
                  <a:pt x="325449" y="2256408"/>
                </a:lnTo>
                <a:lnTo>
                  <a:pt x="297833" y="2225532"/>
                </a:lnTo>
                <a:lnTo>
                  <a:pt x="271320" y="2194183"/>
                </a:lnTo>
                <a:lnTo>
                  <a:pt x="245929" y="2162373"/>
                </a:lnTo>
                <a:lnTo>
                  <a:pt x="221676" y="2130113"/>
                </a:lnTo>
                <a:lnTo>
                  <a:pt x="198580" y="2097416"/>
                </a:lnTo>
                <a:lnTo>
                  <a:pt x="176658" y="2064293"/>
                </a:lnTo>
                <a:lnTo>
                  <a:pt x="155928" y="2030756"/>
                </a:lnTo>
                <a:lnTo>
                  <a:pt x="136408" y="1996815"/>
                </a:lnTo>
                <a:lnTo>
                  <a:pt x="118114" y="1962484"/>
                </a:lnTo>
                <a:lnTo>
                  <a:pt x="101065" y="1927773"/>
                </a:lnTo>
                <a:lnTo>
                  <a:pt x="85279" y="1892695"/>
                </a:lnTo>
                <a:lnTo>
                  <a:pt x="70773" y="1857260"/>
                </a:lnTo>
                <a:lnTo>
                  <a:pt x="57564" y="1821482"/>
                </a:lnTo>
                <a:lnTo>
                  <a:pt x="35111" y="1748937"/>
                </a:lnTo>
                <a:lnTo>
                  <a:pt x="18061" y="1675156"/>
                </a:lnTo>
                <a:lnTo>
                  <a:pt x="6555" y="1600230"/>
                </a:lnTo>
                <a:lnTo>
                  <a:pt x="734" y="1524253"/>
                </a:lnTo>
                <a:lnTo>
                  <a:pt x="0" y="14859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895600" y="3048000"/>
            <a:ext cx="2209800" cy="3276600"/>
          </a:xfrm>
          <a:custGeom>
            <a:avLst/>
            <a:gdLst/>
            <a:ahLst/>
            <a:cxnLst/>
            <a:rect l="l" t="t" r="r" b="b"/>
            <a:pathLst>
              <a:path w="2209800" h="3276600">
                <a:moveTo>
                  <a:pt x="0" y="3276600"/>
                </a:moveTo>
                <a:lnTo>
                  <a:pt x="2209800" y="3276600"/>
                </a:lnTo>
                <a:lnTo>
                  <a:pt x="2209800" y="0"/>
                </a:lnTo>
                <a:lnTo>
                  <a:pt x="0" y="0"/>
                </a:lnTo>
                <a:lnTo>
                  <a:pt x="0" y="3276600"/>
                </a:lnTo>
                <a:close/>
              </a:path>
            </a:pathLst>
          </a:custGeom>
          <a:solidFill>
            <a:srgbClr val="FFFFFF">
              <a:alpha val="909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895600" y="3048000"/>
            <a:ext cx="2209800" cy="3276600"/>
          </a:xfrm>
          <a:custGeom>
            <a:avLst/>
            <a:gdLst/>
            <a:ahLst/>
            <a:cxnLst/>
            <a:rect l="l" t="t" r="r" b="b"/>
            <a:pathLst>
              <a:path w="2209800" h="3276600">
                <a:moveTo>
                  <a:pt x="0" y="3276600"/>
                </a:moveTo>
                <a:lnTo>
                  <a:pt x="2209800" y="3276600"/>
                </a:lnTo>
                <a:lnTo>
                  <a:pt x="2209800" y="0"/>
                </a:lnTo>
                <a:lnTo>
                  <a:pt x="0" y="0"/>
                </a:lnTo>
                <a:lnTo>
                  <a:pt x="0" y="3276600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33400" y="3200400"/>
            <a:ext cx="4495800" cy="2971800"/>
          </a:xfrm>
          <a:custGeom>
            <a:avLst/>
            <a:gdLst/>
            <a:ahLst/>
            <a:cxnLst/>
            <a:rect l="l" t="t" r="r" b="b"/>
            <a:pathLst>
              <a:path w="4495800" h="2971800">
                <a:moveTo>
                  <a:pt x="2590220" y="2959100"/>
                </a:moveTo>
                <a:lnTo>
                  <a:pt x="1905579" y="2959100"/>
                </a:lnTo>
                <a:lnTo>
                  <a:pt x="1961610" y="2971800"/>
                </a:lnTo>
                <a:lnTo>
                  <a:pt x="2534189" y="2971800"/>
                </a:lnTo>
                <a:lnTo>
                  <a:pt x="2590220" y="2959100"/>
                </a:lnTo>
                <a:close/>
              </a:path>
              <a:path w="4495800" h="2971800">
                <a:moveTo>
                  <a:pt x="2700914" y="2946400"/>
                </a:moveTo>
                <a:lnTo>
                  <a:pt x="1794885" y="2946400"/>
                </a:lnTo>
                <a:lnTo>
                  <a:pt x="1849998" y="2959100"/>
                </a:lnTo>
                <a:lnTo>
                  <a:pt x="2645801" y="2959100"/>
                </a:lnTo>
                <a:lnTo>
                  <a:pt x="2700914" y="2946400"/>
                </a:lnTo>
                <a:close/>
              </a:path>
              <a:path w="4495800" h="2971800">
                <a:moveTo>
                  <a:pt x="2755541" y="38100"/>
                </a:moveTo>
                <a:lnTo>
                  <a:pt x="1740258" y="38100"/>
                </a:lnTo>
                <a:lnTo>
                  <a:pt x="1526954" y="88900"/>
                </a:lnTo>
                <a:lnTo>
                  <a:pt x="1224564" y="165100"/>
                </a:lnTo>
                <a:lnTo>
                  <a:pt x="1176442" y="190500"/>
                </a:lnTo>
                <a:lnTo>
                  <a:pt x="1082306" y="215900"/>
                </a:lnTo>
                <a:lnTo>
                  <a:pt x="1036329" y="241300"/>
                </a:lnTo>
                <a:lnTo>
                  <a:pt x="991102" y="254000"/>
                </a:lnTo>
                <a:lnTo>
                  <a:pt x="946643" y="279400"/>
                </a:lnTo>
                <a:lnTo>
                  <a:pt x="902969" y="304800"/>
                </a:lnTo>
                <a:lnTo>
                  <a:pt x="860099" y="317500"/>
                </a:lnTo>
                <a:lnTo>
                  <a:pt x="818050" y="342900"/>
                </a:lnTo>
                <a:lnTo>
                  <a:pt x="776839" y="368300"/>
                </a:lnTo>
                <a:lnTo>
                  <a:pt x="736484" y="393700"/>
                </a:lnTo>
                <a:lnTo>
                  <a:pt x="697004" y="419100"/>
                </a:lnTo>
                <a:lnTo>
                  <a:pt x="658415" y="444500"/>
                </a:lnTo>
                <a:lnTo>
                  <a:pt x="620735" y="469900"/>
                </a:lnTo>
                <a:lnTo>
                  <a:pt x="583983" y="495300"/>
                </a:lnTo>
                <a:lnTo>
                  <a:pt x="548175" y="520700"/>
                </a:lnTo>
                <a:lnTo>
                  <a:pt x="513329" y="546100"/>
                </a:lnTo>
                <a:lnTo>
                  <a:pt x="479463" y="571500"/>
                </a:lnTo>
                <a:lnTo>
                  <a:pt x="446594" y="596900"/>
                </a:lnTo>
                <a:lnTo>
                  <a:pt x="414741" y="635000"/>
                </a:lnTo>
                <a:lnTo>
                  <a:pt x="383920" y="660400"/>
                </a:lnTo>
                <a:lnTo>
                  <a:pt x="354150" y="685800"/>
                </a:lnTo>
                <a:lnTo>
                  <a:pt x="325449" y="723900"/>
                </a:lnTo>
                <a:lnTo>
                  <a:pt x="297833" y="749300"/>
                </a:lnTo>
                <a:lnTo>
                  <a:pt x="271320" y="787400"/>
                </a:lnTo>
                <a:lnTo>
                  <a:pt x="245929" y="812800"/>
                </a:lnTo>
                <a:lnTo>
                  <a:pt x="221676" y="850900"/>
                </a:lnTo>
                <a:lnTo>
                  <a:pt x="198580" y="876300"/>
                </a:lnTo>
                <a:lnTo>
                  <a:pt x="176658" y="914400"/>
                </a:lnTo>
                <a:lnTo>
                  <a:pt x="155928" y="952500"/>
                </a:lnTo>
                <a:lnTo>
                  <a:pt x="136408" y="977900"/>
                </a:lnTo>
                <a:lnTo>
                  <a:pt x="118114" y="1016000"/>
                </a:lnTo>
                <a:lnTo>
                  <a:pt x="101065" y="1054100"/>
                </a:lnTo>
                <a:lnTo>
                  <a:pt x="85279" y="1079500"/>
                </a:lnTo>
                <a:lnTo>
                  <a:pt x="70773" y="1117600"/>
                </a:lnTo>
                <a:lnTo>
                  <a:pt x="57564" y="1155700"/>
                </a:lnTo>
                <a:lnTo>
                  <a:pt x="45671" y="1193800"/>
                </a:lnTo>
                <a:lnTo>
                  <a:pt x="35111" y="1231900"/>
                </a:lnTo>
                <a:lnTo>
                  <a:pt x="25902" y="1270000"/>
                </a:lnTo>
                <a:lnTo>
                  <a:pt x="18061" y="1308100"/>
                </a:lnTo>
                <a:lnTo>
                  <a:pt x="11606" y="1346200"/>
                </a:lnTo>
                <a:lnTo>
                  <a:pt x="6555" y="1371600"/>
                </a:lnTo>
                <a:lnTo>
                  <a:pt x="2925" y="1409700"/>
                </a:lnTo>
                <a:lnTo>
                  <a:pt x="734" y="1447800"/>
                </a:lnTo>
                <a:lnTo>
                  <a:pt x="0" y="1485900"/>
                </a:lnTo>
                <a:lnTo>
                  <a:pt x="734" y="1536700"/>
                </a:lnTo>
                <a:lnTo>
                  <a:pt x="2925" y="1574800"/>
                </a:lnTo>
                <a:lnTo>
                  <a:pt x="6555" y="1612900"/>
                </a:lnTo>
                <a:lnTo>
                  <a:pt x="11606" y="1638300"/>
                </a:lnTo>
                <a:lnTo>
                  <a:pt x="18061" y="1676400"/>
                </a:lnTo>
                <a:lnTo>
                  <a:pt x="25902" y="1714500"/>
                </a:lnTo>
                <a:lnTo>
                  <a:pt x="35111" y="1752600"/>
                </a:lnTo>
                <a:lnTo>
                  <a:pt x="45671" y="1790700"/>
                </a:lnTo>
                <a:lnTo>
                  <a:pt x="57564" y="1828800"/>
                </a:lnTo>
                <a:lnTo>
                  <a:pt x="70773" y="1866900"/>
                </a:lnTo>
                <a:lnTo>
                  <a:pt x="85279" y="1905000"/>
                </a:lnTo>
                <a:lnTo>
                  <a:pt x="101065" y="1930400"/>
                </a:lnTo>
                <a:lnTo>
                  <a:pt x="118114" y="1968500"/>
                </a:lnTo>
                <a:lnTo>
                  <a:pt x="136408" y="2006600"/>
                </a:lnTo>
                <a:lnTo>
                  <a:pt x="155928" y="2032000"/>
                </a:lnTo>
                <a:lnTo>
                  <a:pt x="176658" y="2070100"/>
                </a:lnTo>
                <a:lnTo>
                  <a:pt x="198580" y="2108200"/>
                </a:lnTo>
                <a:lnTo>
                  <a:pt x="221676" y="2133600"/>
                </a:lnTo>
                <a:lnTo>
                  <a:pt x="245929" y="2171700"/>
                </a:lnTo>
                <a:lnTo>
                  <a:pt x="271320" y="2197100"/>
                </a:lnTo>
                <a:lnTo>
                  <a:pt x="297833" y="2235200"/>
                </a:lnTo>
                <a:lnTo>
                  <a:pt x="325449" y="2260600"/>
                </a:lnTo>
                <a:lnTo>
                  <a:pt x="354150" y="2298700"/>
                </a:lnTo>
                <a:lnTo>
                  <a:pt x="383920" y="2324100"/>
                </a:lnTo>
                <a:lnTo>
                  <a:pt x="414741" y="2349500"/>
                </a:lnTo>
                <a:lnTo>
                  <a:pt x="446594" y="2387600"/>
                </a:lnTo>
                <a:lnTo>
                  <a:pt x="479463" y="2413000"/>
                </a:lnTo>
                <a:lnTo>
                  <a:pt x="513329" y="2438400"/>
                </a:lnTo>
                <a:lnTo>
                  <a:pt x="548175" y="2463800"/>
                </a:lnTo>
                <a:lnTo>
                  <a:pt x="583983" y="2489200"/>
                </a:lnTo>
                <a:lnTo>
                  <a:pt x="620735" y="2514600"/>
                </a:lnTo>
                <a:lnTo>
                  <a:pt x="658415" y="2540000"/>
                </a:lnTo>
                <a:lnTo>
                  <a:pt x="697004" y="2565400"/>
                </a:lnTo>
                <a:lnTo>
                  <a:pt x="736484" y="2590800"/>
                </a:lnTo>
                <a:lnTo>
                  <a:pt x="776839" y="2616200"/>
                </a:lnTo>
                <a:lnTo>
                  <a:pt x="818050" y="2641600"/>
                </a:lnTo>
                <a:lnTo>
                  <a:pt x="860099" y="2667000"/>
                </a:lnTo>
                <a:lnTo>
                  <a:pt x="902969" y="2679700"/>
                </a:lnTo>
                <a:lnTo>
                  <a:pt x="946643" y="2705100"/>
                </a:lnTo>
                <a:lnTo>
                  <a:pt x="991102" y="2730500"/>
                </a:lnTo>
                <a:lnTo>
                  <a:pt x="1036329" y="2743200"/>
                </a:lnTo>
                <a:lnTo>
                  <a:pt x="1082306" y="2768600"/>
                </a:lnTo>
                <a:lnTo>
                  <a:pt x="1176442" y="2794000"/>
                </a:lnTo>
                <a:lnTo>
                  <a:pt x="1224564" y="2819400"/>
                </a:lnTo>
                <a:lnTo>
                  <a:pt x="1372939" y="2857500"/>
                </a:lnTo>
                <a:lnTo>
                  <a:pt x="1740258" y="2946400"/>
                </a:lnTo>
                <a:lnTo>
                  <a:pt x="2755541" y="2946400"/>
                </a:lnTo>
                <a:lnTo>
                  <a:pt x="3122860" y="2857500"/>
                </a:lnTo>
                <a:lnTo>
                  <a:pt x="3271235" y="2819400"/>
                </a:lnTo>
                <a:lnTo>
                  <a:pt x="3319357" y="2794000"/>
                </a:lnTo>
                <a:lnTo>
                  <a:pt x="3413493" y="2768600"/>
                </a:lnTo>
                <a:lnTo>
                  <a:pt x="3459470" y="2743200"/>
                </a:lnTo>
                <a:lnTo>
                  <a:pt x="3504697" y="2730500"/>
                </a:lnTo>
                <a:lnTo>
                  <a:pt x="3549156" y="2705100"/>
                </a:lnTo>
                <a:lnTo>
                  <a:pt x="3592830" y="2679700"/>
                </a:lnTo>
                <a:lnTo>
                  <a:pt x="3635700" y="2667000"/>
                </a:lnTo>
                <a:lnTo>
                  <a:pt x="3677749" y="2641600"/>
                </a:lnTo>
                <a:lnTo>
                  <a:pt x="3718960" y="2616200"/>
                </a:lnTo>
                <a:lnTo>
                  <a:pt x="3759315" y="2590800"/>
                </a:lnTo>
                <a:lnTo>
                  <a:pt x="3798795" y="2565400"/>
                </a:lnTo>
                <a:lnTo>
                  <a:pt x="3837384" y="2540000"/>
                </a:lnTo>
                <a:lnTo>
                  <a:pt x="3875064" y="2514600"/>
                </a:lnTo>
                <a:lnTo>
                  <a:pt x="3911816" y="2489200"/>
                </a:lnTo>
                <a:lnTo>
                  <a:pt x="3947624" y="2463800"/>
                </a:lnTo>
                <a:lnTo>
                  <a:pt x="3982470" y="2438400"/>
                </a:lnTo>
                <a:lnTo>
                  <a:pt x="4016336" y="2413000"/>
                </a:lnTo>
                <a:lnTo>
                  <a:pt x="4049205" y="2387600"/>
                </a:lnTo>
                <a:lnTo>
                  <a:pt x="4081058" y="2349500"/>
                </a:lnTo>
                <a:lnTo>
                  <a:pt x="4111879" y="2324100"/>
                </a:lnTo>
                <a:lnTo>
                  <a:pt x="4141649" y="2298700"/>
                </a:lnTo>
                <a:lnTo>
                  <a:pt x="4170350" y="2260600"/>
                </a:lnTo>
                <a:lnTo>
                  <a:pt x="4197966" y="2235200"/>
                </a:lnTo>
                <a:lnTo>
                  <a:pt x="4224479" y="2197100"/>
                </a:lnTo>
                <a:lnTo>
                  <a:pt x="4249870" y="2171700"/>
                </a:lnTo>
                <a:lnTo>
                  <a:pt x="4274123" y="2133600"/>
                </a:lnTo>
                <a:lnTo>
                  <a:pt x="4297219" y="2108200"/>
                </a:lnTo>
                <a:lnTo>
                  <a:pt x="4319141" y="2070100"/>
                </a:lnTo>
                <a:lnTo>
                  <a:pt x="4339871" y="2032000"/>
                </a:lnTo>
                <a:lnTo>
                  <a:pt x="4359391" y="2006600"/>
                </a:lnTo>
                <a:lnTo>
                  <a:pt x="4377685" y="1968500"/>
                </a:lnTo>
                <a:lnTo>
                  <a:pt x="4394734" y="1930400"/>
                </a:lnTo>
                <a:lnTo>
                  <a:pt x="4410520" y="1905000"/>
                </a:lnTo>
                <a:lnTo>
                  <a:pt x="4425026" y="1866900"/>
                </a:lnTo>
                <a:lnTo>
                  <a:pt x="4438235" y="1828800"/>
                </a:lnTo>
                <a:lnTo>
                  <a:pt x="4450128" y="1790700"/>
                </a:lnTo>
                <a:lnTo>
                  <a:pt x="4460688" y="1752600"/>
                </a:lnTo>
                <a:lnTo>
                  <a:pt x="4469897" y="1714500"/>
                </a:lnTo>
                <a:lnTo>
                  <a:pt x="4477738" y="1676400"/>
                </a:lnTo>
                <a:lnTo>
                  <a:pt x="4484193" y="1638300"/>
                </a:lnTo>
                <a:lnTo>
                  <a:pt x="4489244" y="1612900"/>
                </a:lnTo>
                <a:lnTo>
                  <a:pt x="4492874" y="1574800"/>
                </a:lnTo>
                <a:lnTo>
                  <a:pt x="4495065" y="1536700"/>
                </a:lnTo>
                <a:lnTo>
                  <a:pt x="4495800" y="1485900"/>
                </a:lnTo>
                <a:lnTo>
                  <a:pt x="4495065" y="1447800"/>
                </a:lnTo>
                <a:lnTo>
                  <a:pt x="4492874" y="1409700"/>
                </a:lnTo>
                <a:lnTo>
                  <a:pt x="4489244" y="1371600"/>
                </a:lnTo>
                <a:lnTo>
                  <a:pt x="4484193" y="1346200"/>
                </a:lnTo>
                <a:lnTo>
                  <a:pt x="4477738" y="1308100"/>
                </a:lnTo>
                <a:lnTo>
                  <a:pt x="4469897" y="1270000"/>
                </a:lnTo>
                <a:lnTo>
                  <a:pt x="4460688" y="1231900"/>
                </a:lnTo>
                <a:lnTo>
                  <a:pt x="4450128" y="1193800"/>
                </a:lnTo>
                <a:lnTo>
                  <a:pt x="4438235" y="1155700"/>
                </a:lnTo>
                <a:lnTo>
                  <a:pt x="4425026" y="1117600"/>
                </a:lnTo>
                <a:lnTo>
                  <a:pt x="4410520" y="1079500"/>
                </a:lnTo>
                <a:lnTo>
                  <a:pt x="4394734" y="1054100"/>
                </a:lnTo>
                <a:lnTo>
                  <a:pt x="4377685" y="1016000"/>
                </a:lnTo>
                <a:lnTo>
                  <a:pt x="4359391" y="977900"/>
                </a:lnTo>
                <a:lnTo>
                  <a:pt x="4339871" y="952500"/>
                </a:lnTo>
                <a:lnTo>
                  <a:pt x="4319141" y="914400"/>
                </a:lnTo>
                <a:lnTo>
                  <a:pt x="4297219" y="876300"/>
                </a:lnTo>
                <a:lnTo>
                  <a:pt x="4274123" y="850900"/>
                </a:lnTo>
                <a:lnTo>
                  <a:pt x="4249870" y="812800"/>
                </a:lnTo>
                <a:lnTo>
                  <a:pt x="4224479" y="787400"/>
                </a:lnTo>
                <a:lnTo>
                  <a:pt x="4197966" y="749300"/>
                </a:lnTo>
                <a:lnTo>
                  <a:pt x="4170350" y="723900"/>
                </a:lnTo>
                <a:lnTo>
                  <a:pt x="4141649" y="685800"/>
                </a:lnTo>
                <a:lnTo>
                  <a:pt x="4111879" y="660400"/>
                </a:lnTo>
                <a:lnTo>
                  <a:pt x="4081058" y="635000"/>
                </a:lnTo>
                <a:lnTo>
                  <a:pt x="4049205" y="596900"/>
                </a:lnTo>
                <a:lnTo>
                  <a:pt x="4016336" y="571500"/>
                </a:lnTo>
                <a:lnTo>
                  <a:pt x="3982470" y="546100"/>
                </a:lnTo>
                <a:lnTo>
                  <a:pt x="3947624" y="520700"/>
                </a:lnTo>
                <a:lnTo>
                  <a:pt x="3911816" y="495300"/>
                </a:lnTo>
                <a:lnTo>
                  <a:pt x="3875064" y="469900"/>
                </a:lnTo>
                <a:lnTo>
                  <a:pt x="3837384" y="444500"/>
                </a:lnTo>
                <a:lnTo>
                  <a:pt x="3798795" y="419100"/>
                </a:lnTo>
                <a:lnTo>
                  <a:pt x="3759315" y="393700"/>
                </a:lnTo>
                <a:lnTo>
                  <a:pt x="3718960" y="368300"/>
                </a:lnTo>
                <a:lnTo>
                  <a:pt x="3677749" y="342900"/>
                </a:lnTo>
                <a:lnTo>
                  <a:pt x="3635700" y="317500"/>
                </a:lnTo>
                <a:lnTo>
                  <a:pt x="3592830" y="304800"/>
                </a:lnTo>
                <a:lnTo>
                  <a:pt x="3549156" y="279400"/>
                </a:lnTo>
                <a:lnTo>
                  <a:pt x="3504697" y="254000"/>
                </a:lnTo>
                <a:lnTo>
                  <a:pt x="3459470" y="241300"/>
                </a:lnTo>
                <a:lnTo>
                  <a:pt x="3413493" y="215900"/>
                </a:lnTo>
                <a:lnTo>
                  <a:pt x="3319357" y="190500"/>
                </a:lnTo>
                <a:lnTo>
                  <a:pt x="3271235" y="165100"/>
                </a:lnTo>
                <a:lnTo>
                  <a:pt x="2968845" y="88900"/>
                </a:lnTo>
                <a:lnTo>
                  <a:pt x="2755541" y="38100"/>
                </a:lnTo>
                <a:close/>
              </a:path>
              <a:path w="4495800" h="2971800">
                <a:moveTo>
                  <a:pt x="2645801" y="25400"/>
                </a:moveTo>
                <a:lnTo>
                  <a:pt x="1849998" y="25400"/>
                </a:lnTo>
                <a:lnTo>
                  <a:pt x="1794885" y="38100"/>
                </a:lnTo>
                <a:lnTo>
                  <a:pt x="2700914" y="38100"/>
                </a:lnTo>
                <a:lnTo>
                  <a:pt x="2645801" y="25400"/>
                </a:lnTo>
                <a:close/>
              </a:path>
              <a:path w="4495800" h="2971800">
                <a:moveTo>
                  <a:pt x="2534189" y="12700"/>
                </a:moveTo>
                <a:lnTo>
                  <a:pt x="1961610" y="12700"/>
                </a:lnTo>
                <a:lnTo>
                  <a:pt x="1905579" y="25400"/>
                </a:lnTo>
                <a:lnTo>
                  <a:pt x="2590220" y="25400"/>
                </a:lnTo>
                <a:lnTo>
                  <a:pt x="2534189" y="12700"/>
                </a:lnTo>
                <a:close/>
              </a:path>
              <a:path w="4495800" h="2971800">
                <a:moveTo>
                  <a:pt x="2247900" y="0"/>
                </a:moveTo>
                <a:lnTo>
                  <a:pt x="2189883" y="12700"/>
                </a:lnTo>
                <a:lnTo>
                  <a:pt x="2305916" y="12700"/>
                </a:lnTo>
                <a:lnTo>
                  <a:pt x="2247900" y="0"/>
                </a:lnTo>
                <a:close/>
              </a:path>
            </a:pathLst>
          </a:custGeom>
          <a:solidFill>
            <a:schemeClr val="accent2">
              <a:alpha val="47842"/>
            </a:scheme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7"/>
          <p:cNvSpPr/>
          <p:nvPr/>
        </p:nvSpPr>
        <p:spPr>
          <a:xfrm>
            <a:off x="533400" y="3200400"/>
            <a:ext cx="4495800" cy="2971800"/>
          </a:xfrm>
          <a:custGeom>
            <a:avLst/>
            <a:gdLst/>
            <a:ahLst/>
            <a:cxnLst/>
            <a:rect l="l" t="t" r="r" b="b"/>
            <a:pathLst>
              <a:path w="4495800" h="2971800">
                <a:moveTo>
                  <a:pt x="0" y="1485900"/>
                </a:moveTo>
                <a:lnTo>
                  <a:pt x="734" y="1447546"/>
                </a:lnTo>
                <a:lnTo>
                  <a:pt x="2925" y="1409432"/>
                </a:lnTo>
                <a:lnTo>
                  <a:pt x="11606" y="1333969"/>
                </a:lnTo>
                <a:lnTo>
                  <a:pt x="25902" y="1259604"/>
                </a:lnTo>
                <a:lnTo>
                  <a:pt x="45671" y="1186429"/>
                </a:lnTo>
                <a:lnTo>
                  <a:pt x="70773" y="1114539"/>
                </a:lnTo>
                <a:lnTo>
                  <a:pt x="85279" y="1079104"/>
                </a:lnTo>
                <a:lnTo>
                  <a:pt x="101065" y="1044026"/>
                </a:lnTo>
                <a:lnTo>
                  <a:pt x="118114" y="1009315"/>
                </a:lnTo>
                <a:lnTo>
                  <a:pt x="136408" y="974984"/>
                </a:lnTo>
                <a:lnTo>
                  <a:pt x="155928" y="941043"/>
                </a:lnTo>
                <a:lnTo>
                  <a:pt x="176658" y="907506"/>
                </a:lnTo>
                <a:lnTo>
                  <a:pt x="198580" y="874383"/>
                </a:lnTo>
                <a:lnTo>
                  <a:pt x="221676" y="841686"/>
                </a:lnTo>
                <a:lnTo>
                  <a:pt x="245929" y="809426"/>
                </a:lnTo>
                <a:lnTo>
                  <a:pt x="271320" y="777616"/>
                </a:lnTo>
                <a:lnTo>
                  <a:pt x="297833" y="746267"/>
                </a:lnTo>
                <a:lnTo>
                  <a:pt x="325449" y="715391"/>
                </a:lnTo>
                <a:lnTo>
                  <a:pt x="354150" y="684999"/>
                </a:lnTo>
                <a:lnTo>
                  <a:pt x="383920" y="655104"/>
                </a:lnTo>
                <a:lnTo>
                  <a:pt x="414741" y="625716"/>
                </a:lnTo>
                <a:lnTo>
                  <a:pt x="446594" y="596847"/>
                </a:lnTo>
                <a:lnTo>
                  <a:pt x="479463" y="568510"/>
                </a:lnTo>
                <a:lnTo>
                  <a:pt x="513329" y="540715"/>
                </a:lnTo>
                <a:lnTo>
                  <a:pt x="548175" y="513475"/>
                </a:lnTo>
                <a:lnTo>
                  <a:pt x="583983" y="486800"/>
                </a:lnTo>
                <a:lnTo>
                  <a:pt x="620735" y="460704"/>
                </a:lnTo>
                <a:lnTo>
                  <a:pt x="658415" y="435197"/>
                </a:lnTo>
                <a:lnTo>
                  <a:pt x="697004" y="410291"/>
                </a:lnTo>
                <a:lnTo>
                  <a:pt x="736484" y="385997"/>
                </a:lnTo>
                <a:lnTo>
                  <a:pt x="776839" y="362329"/>
                </a:lnTo>
                <a:lnTo>
                  <a:pt x="818050" y="339296"/>
                </a:lnTo>
                <a:lnTo>
                  <a:pt x="860099" y="316911"/>
                </a:lnTo>
                <a:lnTo>
                  <a:pt x="902969" y="295185"/>
                </a:lnTo>
                <a:lnTo>
                  <a:pt x="946643" y="274131"/>
                </a:lnTo>
                <a:lnTo>
                  <a:pt x="991102" y="253759"/>
                </a:lnTo>
                <a:lnTo>
                  <a:pt x="1036329" y="234082"/>
                </a:lnTo>
                <a:lnTo>
                  <a:pt x="1082306" y="215110"/>
                </a:lnTo>
                <a:lnTo>
                  <a:pt x="1129017" y="196857"/>
                </a:lnTo>
                <a:lnTo>
                  <a:pt x="1176442" y="179333"/>
                </a:lnTo>
                <a:lnTo>
                  <a:pt x="1224564" y="162550"/>
                </a:lnTo>
                <a:lnTo>
                  <a:pt x="1273366" y="146520"/>
                </a:lnTo>
                <a:lnTo>
                  <a:pt x="1322830" y="131254"/>
                </a:lnTo>
                <a:lnTo>
                  <a:pt x="1372939" y="116764"/>
                </a:lnTo>
                <a:lnTo>
                  <a:pt x="1423674" y="103062"/>
                </a:lnTo>
                <a:lnTo>
                  <a:pt x="1475018" y="90160"/>
                </a:lnTo>
                <a:lnTo>
                  <a:pt x="1526954" y="78068"/>
                </a:lnTo>
                <a:lnTo>
                  <a:pt x="1579464" y="66800"/>
                </a:lnTo>
                <a:lnTo>
                  <a:pt x="1632529" y="56366"/>
                </a:lnTo>
                <a:lnTo>
                  <a:pt x="1686133" y="46777"/>
                </a:lnTo>
                <a:lnTo>
                  <a:pt x="1740258" y="38047"/>
                </a:lnTo>
                <a:lnTo>
                  <a:pt x="1794885" y="30186"/>
                </a:lnTo>
                <a:lnTo>
                  <a:pt x="1849998" y="23207"/>
                </a:lnTo>
                <a:lnTo>
                  <a:pt x="1905579" y="17120"/>
                </a:lnTo>
                <a:lnTo>
                  <a:pt x="1961610" y="11937"/>
                </a:lnTo>
                <a:lnTo>
                  <a:pt x="2018074" y="7671"/>
                </a:lnTo>
                <a:lnTo>
                  <a:pt x="2074952" y="4332"/>
                </a:lnTo>
                <a:lnTo>
                  <a:pt x="2132228" y="1933"/>
                </a:lnTo>
                <a:lnTo>
                  <a:pt x="2189883" y="485"/>
                </a:lnTo>
                <a:lnTo>
                  <a:pt x="2247900" y="0"/>
                </a:lnTo>
                <a:lnTo>
                  <a:pt x="2305916" y="485"/>
                </a:lnTo>
                <a:lnTo>
                  <a:pt x="2363571" y="1933"/>
                </a:lnTo>
                <a:lnTo>
                  <a:pt x="2420847" y="4332"/>
                </a:lnTo>
                <a:lnTo>
                  <a:pt x="2477725" y="7671"/>
                </a:lnTo>
                <a:lnTo>
                  <a:pt x="2534189" y="11937"/>
                </a:lnTo>
                <a:lnTo>
                  <a:pt x="2590220" y="17120"/>
                </a:lnTo>
                <a:lnTo>
                  <a:pt x="2645801" y="23207"/>
                </a:lnTo>
                <a:lnTo>
                  <a:pt x="2700914" y="30186"/>
                </a:lnTo>
                <a:lnTo>
                  <a:pt x="2755541" y="38047"/>
                </a:lnTo>
                <a:lnTo>
                  <a:pt x="2809666" y="46777"/>
                </a:lnTo>
                <a:lnTo>
                  <a:pt x="2863270" y="56366"/>
                </a:lnTo>
                <a:lnTo>
                  <a:pt x="2916335" y="66800"/>
                </a:lnTo>
                <a:lnTo>
                  <a:pt x="2968845" y="78068"/>
                </a:lnTo>
                <a:lnTo>
                  <a:pt x="3020781" y="90160"/>
                </a:lnTo>
                <a:lnTo>
                  <a:pt x="3072125" y="103062"/>
                </a:lnTo>
                <a:lnTo>
                  <a:pt x="3122860" y="116764"/>
                </a:lnTo>
                <a:lnTo>
                  <a:pt x="3172969" y="131254"/>
                </a:lnTo>
                <a:lnTo>
                  <a:pt x="3222433" y="146520"/>
                </a:lnTo>
                <a:lnTo>
                  <a:pt x="3271235" y="162550"/>
                </a:lnTo>
                <a:lnTo>
                  <a:pt x="3319357" y="179333"/>
                </a:lnTo>
                <a:lnTo>
                  <a:pt x="3366782" y="196857"/>
                </a:lnTo>
                <a:lnTo>
                  <a:pt x="3413493" y="215110"/>
                </a:lnTo>
                <a:lnTo>
                  <a:pt x="3459470" y="234082"/>
                </a:lnTo>
                <a:lnTo>
                  <a:pt x="3504697" y="253759"/>
                </a:lnTo>
                <a:lnTo>
                  <a:pt x="3549156" y="274131"/>
                </a:lnTo>
                <a:lnTo>
                  <a:pt x="3592830" y="295185"/>
                </a:lnTo>
                <a:lnTo>
                  <a:pt x="3635700" y="316911"/>
                </a:lnTo>
                <a:lnTo>
                  <a:pt x="3677749" y="339296"/>
                </a:lnTo>
                <a:lnTo>
                  <a:pt x="3718960" y="362329"/>
                </a:lnTo>
                <a:lnTo>
                  <a:pt x="3759315" y="385997"/>
                </a:lnTo>
                <a:lnTo>
                  <a:pt x="3798795" y="410291"/>
                </a:lnTo>
                <a:lnTo>
                  <a:pt x="3837384" y="435197"/>
                </a:lnTo>
                <a:lnTo>
                  <a:pt x="3875064" y="460704"/>
                </a:lnTo>
                <a:lnTo>
                  <a:pt x="3911816" y="486800"/>
                </a:lnTo>
                <a:lnTo>
                  <a:pt x="3947624" y="513475"/>
                </a:lnTo>
                <a:lnTo>
                  <a:pt x="3982470" y="540715"/>
                </a:lnTo>
                <a:lnTo>
                  <a:pt x="4016336" y="568510"/>
                </a:lnTo>
                <a:lnTo>
                  <a:pt x="4049205" y="596847"/>
                </a:lnTo>
                <a:lnTo>
                  <a:pt x="4081058" y="625716"/>
                </a:lnTo>
                <a:lnTo>
                  <a:pt x="4111879" y="655104"/>
                </a:lnTo>
                <a:lnTo>
                  <a:pt x="4141649" y="684999"/>
                </a:lnTo>
                <a:lnTo>
                  <a:pt x="4170350" y="715391"/>
                </a:lnTo>
                <a:lnTo>
                  <a:pt x="4197966" y="746267"/>
                </a:lnTo>
                <a:lnTo>
                  <a:pt x="4224479" y="777616"/>
                </a:lnTo>
                <a:lnTo>
                  <a:pt x="4249870" y="809426"/>
                </a:lnTo>
                <a:lnTo>
                  <a:pt x="4274123" y="841686"/>
                </a:lnTo>
                <a:lnTo>
                  <a:pt x="4297219" y="874383"/>
                </a:lnTo>
                <a:lnTo>
                  <a:pt x="4319141" y="907506"/>
                </a:lnTo>
                <a:lnTo>
                  <a:pt x="4339871" y="941043"/>
                </a:lnTo>
                <a:lnTo>
                  <a:pt x="4359391" y="974984"/>
                </a:lnTo>
                <a:lnTo>
                  <a:pt x="4377685" y="1009315"/>
                </a:lnTo>
                <a:lnTo>
                  <a:pt x="4394734" y="1044026"/>
                </a:lnTo>
                <a:lnTo>
                  <a:pt x="4410520" y="1079104"/>
                </a:lnTo>
                <a:lnTo>
                  <a:pt x="4425026" y="1114539"/>
                </a:lnTo>
                <a:lnTo>
                  <a:pt x="4438235" y="1150317"/>
                </a:lnTo>
                <a:lnTo>
                  <a:pt x="4460688" y="1222862"/>
                </a:lnTo>
                <a:lnTo>
                  <a:pt x="4477738" y="1296643"/>
                </a:lnTo>
                <a:lnTo>
                  <a:pt x="4489244" y="1371569"/>
                </a:lnTo>
                <a:lnTo>
                  <a:pt x="4495065" y="1447546"/>
                </a:lnTo>
                <a:lnTo>
                  <a:pt x="4495800" y="1485900"/>
                </a:lnTo>
                <a:lnTo>
                  <a:pt x="4495065" y="1524253"/>
                </a:lnTo>
                <a:lnTo>
                  <a:pt x="4492874" y="1562367"/>
                </a:lnTo>
                <a:lnTo>
                  <a:pt x="4484193" y="1637830"/>
                </a:lnTo>
                <a:lnTo>
                  <a:pt x="4469897" y="1712195"/>
                </a:lnTo>
                <a:lnTo>
                  <a:pt x="4450128" y="1785370"/>
                </a:lnTo>
                <a:lnTo>
                  <a:pt x="4425026" y="1857260"/>
                </a:lnTo>
                <a:lnTo>
                  <a:pt x="4410520" y="1892695"/>
                </a:lnTo>
                <a:lnTo>
                  <a:pt x="4394734" y="1927773"/>
                </a:lnTo>
                <a:lnTo>
                  <a:pt x="4377685" y="1962484"/>
                </a:lnTo>
                <a:lnTo>
                  <a:pt x="4359391" y="1996815"/>
                </a:lnTo>
                <a:lnTo>
                  <a:pt x="4339871" y="2030756"/>
                </a:lnTo>
                <a:lnTo>
                  <a:pt x="4319141" y="2064293"/>
                </a:lnTo>
                <a:lnTo>
                  <a:pt x="4297219" y="2097416"/>
                </a:lnTo>
                <a:lnTo>
                  <a:pt x="4274123" y="2130113"/>
                </a:lnTo>
                <a:lnTo>
                  <a:pt x="4249870" y="2162373"/>
                </a:lnTo>
                <a:lnTo>
                  <a:pt x="4224479" y="2194183"/>
                </a:lnTo>
                <a:lnTo>
                  <a:pt x="4197966" y="2225532"/>
                </a:lnTo>
                <a:lnTo>
                  <a:pt x="4170350" y="2256408"/>
                </a:lnTo>
                <a:lnTo>
                  <a:pt x="4141649" y="2286800"/>
                </a:lnTo>
                <a:lnTo>
                  <a:pt x="4111879" y="2316695"/>
                </a:lnTo>
                <a:lnTo>
                  <a:pt x="4081058" y="2346083"/>
                </a:lnTo>
                <a:lnTo>
                  <a:pt x="4049205" y="2374952"/>
                </a:lnTo>
                <a:lnTo>
                  <a:pt x="4016336" y="2403289"/>
                </a:lnTo>
                <a:lnTo>
                  <a:pt x="3982470" y="2431084"/>
                </a:lnTo>
                <a:lnTo>
                  <a:pt x="3947624" y="2458324"/>
                </a:lnTo>
                <a:lnTo>
                  <a:pt x="3911816" y="2484999"/>
                </a:lnTo>
                <a:lnTo>
                  <a:pt x="3875064" y="2511095"/>
                </a:lnTo>
                <a:lnTo>
                  <a:pt x="3837384" y="2536602"/>
                </a:lnTo>
                <a:lnTo>
                  <a:pt x="3798795" y="2561508"/>
                </a:lnTo>
                <a:lnTo>
                  <a:pt x="3759315" y="2585802"/>
                </a:lnTo>
                <a:lnTo>
                  <a:pt x="3718960" y="2609470"/>
                </a:lnTo>
                <a:lnTo>
                  <a:pt x="3677749" y="2632503"/>
                </a:lnTo>
                <a:lnTo>
                  <a:pt x="3635700" y="2654888"/>
                </a:lnTo>
                <a:lnTo>
                  <a:pt x="3592830" y="2676614"/>
                </a:lnTo>
                <a:lnTo>
                  <a:pt x="3549156" y="2697668"/>
                </a:lnTo>
                <a:lnTo>
                  <a:pt x="3504697" y="2718040"/>
                </a:lnTo>
                <a:lnTo>
                  <a:pt x="3459470" y="2737717"/>
                </a:lnTo>
                <a:lnTo>
                  <a:pt x="3413493" y="2756689"/>
                </a:lnTo>
                <a:lnTo>
                  <a:pt x="3366782" y="2774942"/>
                </a:lnTo>
                <a:lnTo>
                  <a:pt x="3319357" y="2792466"/>
                </a:lnTo>
                <a:lnTo>
                  <a:pt x="3271235" y="2809249"/>
                </a:lnTo>
                <a:lnTo>
                  <a:pt x="3222433" y="2825279"/>
                </a:lnTo>
                <a:lnTo>
                  <a:pt x="3172969" y="2840545"/>
                </a:lnTo>
                <a:lnTo>
                  <a:pt x="3122860" y="2855035"/>
                </a:lnTo>
                <a:lnTo>
                  <a:pt x="3072125" y="2868737"/>
                </a:lnTo>
                <a:lnTo>
                  <a:pt x="3020781" y="2881639"/>
                </a:lnTo>
                <a:lnTo>
                  <a:pt x="2968845" y="2893731"/>
                </a:lnTo>
                <a:lnTo>
                  <a:pt x="2916335" y="2904999"/>
                </a:lnTo>
                <a:lnTo>
                  <a:pt x="2863270" y="2915433"/>
                </a:lnTo>
                <a:lnTo>
                  <a:pt x="2809666" y="2925022"/>
                </a:lnTo>
                <a:lnTo>
                  <a:pt x="2755541" y="2933752"/>
                </a:lnTo>
                <a:lnTo>
                  <a:pt x="2700914" y="2941613"/>
                </a:lnTo>
                <a:lnTo>
                  <a:pt x="2645801" y="2948592"/>
                </a:lnTo>
                <a:lnTo>
                  <a:pt x="2590220" y="2954679"/>
                </a:lnTo>
                <a:lnTo>
                  <a:pt x="2534189" y="2959862"/>
                </a:lnTo>
                <a:lnTo>
                  <a:pt x="2477725" y="2964128"/>
                </a:lnTo>
                <a:lnTo>
                  <a:pt x="2420847" y="2967467"/>
                </a:lnTo>
                <a:lnTo>
                  <a:pt x="2363571" y="2969866"/>
                </a:lnTo>
                <a:lnTo>
                  <a:pt x="2305916" y="2971314"/>
                </a:lnTo>
                <a:lnTo>
                  <a:pt x="2247900" y="2971800"/>
                </a:lnTo>
                <a:lnTo>
                  <a:pt x="2189883" y="2971314"/>
                </a:lnTo>
                <a:lnTo>
                  <a:pt x="2132228" y="2969866"/>
                </a:lnTo>
                <a:lnTo>
                  <a:pt x="2074952" y="2967467"/>
                </a:lnTo>
                <a:lnTo>
                  <a:pt x="2018074" y="2964128"/>
                </a:lnTo>
                <a:lnTo>
                  <a:pt x="1961610" y="2959862"/>
                </a:lnTo>
                <a:lnTo>
                  <a:pt x="1905579" y="2954679"/>
                </a:lnTo>
                <a:lnTo>
                  <a:pt x="1849998" y="2948592"/>
                </a:lnTo>
                <a:lnTo>
                  <a:pt x="1794885" y="2941613"/>
                </a:lnTo>
                <a:lnTo>
                  <a:pt x="1740258" y="2933752"/>
                </a:lnTo>
                <a:lnTo>
                  <a:pt x="1686133" y="2925022"/>
                </a:lnTo>
                <a:lnTo>
                  <a:pt x="1632529" y="2915433"/>
                </a:lnTo>
                <a:lnTo>
                  <a:pt x="1579464" y="2904999"/>
                </a:lnTo>
                <a:lnTo>
                  <a:pt x="1526954" y="2893731"/>
                </a:lnTo>
                <a:lnTo>
                  <a:pt x="1475018" y="2881639"/>
                </a:lnTo>
                <a:lnTo>
                  <a:pt x="1423674" y="2868737"/>
                </a:lnTo>
                <a:lnTo>
                  <a:pt x="1372939" y="2855035"/>
                </a:lnTo>
                <a:lnTo>
                  <a:pt x="1322830" y="2840545"/>
                </a:lnTo>
                <a:lnTo>
                  <a:pt x="1273366" y="2825279"/>
                </a:lnTo>
                <a:lnTo>
                  <a:pt x="1224564" y="2809249"/>
                </a:lnTo>
                <a:lnTo>
                  <a:pt x="1176442" y="2792466"/>
                </a:lnTo>
                <a:lnTo>
                  <a:pt x="1129017" y="2774942"/>
                </a:lnTo>
                <a:lnTo>
                  <a:pt x="1082306" y="2756689"/>
                </a:lnTo>
                <a:lnTo>
                  <a:pt x="1036329" y="2737717"/>
                </a:lnTo>
                <a:lnTo>
                  <a:pt x="991102" y="2718040"/>
                </a:lnTo>
                <a:lnTo>
                  <a:pt x="946643" y="2697668"/>
                </a:lnTo>
                <a:lnTo>
                  <a:pt x="902969" y="2676614"/>
                </a:lnTo>
                <a:lnTo>
                  <a:pt x="860099" y="2654888"/>
                </a:lnTo>
                <a:lnTo>
                  <a:pt x="818050" y="2632503"/>
                </a:lnTo>
                <a:lnTo>
                  <a:pt x="776839" y="2609470"/>
                </a:lnTo>
                <a:lnTo>
                  <a:pt x="736484" y="2585802"/>
                </a:lnTo>
                <a:lnTo>
                  <a:pt x="697004" y="2561508"/>
                </a:lnTo>
                <a:lnTo>
                  <a:pt x="658415" y="2536602"/>
                </a:lnTo>
                <a:lnTo>
                  <a:pt x="620735" y="2511095"/>
                </a:lnTo>
                <a:lnTo>
                  <a:pt x="583983" y="2484999"/>
                </a:lnTo>
                <a:lnTo>
                  <a:pt x="548175" y="2458324"/>
                </a:lnTo>
                <a:lnTo>
                  <a:pt x="513329" y="2431084"/>
                </a:lnTo>
                <a:lnTo>
                  <a:pt x="479463" y="2403289"/>
                </a:lnTo>
                <a:lnTo>
                  <a:pt x="446594" y="2374952"/>
                </a:lnTo>
                <a:lnTo>
                  <a:pt x="414741" y="2346083"/>
                </a:lnTo>
                <a:lnTo>
                  <a:pt x="383920" y="2316695"/>
                </a:lnTo>
                <a:lnTo>
                  <a:pt x="354150" y="2286800"/>
                </a:lnTo>
                <a:lnTo>
                  <a:pt x="325449" y="2256408"/>
                </a:lnTo>
                <a:lnTo>
                  <a:pt x="297833" y="2225532"/>
                </a:lnTo>
                <a:lnTo>
                  <a:pt x="271320" y="2194183"/>
                </a:lnTo>
                <a:lnTo>
                  <a:pt x="245929" y="2162373"/>
                </a:lnTo>
                <a:lnTo>
                  <a:pt x="221676" y="2130113"/>
                </a:lnTo>
                <a:lnTo>
                  <a:pt x="198580" y="2097416"/>
                </a:lnTo>
                <a:lnTo>
                  <a:pt x="176658" y="2064293"/>
                </a:lnTo>
                <a:lnTo>
                  <a:pt x="155928" y="2030756"/>
                </a:lnTo>
                <a:lnTo>
                  <a:pt x="136408" y="1996815"/>
                </a:lnTo>
                <a:lnTo>
                  <a:pt x="118114" y="1962484"/>
                </a:lnTo>
                <a:lnTo>
                  <a:pt x="101065" y="1927773"/>
                </a:lnTo>
                <a:lnTo>
                  <a:pt x="85279" y="1892695"/>
                </a:lnTo>
                <a:lnTo>
                  <a:pt x="70773" y="1857260"/>
                </a:lnTo>
                <a:lnTo>
                  <a:pt x="57564" y="1821482"/>
                </a:lnTo>
                <a:lnTo>
                  <a:pt x="35111" y="1748937"/>
                </a:lnTo>
                <a:lnTo>
                  <a:pt x="18061" y="1675156"/>
                </a:lnTo>
                <a:lnTo>
                  <a:pt x="6555" y="1600230"/>
                </a:lnTo>
                <a:lnTo>
                  <a:pt x="734" y="1524253"/>
                </a:lnTo>
                <a:lnTo>
                  <a:pt x="0" y="14859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Good Selection of Controls</a:t>
            </a:r>
          </a:p>
        </p:txBody>
      </p:sp>
      <p:sp>
        <p:nvSpPr>
          <p:cNvPr id="9" name="object 9"/>
          <p:cNvSpPr/>
          <p:nvPr/>
        </p:nvSpPr>
        <p:spPr>
          <a:xfrm>
            <a:off x="5867400" y="4267136"/>
            <a:ext cx="2647950" cy="13954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373876" y="312420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142875"/>
                </a:moveTo>
                <a:lnTo>
                  <a:pt x="7275" y="97731"/>
                </a:lnTo>
                <a:lnTo>
                  <a:pt x="27541" y="58512"/>
                </a:lnTo>
                <a:lnTo>
                  <a:pt x="58457" y="27578"/>
                </a:lnTo>
                <a:lnTo>
                  <a:pt x="97682" y="7287"/>
                </a:lnTo>
                <a:lnTo>
                  <a:pt x="142875" y="0"/>
                </a:lnTo>
                <a:lnTo>
                  <a:pt x="188018" y="7287"/>
                </a:lnTo>
                <a:lnTo>
                  <a:pt x="227237" y="27578"/>
                </a:lnTo>
                <a:lnTo>
                  <a:pt x="258171" y="58512"/>
                </a:lnTo>
                <a:lnTo>
                  <a:pt x="278462" y="97731"/>
                </a:lnTo>
                <a:lnTo>
                  <a:pt x="285750" y="142875"/>
                </a:lnTo>
                <a:lnTo>
                  <a:pt x="278462" y="188018"/>
                </a:lnTo>
                <a:lnTo>
                  <a:pt x="258171" y="227237"/>
                </a:lnTo>
                <a:lnTo>
                  <a:pt x="227237" y="258171"/>
                </a:lnTo>
                <a:lnTo>
                  <a:pt x="188018" y="278462"/>
                </a:lnTo>
                <a:lnTo>
                  <a:pt x="142875" y="285750"/>
                </a:lnTo>
                <a:lnTo>
                  <a:pt x="97682" y="278462"/>
                </a:lnTo>
                <a:lnTo>
                  <a:pt x="58457" y="258171"/>
                </a:lnTo>
                <a:lnTo>
                  <a:pt x="27541" y="227237"/>
                </a:lnTo>
                <a:lnTo>
                  <a:pt x="7275" y="188018"/>
                </a:lnTo>
                <a:lnTo>
                  <a:pt x="0" y="1428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496050" y="3425825"/>
            <a:ext cx="0" cy="530225"/>
          </a:xfrm>
          <a:custGeom>
            <a:avLst/>
            <a:gdLst/>
            <a:ahLst/>
            <a:cxnLst/>
            <a:rect l="l" t="t" r="r" b="b"/>
            <a:pathLst>
              <a:path h="530225">
                <a:moveTo>
                  <a:pt x="0" y="0"/>
                </a:moveTo>
                <a:lnTo>
                  <a:pt x="0" y="53022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513576" y="3532251"/>
            <a:ext cx="163830" cy="122555"/>
          </a:xfrm>
          <a:custGeom>
            <a:avLst/>
            <a:gdLst/>
            <a:ahLst/>
            <a:cxnLst/>
            <a:rect l="l" t="t" r="r" b="b"/>
            <a:pathLst>
              <a:path w="163829" h="122554">
                <a:moveTo>
                  <a:pt x="0" y="122174"/>
                </a:moveTo>
                <a:lnTo>
                  <a:pt x="163449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272276" y="3451225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203200" y="203200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159500" y="3965575"/>
            <a:ext cx="327025" cy="285750"/>
          </a:xfrm>
          <a:custGeom>
            <a:avLst/>
            <a:gdLst/>
            <a:ahLst/>
            <a:cxnLst/>
            <a:rect l="l" t="t" r="r" b="b"/>
            <a:pathLst>
              <a:path w="327025" h="285750">
                <a:moveTo>
                  <a:pt x="327025" y="0"/>
                </a:moveTo>
                <a:lnTo>
                  <a:pt x="0" y="28575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504051" y="3968750"/>
            <a:ext cx="278130" cy="298450"/>
          </a:xfrm>
          <a:custGeom>
            <a:avLst/>
            <a:gdLst/>
            <a:ahLst/>
            <a:cxnLst/>
            <a:rect l="l" t="t" r="r" b="b"/>
            <a:pathLst>
              <a:path w="278129" h="298450">
                <a:moveTo>
                  <a:pt x="0" y="0"/>
                </a:moveTo>
                <a:lnTo>
                  <a:pt x="277749" y="29845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448425" y="3277361"/>
            <a:ext cx="120650" cy="94615"/>
          </a:xfrm>
          <a:custGeom>
            <a:avLst/>
            <a:gdLst/>
            <a:ahLst/>
            <a:cxnLst/>
            <a:rect l="l" t="t" r="r" b="b"/>
            <a:pathLst>
              <a:path w="120650" h="94614">
                <a:moveTo>
                  <a:pt x="120269" y="0"/>
                </a:moveTo>
                <a:lnTo>
                  <a:pt x="103260" y="33353"/>
                </a:lnTo>
                <a:lnTo>
                  <a:pt x="86502" y="62801"/>
                </a:lnTo>
                <a:lnTo>
                  <a:pt x="70244" y="84439"/>
                </a:lnTo>
                <a:lnTo>
                  <a:pt x="54736" y="94361"/>
                </a:lnTo>
                <a:lnTo>
                  <a:pt x="39004" y="86302"/>
                </a:lnTo>
                <a:lnTo>
                  <a:pt x="23272" y="64087"/>
                </a:lnTo>
                <a:lnTo>
                  <a:pt x="9588" y="38943"/>
                </a:lnTo>
                <a:lnTo>
                  <a:pt x="0" y="2209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416675" y="3190875"/>
            <a:ext cx="82550" cy="81280"/>
          </a:xfrm>
          <a:custGeom>
            <a:avLst/>
            <a:gdLst/>
            <a:ahLst/>
            <a:cxnLst/>
            <a:rect l="l" t="t" r="r" b="b"/>
            <a:pathLst>
              <a:path w="82550" h="81279">
                <a:moveTo>
                  <a:pt x="41275" y="0"/>
                </a:moveTo>
                <a:lnTo>
                  <a:pt x="25235" y="3186"/>
                </a:lnTo>
                <a:lnTo>
                  <a:pt x="12112" y="11874"/>
                </a:lnTo>
                <a:lnTo>
                  <a:pt x="3252" y="24753"/>
                </a:lnTo>
                <a:lnTo>
                  <a:pt x="0" y="40512"/>
                </a:lnTo>
                <a:lnTo>
                  <a:pt x="3252" y="56272"/>
                </a:lnTo>
                <a:lnTo>
                  <a:pt x="12112" y="69151"/>
                </a:lnTo>
                <a:lnTo>
                  <a:pt x="25235" y="77839"/>
                </a:lnTo>
                <a:lnTo>
                  <a:pt x="41275" y="81025"/>
                </a:lnTo>
                <a:lnTo>
                  <a:pt x="57314" y="77839"/>
                </a:lnTo>
                <a:lnTo>
                  <a:pt x="70437" y="69151"/>
                </a:lnTo>
                <a:lnTo>
                  <a:pt x="79297" y="56272"/>
                </a:lnTo>
                <a:lnTo>
                  <a:pt x="82550" y="40512"/>
                </a:lnTo>
                <a:lnTo>
                  <a:pt x="79297" y="24753"/>
                </a:lnTo>
                <a:lnTo>
                  <a:pt x="70437" y="11874"/>
                </a:lnTo>
                <a:lnTo>
                  <a:pt x="57314" y="3186"/>
                </a:lnTo>
                <a:lnTo>
                  <a:pt x="4127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416675" y="3190875"/>
            <a:ext cx="82550" cy="81280"/>
          </a:xfrm>
          <a:custGeom>
            <a:avLst/>
            <a:gdLst/>
            <a:ahLst/>
            <a:cxnLst/>
            <a:rect l="l" t="t" r="r" b="b"/>
            <a:pathLst>
              <a:path w="82550" h="81279">
                <a:moveTo>
                  <a:pt x="0" y="40512"/>
                </a:moveTo>
                <a:lnTo>
                  <a:pt x="3252" y="24753"/>
                </a:lnTo>
                <a:lnTo>
                  <a:pt x="12112" y="11874"/>
                </a:lnTo>
                <a:lnTo>
                  <a:pt x="25235" y="3186"/>
                </a:lnTo>
                <a:lnTo>
                  <a:pt x="41275" y="0"/>
                </a:lnTo>
                <a:lnTo>
                  <a:pt x="57314" y="3186"/>
                </a:lnTo>
                <a:lnTo>
                  <a:pt x="70437" y="11874"/>
                </a:lnTo>
                <a:lnTo>
                  <a:pt x="79297" y="24753"/>
                </a:lnTo>
                <a:lnTo>
                  <a:pt x="82550" y="40512"/>
                </a:lnTo>
                <a:lnTo>
                  <a:pt x="79297" y="56272"/>
                </a:lnTo>
                <a:lnTo>
                  <a:pt x="70437" y="69151"/>
                </a:lnTo>
                <a:lnTo>
                  <a:pt x="57314" y="77839"/>
                </a:lnTo>
                <a:lnTo>
                  <a:pt x="41275" y="81025"/>
                </a:lnTo>
                <a:lnTo>
                  <a:pt x="25235" y="77839"/>
                </a:lnTo>
                <a:lnTo>
                  <a:pt x="12112" y="69151"/>
                </a:lnTo>
                <a:lnTo>
                  <a:pt x="3252" y="56272"/>
                </a:lnTo>
                <a:lnTo>
                  <a:pt x="0" y="40512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highlight>
                <a:srgbClr val="FFFF00"/>
              </a:highlight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513576" y="3190875"/>
            <a:ext cx="82550" cy="81280"/>
          </a:xfrm>
          <a:custGeom>
            <a:avLst/>
            <a:gdLst/>
            <a:ahLst/>
            <a:cxnLst/>
            <a:rect l="l" t="t" r="r" b="b"/>
            <a:pathLst>
              <a:path w="82550" h="81279">
                <a:moveTo>
                  <a:pt x="41275" y="0"/>
                </a:moveTo>
                <a:lnTo>
                  <a:pt x="25181" y="3186"/>
                </a:lnTo>
                <a:lnTo>
                  <a:pt x="12065" y="11874"/>
                </a:lnTo>
                <a:lnTo>
                  <a:pt x="3234" y="24753"/>
                </a:lnTo>
                <a:lnTo>
                  <a:pt x="0" y="40512"/>
                </a:lnTo>
                <a:lnTo>
                  <a:pt x="3234" y="56272"/>
                </a:lnTo>
                <a:lnTo>
                  <a:pt x="12065" y="69151"/>
                </a:lnTo>
                <a:lnTo>
                  <a:pt x="25181" y="77839"/>
                </a:lnTo>
                <a:lnTo>
                  <a:pt x="41275" y="81025"/>
                </a:lnTo>
                <a:lnTo>
                  <a:pt x="57314" y="77839"/>
                </a:lnTo>
                <a:lnTo>
                  <a:pt x="70437" y="69151"/>
                </a:lnTo>
                <a:lnTo>
                  <a:pt x="79297" y="56272"/>
                </a:lnTo>
                <a:lnTo>
                  <a:pt x="82550" y="40512"/>
                </a:lnTo>
                <a:lnTo>
                  <a:pt x="79297" y="24753"/>
                </a:lnTo>
                <a:lnTo>
                  <a:pt x="70437" y="11874"/>
                </a:lnTo>
                <a:lnTo>
                  <a:pt x="57314" y="3186"/>
                </a:lnTo>
                <a:lnTo>
                  <a:pt x="41275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</p:spPr>
        <p:txBody>
          <a:bodyPr wrap="square" lIns="0" tIns="0" rIns="0" bIns="0" rtlCol="0"/>
          <a:lstStyle/>
          <a:p>
            <a:endParaRPr>
              <a:highlight>
                <a:srgbClr val="FFFF00"/>
              </a:highlight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513576" y="3190875"/>
            <a:ext cx="82550" cy="81280"/>
          </a:xfrm>
          <a:custGeom>
            <a:avLst/>
            <a:gdLst/>
            <a:ahLst/>
            <a:cxnLst/>
            <a:rect l="l" t="t" r="r" b="b"/>
            <a:pathLst>
              <a:path w="82550" h="81279">
                <a:moveTo>
                  <a:pt x="0" y="40512"/>
                </a:moveTo>
                <a:lnTo>
                  <a:pt x="3234" y="24753"/>
                </a:lnTo>
                <a:lnTo>
                  <a:pt x="12065" y="11874"/>
                </a:lnTo>
                <a:lnTo>
                  <a:pt x="25181" y="3186"/>
                </a:lnTo>
                <a:lnTo>
                  <a:pt x="41275" y="0"/>
                </a:lnTo>
                <a:lnTo>
                  <a:pt x="57314" y="3186"/>
                </a:lnTo>
                <a:lnTo>
                  <a:pt x="70437" y="11874"/>
                </a:lnTo>
                <a:lnTo>
                  <a:pt x="79297" y="24753"/>
                </a:lnTo>
                <a:lnTo>
                  <a:pt x="82550" y="40512"/>
                </a:lnTo>
                <a:lnTo>
                  <a:pt x="79297" y="56272"/>
                </a:lnTo>
                <a:lnTo>
                  <a:pt x="70437" y="69151"/>
                </a:lnTo>
                <a:lnTo>
                  <a:pt x="57314" y="77839"/>
                </a:lnTo>
                <a:lnTo>
                  <a:pt x="41275" y="81025"/>
                </a:lnTo>
                <a:lnTo>
                  <a:pt x="25181" y="77839"/>
                </a:lnTo>
                <a:lnTo>
                  <a:pt x="12065" y="69151"/>
                </a:lnTo>
                <a:lnTo>
                  <a:pt x="3234" y="56272"/>
                </a:lnTo>
                <a:lnTo>
                  <a:pt x="0" y="40512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464300" y="27432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8100" y="76200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6200" y="38100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</a:pathLst>
          </a:custGeom>
          <a:solidFill>
            <a:srgbClr val="AEBE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464300" y="27432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38100"/>
                </a:moveTo>
                <a:lnTo>
                  <a:pt x="2988" y="23252"/>
                </a:lnTo>
                <a:lnTo>
                  <a:pt x="11144" y="11144"/>
                </a:lnTo>
                <a:lnTo>
                  <a:pt x="23252" y="2988"/>
                </a:lnTo>
                <a:lnTo>
                  <a:pt x="38100" y="0"/>
                </a:lnTo>
                <a:lnTo>
                  <a:pt x="52947" y="2988"/>
                </a:lnTo>
                <a:lnTo>
                  <a:pt x="65055" y="11144"/>
                </a:lnTo>
                <a:lnTo>
                  <a:pt x="73211" y="23252"/>
                </a:lnTo>
                <a:lnTo>
                  <a:pt x="76200" y="38100"/>
                </a:lnTo>
                <a:lnTo>
                  <a:pt x="73211" y="52947"/>
                </a:lnTo>
                <a:lnTo>
                  <a:pt x="65055" y="65055"/>
                </a:lnTo>
                <a:lnTo>
                  <a:pt x="52947" y="73211"/>
                </a:lnTo>
                <a:lnTo>
                  <a:pt x="38100" y="76200"/>
                </a:lnTo>
                <a:lnTo>
                  <a:pt x="23252" y="73211"/>
                </a:lnTo>
                <a:lnTo>
                  <a:pt x="11144" y="65055"/>
                </a:lnTo>
                <a:lnTo>
                  <a:pt x="2988" y="52947"/>
                </a:lnTo>
                <a:lnTo>
                  <a:pt x="0" y="381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616700" y="29718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8100" y="76200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6200" y="38100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</a:pathLst>
          </a:custGeom>
          <a:solidFill>
            <a:srgbClr val="AEBE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616700" y="29718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38100"/>
                </a:moveTo>
                <a:lnTo>
                  <a:pt x="2988" y="23252"/>
                </a:lnTo>
                <a:lnTo>
                  <a:pt x="11144" y="11144"/>
                </a:lnTo>
                <a:lnTo>
                  <a:pt x="23252" y="2988"/>
                </a:lnTo>
                <a:lnTo>
                  <a:pt x="38100" y="0"/>
                </a:lnTo>
                <a:lnTo>
                  <a:pt x="52947" y="2988"/>
                </a:lnTo>
                <a:lnTo>
                  <a:pt x="65055" y="11144"/>
                </a:lnTo>
                <a:lnTo>
                  <a:pt x="73211" y="23252"/>
                </a:lnTo>
                <a:lnTo>
                  <a:pt x="76200" y="38100"/>
                </a:lnTo>
                <a:lnTo>
                  <a:pt x="73211" y="52947"/>
                </a:lnTo>
                <a:lnTo>
                  <a:pt x="65055" y="65055"/>
                </a:lnTo>
                <a:lnTo>
                  <a:pt x="52947" y="73211"/>
                </a:lnTo>
                <a:lnTo>
                  <a:pt x="38100" y="76200"/>
                </a:lnTo>
                <a:lnTo>
                  <a:pt x="23252" y="73211"/>
                </a:lnTo>
                <a:lnTo>
                  <a:pt x="11144" y="65055"/>
                </a:lnTo>
                <a:lnTo>
                  <a:pt x="2988" y="52947"/>
                </a:lnTo>
                <a:lnTo>
                  <a:pt x="0" y="381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311900" y="28194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8100" y="76200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6200" y="38100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</a:pathLst>
          </a:custGeom>
          <a:solidFill>
            <a:srgbClr val="AEBE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311900" y="28194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38100"/>
                </a:moveTo>
                <a:lnTo>
                  <a:pt x="2988" y="23252"/>
                </a:lnTo>
                <a:lnTo>
                  <a:pt x="11144" y="11144"/>
                </a:lnTo>
                <a:lnTo>
                  <a:pt x="23252" y="2988"/>
                </a:lnTo>
                <a:lnTo>
                  <a:pt x="38100" y="0"/>
                </a:lnTo>
                <a:lnTo>
                  <a:pt x="52947" y="2988"/>
                </a:lnTo>
                <a:lnTo>
                  <a:pt x="65055" y="11144"/>
                </a:lnTo>
                <a:lnTo>
                  <a:pt x="73211" y="23252"/>
                </a:lnTo>
                <a:lnTo>
                  <a:pt x="76200" y="38100"/>
                </a:lnTo>
                <a:lnTo>
                  <a:pt x="73211" y="52947"/>
                </a:lnTo>
                <a:lnTo>
                  <a:pt x="65055" y="65055"/>
                </a:lnTo>
                <a:lnTo>
                  <a:pt x="52947" y="73211"/>
                </a:lnTo>
                <a:lnTo>
                  <a:pt x="38100" y="76200"/>
                </a:lnTo>
                <a:lnTo>
                  <a:pt x="23252" y="73211"/>
                </a:lnTo>
                <a:lnTo>
                  <a:pt x="11144" y="65055"/>
                </a:lnTo>
                <a:lnTo>
                  <a:pt x="2988" y="52947"/>
                </a:lnTo>
                <a:lnTo>
                  <a:pt x="0" y="381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616700" y="28194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8100" y="76200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6200" y="38100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</a:pathLst>
          </a:custGeom>
          <a:solidFill>
            <a:srgbClr val="AEBE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616700" y="28194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38100"/>
                </a:moveTo>
                <a:lnTo>
                  <a:pt x="2988" y="23252"/>
                </a:lnTo>
                <a:lnTo>
                  <a:pt x="11144" y="11144"/>
                </a:lnTo>
                <a:lnTo>
                  <a:pt x="23252" y="2988"/>
                </a:lnTo>
                <a:lnTo>
                  <a:pt x="38100" y="0"/>
                </a:lnTo>
                <a:lnTo>
                  <a:pt x="52947" y="2988"/>
                </a:lnTo>
                <a:lnTo>
                  <a:pt x="65055" y="11144"/>
                </a:lnTo>
                <a:lnTo>
                  <a:pt x="73211" y="23252"/>
                </a:lnTo>
                <a:lnTo>
                  <a:pt x="76200" y="38100"/>
                </a:lnTo>
                <a:lnTo>
                  <a:pt x="73211" y="52947"/>
                </a:lnTo>
                <a:lnTo>
                  <a:pt x="65055" y="65055"/>
                </a:lnTo>
                <a:lnTo>
                  <a:pt x="52947" y="73211"/>
                </a:lnTo>
                <a:lnTo>
                  <a:pt x="38100" y="76200"/>
                </a:lnTo>
                <a:lnTo>
                  <a:pt x="23252" y="73211"/>
                </a:lnTo>
                <a:lnTo>
                  <a:pt x="11144" y="65055"/>
                </a:lnTo>
                <a:lnTo>
                  <a:pt x="2988" y="52947"/>
                </a:lnTo>
                <a:lnTo>
                  <a:pt x="0" y="381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464300" y="28956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8100" y="76200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6200" y="38100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</a:pathLst>
          </a:custGeom>
          <a:solidFill>
            <a:srgbClr val="AEBE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464300" y="28956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38100"/>
                </a:moveTo>
                <a:lnTo>
                  <a:pt x="2988" y="23252"/>
                </a:lnTo>
                <a:lnTo>
                  <a:pt x="11144" y="11144"/>
                </a:lnTo>
                <a:lnTo>
                  <a:pt x="23252" y="2988"/>
                </a:lnTo>
                <a:lnTo>
                  <a:pt x="38100" y="0"/>
                </a:lnTo>
                <a:lnTo>
                  <a:pt x="52947" y="2988"/>
                </a:lnTo>
                <a:lnTo>
                  <a:pt x="65055" y="11144"/>
                </a:lnTo>
                <a:lnTo>
                  <a:pt x="73211" y="23252"/>
                </a:lnTo>
                <a:lnTo>
                  <a:pt x="76200" y="38100"/>
                </a:lnTo>
                <a:lnTo>
                  <a:pt x="73211" y="52947"/>
                </a:lnTo>
                <a:lnTo>
                  <a:pt x="65055" y="65055"/>
                </a:lnTo>
                <a:lnTo>
                  <a:pt x="52947" y="73211"/>
                </a:lnTo>
                <a:lnTo>
                  <a:pt x="38100" y="76200"/>
                </a:lnTo>
                <a:lnTo>
                  <a:pt x="23252" y="73211"/>
                </a:lnTo>
                <a:lnTo>
                  <a:pt x="11144" y="65055"/>
                </a:lnTo>
                <a:lnTo>
                  <a:pt x="2988" y="52947"/>
                </a:lnTo>
                <a:lnTo>
                  <a:pt x="0" y="381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464300" y="29718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8100" y="76200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6200" y="38100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</a:pathLst>
          </a:custGeom>
          <a:solidFill>
            <a:srgbClr val="AEBE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464300" y="29718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38100"/>
                </a:moveTo>
                <a:lnTo>
                  <a:pt x="2988" y="23252"/>
                </a:lnTo>
                <a:lnTo>
                  <a:pt x="11144" y="11144"/>
                </a:lnTo>
                <a:lnTo>
                  <a:pt x="23252" y="2988"/>
                </a:lnTo>
                <a:lnTo>
                  <a:pt x="38100" y="0"/>
                </a:lnTo>
                <a:lnTo>
                  <a:pt x="52947" y="2988"/>
                </a:lnTo>
                <a:lnTo>
                  <a:pt x="65055" y="11144"/>
                </a:lnTo>
                <a:lnTo>
                  <a:pt x="73211" y="23252"/>
                </a:lnTo>
                <a:lnTo>
                  <a:pt x="76200" y="38100"/>
                </a:lnTo>
                <a:lnTo>
                  <a:pt x="73211" y="52947"/>
                </a:lnTo>
                <a:lnTo>
                  <a:pt x="65055" y="65055"/>
                </a:lnTo>
                <a:lnTo>
                  <a:pt x="52947" y="73211"/>
                </a:lnTo>
                <a:lnTo>
                  <a:pt x="38100" y="76200"/>
                </a:lnTo>
                <a:lnTo>
                  <a:pt x="23252" y="73211"/>
                </a:lnTo>
                <a:lnTo>
                  <a:pt x="11144" y="65055"/>
                </a:lnTo>
                <a:lnTo>
                  <a:pt x="2988" y="52947"/>
                </a:lnTo>
                <a:lnTo>
                  <a:pt x="0" y="381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311900" y="26670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8100" y="76200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6200" y="38100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</a:pathLst>
          </a:custGeom>
          <a:solidFill>
            <a:srgbClr val="AEBE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311900" y="26670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38100"/>
                </a:moveTo>
                <a:lnTo>
                  <a:pt x="2988" y="23252"/>
                </a:lnTo>
                <a:lnTo>
                  <a:pt x="11144" y="11144"/>
                </a:lnTo>
                <a:lnTo>
                  <a:pt x="23252" y="2988"/>
                </a:lnTo>
                <a:lnTo>
                  <a:pt x="38100" y="0"/>
                </a:lnTo>
                <a:lnTo>
                  <a:pt x="52947" y="2988"/>
                </a:lnTo>
                <a:lnTo>
                  <a:pt x="65055" y="11144"/>
                </a:lnTo>
                <a:lnTo>
                  <a:pt x="73211" y="23252"/>
                </a:lnTo>
                <a:lnTo>
                  <a:pt x="76200" y="38100"/>
                </a:lnTo>
                <a:lnTo>
                  <a:pt x="73211" y="52947"/>
                </a:lnTo>
                <a:lnTo>
                  <a:pt x="65055" y="65055"/>
                </a:lnTo>
                <a:lnTo>
                  <a:pt x="52947" y="73211"/>
                </a:lnTo>
                <a:lnTo>
                  <a:pt x="38100" y="76200"/>
                </a:lnTo>
                <a:lnTo>
                  <a:pt x="23252" y="73211"/>
                </a:lnTo>
                <a:lnTo>
                  <a:pt x="11144" y="65055"/>
                </a:lnTo>
                <a:lnTo>
                  <a:pt x="2988" y="52947"/>
                </a:lnTo>
                <a:lnTo>
                  <a:pt x="0" y="381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996176" y="304800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142875"/>
                </a:moveTo>
                <a:lnTo>
                  <a:pt x="7275" y="97731"/>
                </a:lnTo>
                <a:lnTo>
                  <a:pt x="27541" y="58512"/>
                </a:lnTo>
                <a:lnTo>
                  <a:pt x="58457" y="27578"/>
                </a:lnTo>
                <a:lnTo>
                  <a:pt x="97682" y="7287"/>
                </a:lnTo>
                <a:lnTo>
                  <a:pt x="142875" y="0"/>
                </a:lnTo>
                <a:lnTo>
                  <a:pt x="188018" y="7287"/>
                </a:lnTo>
                <a:lnTo>
                  <a:pt x="227237" y="27578"/>
                </a:lnTo>
                <a:lnTo>
                  <a:pt x="258171" y="58512"/>
                </a:lnTo>
                <a:lnTo>
                  <a:pt x="278462" y="97731"/>
                </a:lnTo>
                <a:lnTo>
                  <a:pt x="285750" y="142875"/>
                </a:lnTo>
                <a:lnTo>
                  <a:pt x="278462" y="188018"/>
                </a:lnTo>
                <a:lnTo>
                  <a:pt x="258171" y="227237"/>
                </a:lnTo>
                <a:lnTo>
                  <a:pt x="227237" y="258171"/>
                </a:lnTo>
                <a:lnTo>
                  <a:pt x="188018" y="278462"/>
                </a:lnTo>
                <a:lnTo>
                  <a:pt x="142875" y="285750"/>
                </a:lnTo>
                <a:lnTo>
                  <a:pt x="97682" y="278462"/>
                </a:lnTo>
                <a:lnTo>
                  <a:pt x="58457" y="258171"/>
                </a:lnTo>
                <a:lnTo>
                  <a:pt x="27541" y="227237"/>
                </a:lnTo>
                <a:lnTo>
                  <a:pt x="7275" y="188018"/>
                </a:lnTo>
                <a:lnTo>
                  <a:pt x="0" y="1428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7118350" y="3349625"/>
            <a:ext cx="0" cy="530225"/>
          </a:xfrm>
          <a:custGeom>
            <a:avLst/>
            <a:gdLst/>
            <a:ahLst/>
            <a:cxnLst/>
            <a:rect l="l" t="t" r="r" b="b"/>
            <a:pathLst>
              <a:path h="530225">
                <a:moveTo>
                  <a:pt x="0" y="0"/>
                </a:moveTo>
                <a:lnTo>
                  <a:pt x="0" y="53022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7135876" y="3456051"/>
            <a:ext cx="163830" cy="122555"/>
          </a:xfrm>
          <a:custGeom>
            <a:avLst/>
            <a:gdLst/>
            <a:ahLst/>
            <a:cxnLst/>
            <a:rect l="l" t="t" r="r" b="b"/>
            <a:pathLst>
              <a:path w="163829" h="122554">
                <a:moveTo>
                  <a:pt x="0" y="122174"/>
                </a:moveTo>
                <a:lnTo>
                  <a:pt x="163449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6894576" y="3375025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203200" y="203200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781800" y="3889375"/>
            <a:ext cx="327025" cy="285750"/>
          </a:xfrm>
          <a:custGeom>
            <a:avLst/>
            <a:gdLst/>
            <a:ahLst/>
            <a:cxnLst/>
            <a:rect l="l" t="t" r="r" b="b"/>
            <a:pathLst>
              <a:path w="327025" h="285750">
                <a:moveTo>
                  <a:pt x="327025" y="0"/>
                </a:moveTo>
                <a:lnTo>
                  <a:pt x="0" y="28575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7126351" y="3892550"/>
            <a:ext cx="278130" cy="298450"/>
          </a:xfrm>
          <a:custGeom>
            <a:avLst/>
            <a:gdLst/>
            <a:ahLst/>
            <a:cxnLst/>
            <a:rect l="l" t="t" r="r" b="b"/>
            <a:pathLst>
              <a:path w="278129" h="298450">
                <a:moveTo>
                  <a:pt x="0" y="0"/>
                </a:moveTo>
                <a:lnTo>
                  <a:pt x="277749" y="29845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7070725" y="3201161"/>
            <a:ext cx="120650" cy="94615"/>
          </a:xfrm>
          <a:custGeom>
            <a:avLst/>
            <a:gdLst/>
            <a:ahLst/>
            <a:cxnLst/>
            <a:rect l="l" t="t" r="r" b="b"/>
            <a:pathLst>
              <a:path w="120650" h="94614">
                <a:moveTo>
                  <a:pt x="120269" y="0"/>
                </a:moveTo>
                <a:lnTo>
                  <a:pt x="103260" y="33353"/>
                </a:lnTo>
                <a:lnTo>
                  <a:pt x="86502" y="62801"/>
                </a:lnTo>
                <a:lnTo>
                  <a:pt x="70244" y="84439"/>
                </a:lnTo>
                <a:lnTo>
                  <a:pt x="54736" y="94361"/>
                </a:lnTo>
                <a:lnTo>
                  <a:pt x="39004" y="86302"/>
                </a:lnTo>
                <a:lnTo>
                  <a:pt x="23272" y="64087"/>
                </a:lnTo>
                <a:lnTo>
                  <a:pt x="9588" y="38943"/>
                </a:lnTo>
                <a:lnTo>
                  <a:pt x="0" y="2209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7038975" y="3114675"/>
            <a:ext cx="82550" cy="81280"/>
          </a:xfrm>
          <a:custGeom>
            <a:avLst/>
            <a:gdLst/>
            <a:ahLst/>
            <a:cxnLst/>
            <a:rect l="l" t="t" r="r" b="b"/>
            <a:pathLst>
              <a:path w="82550" h="81280">
                <a:moveTo>
                  <a:pt x="41275" y="0"/>
                </a:moveTo>
                <a:lnTo>
                  <a:pt x="25235" y="3186"/>
                </a:lnTo>
                <a:lnTo>
                  <a:pt x="12112" y="11874"/>
                </a:lnTo>
                <a:lnTo>
                  <a:pt x="3252" y="24753"/>
                </a:lnTo>
                <a:lnTo>
                  <a:pt x="0" y="40512"/>
                </a:lnTo>
                <a:lnTo>
                  <a:pt x="3252" y="56272"/>
                </a:lnTo>
                <a:lnTo>
                  <a:pt x="12112" y="69151"/>
                </a:lnTo>
                <a:lnTo>
                  <a:pt x="25235" y="77839"/>
                </a:lnTo>
                <a:lnTo>
                  <a:pt x="41275" y="81025"/>
                </a:lnTo>
                <a:lnTo>
                  <a:pt x="57314" y="77839"/>
                </a:lnTo>
                <a:lnTo>
                  <a:pt x="70437" y="69151"/>
                </a:lnTo>
                <a:lnTo>
                  <a:pt x="79297" y="56272"/>
                </a:lnTo>
                <a:lnTo>
                  <a:pt x="82550" y="40512"/>
                </a:lnTo>
                <a:lnTo>
                  <a:pt x="79297" y="24753"/>
                </a:lnTo>
                <a:lnTo>
                  <a:pt x="70437" y="11874"/>
                </a:lnTo>
                <a:lnTo>
                  <a:pt x="57314" y="3186"/>
                </a:lnTo>
                <a:lnTo>
                  <a:pt x="41275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</p:spPr>
        <p:txBody>
          <a:bodyPr wrap="square" lIns="0" tIns="0" rIns="0" bIns="0" rtlCol="0"/>
          <a:lstStyle/>
          <a:p>
            <a:endParaRPr>
              <a:highlight>
                <a:srgbClr val="FFFF00"/>
              </a:highlight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7038975" y="3114675"/>
            <a:ext cx="82550" cy="81280"/>
          </a:xfrm>
          <a:custGeom>
            <a:avLst/>
            <a:gdLst/>
            <a:ahLst/>
            <a:cxnLst/>
            <a:rect l="l" t="t" r="r" b="b"/>
            <a:pathLst>
              <a:path w="82550" h="81280">
                <a:moveTo>
                  <a:pt x="0" y="40512"/>
                </a:moveTo>
                <a:lnTo>
                  <a:pt x="3252" y="24753"/>
                </a:lnTo>
                <a:lnTo>
                  <a:pt x="12112" y="11874"/>
                </a:lnTo>
                <a:lnTo>
                  <a:pt x="25235" y="3186"/>
                </a:lnTo>
                <a:lnTo>
                  <a:pt x="41275" y="0"/>
                </a:lnTo>
                <a:lnTo>
                  <a:pt x="57314" y="3186"/>
                </a:lnTo>
                <a:lnTo>
                  <a:pt x="70437" y="11874"/>
                </a:lnTo>
                <a:lnTo>
                  <a:pt x="79297" y="24753"/>
                </a:lnTo>
                <a:lnTo>
                  <a:pt x="82550" y="40512"/>
                </a:lnTo>
                <a:lnTo>
                  <a:pt x="79297" y="56272"/>
                </a:lnTo>
                <a:lnTo>
                  <a:pt x="70437" y="69151"/>
                </a:lnTo>
                <a:lnTo>
                  <a:pt x="57314" y="77839"/>
                </a:lnTo>
                <a:lnTo>
                  <a:pt x="41275" y="81025"/>
                </a:lnTo>
                <a:lnTo>
                  <a:pt x="25235" y="77839"/>
                </a:lnTo>
                <a:lnTo>
                  <a:pt x="12112" y="69151"/>
                </a:lnTo>
                <a:lnTo>
                  <a:pt x="3252" y="56272"/>
                </a:lnTo>
                <a:lnTo>
                  <a:pt x="0" y="40512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7135876" y="3114675"/>
            <a:ext cx="82550" cy="81280"/>
          </a:xfrm>
          <a:custGeom>
            <a:avLst/>
            <a:gdLst/>
            <a:ahLst/>
            <a:cxnLst/>
            <a:rect l="l" t="t" r="r" b="b"/>
            <a:pathLst>
              <a:path w="82550" h="81280">
                <a:moveTo>
                  <a:pt x="41275" y="0"/>
                </a:moveTo>
                <a:lnTo>
                  <a:pt x="25181" y="3186"/>
                </a:lnTo>
                <a:lnTo>
                  <a:pt x="12065" y="11874"/>
                </a:lnTo>
                <a:lnTo>
                  <a:pt x="3234" y="24753"/>
                </a:lnTo>
                <a:lnTo>
                  <a:pt x="0" y="40512"/>
                </a:lnTo>
                <a:lnTo>
                  <a:pt x="3234" y="56272"/>
                </a:lnTo>
                <a:lnTo>
                  <a:pt x="12065" y="69151"/>
                </a:lnTo>
                <a:lnTo>
                  <a:pt x="25181" y="77839"/>
                </a:lnTo>
                <a:lnTo>
                  <a:pt x="41275" y="81025"/>
                </a:lnTo>
                <a:lnTo>
                  <a:pt x="57314" y="77839"/>
                </a:lnTo>
                <a:lnTo>
                  <a:pt x="70437" y="69151"/>
                </a:lnTo>
                <a:lnTo>
                  <a:pt x="79297" y="56272"/>
                </a:lnTo>
                <a:lnTo>
                  <a:pt x="82550" y="40512"/>
                </a:lnTo>
                <a:lnTo>
                  <a:pt x="79297" y="24753"/>
                </a:lnTo>
                <a:lnTo>
                  <a:pt x="70437" y="11874"/>
                </a:lnTo>
                <a:lnTo>
                  <a:pt x="57314" y="3186"/>
                </a:lnTo>
                <a:lnTo>
                  <a:pt x="41275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</p:spPr>
        <p:txBody>
          <a:bodyPr wrap="square" lIns="0" tIns="0" rIns="0" bIns="0" rtlCol="0"/>
          <a:lstStyle/>
          <a:p>
            <a:endParaRPr>
              <a:highlight>
                <a:srgbClr val="FFFF00"/>
              </a:highlight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7135876" y="3114675"/>
            <a:ext cx="82550" cy="81280"/>
          </a:xfrm>
          <a:custGeom>
            <a:avLst/>
            <a:gdLst/>
            <a:ahLst/>
            <a:cxnLst/>
            <a:rect l="l" t="t" r="r" b="b"/>
            <a:pathLst>
              <a:path w="82550" h="81280">
                <a:moveTo>
                  <a:pt x="0" y="40512"/>
                </a:moveTo>
                <a:lnTo>
                  <a:pt x="3234" y="24753"/>
                </a:lnTo>
                <a:lnTo>
                  <a:pt x="12065" y="11874"/>
                </a:lnTo>
                <a:lnTo>
                  <a:pt x="25181" y="3186"/>
                </a:lnTo>
                <a:lnTo>
                  <a:pt x="41275" y="0"/>
                </a:lnTo>
                <a:lnTo>
                  <a:pt x="57314" y="3186"/>
                </a:lnTo>
                <a:lnTo>
                  <a:pt x="70437" y="11874"/>
                </a:lnTo>
                <a:lnTo>
                  <a:pt x="79297" y="24753"/>
                </a:lnTo>
                <a:lnTo>
                  <a:pt x="82550" y="40512"/>
                </a:lnTo>
                <a:lnTo>
                  <a:pt x="79297" y="56272"/>
                </a:lnTo>
                <a:lnTo>
                  <a:pt x="70437" y="69151"/>
                </a:lnTo>
                <a:lnTo>
                  <a:pt x="57314" y="77839"/>
                </a:lnTo>
                <a:lnTo>
                  <a:pt x="41275" y="81025"/>
                </a:lnTo>
                <a:lnTo>
                  <a:pt x="25181" y="77839"/>
                </a:lnTo>
                <a:lnTo>
                  <a:pt x="12065" y="69151"/>
                </a:lnTo>
                <a:lnTo>
                  <a:pt x="3234" y="56272"/>
                </a:lnTo>
                <a:lnTo>
                  <a:pt x="0" y="40512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7086600" y="24384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8100" y="76200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6200" y="38100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</a:pathLst>
          </a:custGeom>
          <a:solidFill>
            <a:srgbClr val="AEBE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7086600" y="24384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38100"/>
                </a:moveTo>
                <a:lnTo>
                  <a:pt x="2988" y="23252"/>
                </a:lnTo>
                <a:lnTo>
                  <a:pt x="11144" y="11144"/>
                </a:lnTo>
                <a:lnTo>
                  <a:pt x="23252" y="2988"/>
                </a:lnTo>
                <a:lnTo>
                  <a:pt x="38100" y="0"/>
                </a:lnTo>
                <a:lnTo>
                  <a:pt x="52947" y="2988"/>
                </a:lnTo>
                <a:lnTo>
                  <a:pt x="65055" y="11144"/>
                </a:lnTo>
                <a:lnTo>
                  <a:pt x="73211" y="23252"/>
                </a:lnTo>
                <a:lnTo>
                  <a:pt x="76200" y="38100"/>
                </a:lnTo>
                <a:lnTo>
                  <a:pt x="73211" y="52947"/>
                </a:lnTo>
                <a:lnTo>
                  <a:pt x="65055" y="65055"/>
                </a:lnTo>
                <a:lnTo>
                  <a:pt x="52947" y="73211"/>
                </a:lnTo>
                <a:lnTo>
                  <a:pt x="38100" y="76200"/>
                </a:lnTo>
                <a:lnTo>
                  <a:pt x="23252" y="73211"/>
                </a:lnTo>
                <a:lnTo>
                  <a:pt x="11144" y="65055"/>
                </a:lnTo>
                <a:lnTo>
                  <a:pt x="2988" y="52947"/>
                </a:lnTo>
                <a:lnTo>
                  <a:pt x="0" y="381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7239000" y="26670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8100" y="76200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6200" y="38100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</a:pathLst>
          </a:custGeom>
          <a:solidFill>
            <a:srgbClr val="AEBE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7239000" y="26670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38100"/>
                </a:moveTo>
                <a:lnTo>
                  <a:pt x="2988" y="23252"/>
                </a:lnTo>
                <a:lnTo>
                  <a:pt x="11144" y="11144"/>
                </a:lnTo>
                <a:lnTo>
                  <a:pt x="23252" y="2988"/>
                </a:lnTo>
                <a:lnTo>
                  <a:pt x="38100" y="0"/>
                </a:lnTo>
                <a:lnTo>
                  <a:pt x="52947" y="2988"/>
                </a:lnTo>
                <a:lnTo>
                  <a:pt x="65055" y="11144"/>
                </a:lnTo>
                <a:lnTo>
                  <a:pt x="73211" y="23252"/>
                </a:lnTo>
                <a:lnTo>
                  <a:pt x="76200" y="38100"/>
                </a:lnTo>
                <a:lnTo>
                  <a:pt x="73211" y="52947"/>
                </a:lnTo>
                <a:lnTo>
                  <a:pt x="65055" y="65055"/>
                </a:lnTo>
                <a:lnTo>
                  <a:pt x="52947" y="73211"/>
                </a:lnTo>
                <a:lnTo>
                  <a:pt x="38100" y="76200"/>
                </a:lnTo>
                <a:lnTo>
                  <a:pt x="23252" y="73211"/>
                </a:lnTo>
                <a:lnTo>
                  <a:pt x="11144" y="65055"/>
                </a:lnTo>
                <a:lnTo>
                  <a:pt x="2988" y="52947"/>
                </a:lnTo>
                <a:lnTo>
                  <a:pt x="0" y="381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6934200" y="25146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8100" y="76200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6200" y="38100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</a:pathLst>
          </a:custGeom>
          <a:solidFill>
            <a:srgbClr val="AEBE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6934200" y="25146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38100"/>
                </a:moveTo>
                <a:lnTo>
                  <a:pt x="2988" y="23252"/>
                </a:lnTo>
                <a:lnTo>
                  <a:pt x="11144" y="11144"/>
                </a:lnTo>
                <a:lnTo>
                  <a:pt x="23252" y="2988"/>
                </a:lnTo>
                <a:lnTo>
                  <a:pt x="38100" y="0"/>
                </a:lnTo>
                <a:lnTo>
                  <a:pt x="52947" y="2988"/>
                </a:lnTo>
                <a:lnTo>
                  <a:pt x="65055" y="11144"/>
                </a:lnTo>
                <a:lnTo>
                  <a:pt x="73211" y="23252"/>
                </a:lnTo>
                <a:lnTo>
                  <a:pt x="76200" y="38100"/>
                </a:lnTo>
                <a:lnTo>
                  <a:pt x="73211" y="52947"/>
                </a:lnTo>
                <a:lnTo>
                  <a:pt x="65055" y="65055"/>
                </a:lnTo>
                <a:lnTo>
                  <a:pt x="52947" y="73211"/>
                </a:lnTo>
                <a:lnTo>
                  <a:pt x="38100" y="76200"/>
                </a:lnTo>
                <a:lnTo>
                  <a:pt x="23252" y="73211"/>
                </a:lnTo>
                <a:lnTo>
                  <a:pt x="11144" y="65055"/>
                </a:lnTo>
                <a:lnTo>
                  <a:pt x="2988" y="52947"/>
                </a:lnTo>
                <a:lnTo>
                  <a:pt x="0" y="381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7239000" y="25146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8100" y="76200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6200" y="38100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</a:pathLst>
          </a:custGeom>
          <a:solidFill>
            <a:srgbClr val="AEBE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7239000" y="25146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38100"/>
                </a:moveTo>
                <a:lnTo>
                  <a:pt x="2988" y="23252"/>
                </a:lnTo>
                <a:lnTo>
                  <a:pt x="11144" y="11144"/>
                </a:lnTo>
                <a:lnTo>
                  <a:pt x="23252" y="2988"/>
                </a:lnTo>
                <a:lnTo>
                  <a:pt x="38100" y="0"/>
                </a:lnTo>
                <a:lnTo>
                  <a:pt x="52947" y="2988"/>
                </a:lnTo>
                <a:lnTo>
                  <a:pt x="65055" y="11144"/>
                </a:lnTo>
                <a:lnTo>
                  <a:pt x="73211" y="23252"/>
                </a:lnTo>
                <a:lnTo>
                  <a:pt x="76200" y="38100"/>
                </a:lnTo>
                <a:lnTo>
                  <a:pt x="73211" y="52947"/>
                </a:lnTo>
                <a:lnTo>
                  <a:pt x="65055" y="65055"/>
                </a:lnTo>
                <a:lnTo>
                  <a:pt x="52947" y="73211"/>
                </a:lnTo>
                <a:lnTo>
                  <a:pt x="38100" y="76200"/>
                </a:lnTo>
                <a:lnTo>
                  <a:pt x="23252" y="73211"/>
                </a:lnTo>
                <a:lnTo>
                  <a:pt x="11144" y="65055"/>
                </a:lnTo>
                <a:lnTo>
                  <a:pt x="2988" y="52947"/>
                </a:lnTo>
                <a:lnTo>
                  <a:pt x="0" y="381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7086600" y="25908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8100" y="76200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6200" y="38100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</a:pathLst>
          </a:custGeom>
          <a:solidFill>
            <a:srgbClr val="AEBE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7086600" y="25908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38100"/>
                </a:moveTo>
                <a:lnTo>
                  <a:pt x="2988" y="23252"/>
                </a:lnTo>
                <a:lnTo>
                  <a:pt x="11144" y="11144"/>
                </a:lnTo>
                <a:lnTo>
                  <a:pt x="23252" y="2988"/>
                </a:lnTo>
                <a:lnTo>
                  <a:pt x="38100" y="0"/>
                </a:lnTo>
                <a:lnTo>
                  <a:pt x="52947" y="2988"/>
                </a:lnTo>
                <a:lnTo>
                  <a:pt x="65055" y="11144"/>
                </a:lnTo>
                <a:lnTo>
                  <a:pt x="73211" y="23252"/>
                </a:lnTo>
                <a:lnTo>
                  <a:pt x="76200" y="38100"/>
                </a:lnTo>
                <a:lnTo>
                  <a:pt x="73211" y="52947"/>
                </a:lnTo>
                <a:lnTo>
                  <a:pt x="65055" y="65055"/>
                </a:lnTo>
                <a:lnTo>
                  <a:pt x="52947" y="73211"/>
                </a:lnTo>
                <a:lnTo>
                  <a:pt x="38100" y="76200"/>
                </a:lnTo>
                <a:lnTo>
                  <a:pt x="23252" y="73211"/>
                </a:lnTo>
                <a:lnTo>
                  <a:pt x="11144" y="65055"/>
                </a:lnTo>
                <a:lnTo>
                  <a:pt x="2988" y="52947"/>
                </a:lnTo>
                <a:lnTo>
                  <a:pt x="0" y="381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7086600" y="26670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8100" y="76200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6200" y="38100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</a:pathLst>
          </a:custGeom>
          <a:solidFill>
            <a:srgbClr val="AEBE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7086600" y="26670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38100"/>
                </a:moveTo>
                <a:lnTo>
                  <a:pt x="2988" y="23252"/>
                </a:lnTo>
                <a:lnTo>
                  <a:pt x="11144" y="11144"/>
                </a:lnTo>
                <a:lnTo>
                  <a:pt x="23252" y="2988"/>
                </a:lnTo>
                <a:lnTo>
                  <a:pt x="38100" y="0"/>
                </a:lnTo>
                <a:lnTo>
                  <a:pt x="52947" y="2988"/>
                </a:lnTo>
                <a:lnTo>
                  <a:pt x="65055" y="11144"/>
                </a:lnTo>
                <a:lnTo>
                  <a:pt x="73211" y="23252"/>
                </a:lnTo>
                <a:lnTo>
                  <a:pt x="76200" y="38100"/>
                </a:lnTo>
                <a:lnTo>
                  <a:pt x="73211" y="52947"/>
                </a:lnTo>
                <a:lnTo>
                  <a:pt x="65055" y="65055"/>
                </a:lnTo>
                <a:lnTo>
                  <a:pt x="52947" y="73211"/>
                </a:lnTo>
                <a:lnTo>
                  <a:pt x="38100" y="76200"/>
                </a:lnTo>
                <a:lnTo>
                  <a:pt x="23252" y="73211"/>
                </a:lnTo>
                <a:lnTo>
                  <a:pt x="11144" y="65055"/>
                </a:lnTo>
                <a:lnTo>
                  <a:pt x="2988" y="52947"/>
                </a:lnTo>
                <a:lnTo>
                  <a:pt x="0" y="381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6934200" y="23622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8100" y="76200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6200" y="38100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</a:pathLst>
          </a:custGeom>
          <a:solidFill>
            <a:srgbClr val="AEBE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6934200" y="23622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38100"/>
                </a:moveTo>
                <a:lnTo>
                  <a:pt x="2988" y="23252"/>
                </a:lnTo>
                <a:lnTo>
                  <a:pt x="11144" y="11144"/>
                </a:lnTo>
                <a:lnTo>
                  <a:pt x="23252" y="2988"/>
                </a:lnTo>
                <a:lnTo>
                  <a:pt x="38100" y="0"/>
                </a:lnTo>
                <a:lnTo>
                  <a:pt x="52947" y="2988"/>
                </a:lnTo>
                <a:lnTo>
                  <a:pt x="65055" y="11144"/>
                </a:lnTo>
                <a:lnTo>
                  <a:pt x="73211" y="23252"/>
                </a:lnTo>
                <a:lnTo>
                  <a:pt x="76200" y="38100"/>
                </a:lnTo>
                <a:lnTo>
                  <a:pt x="73211" y="52947"/>
                </a:lnTo>
                <a:lnTo>
                  <a:pt x="65055" y="65055"/>
                </a:lnTo>
                <a:lnTo>
                  <a:pt x="52947" y="73211"/>
                </a:lnTo>
                <a:lnTo>
                  <a:pt x="38100" y="76200"/>
                </a:lnTo>
                <a:lnTo>
                  <a:pt x="23252" y="73211"/>
                </a:lnTo>
                <a:lnTo>
                  <a:pt x="11144" y="65055"/>
                </a:lnTo>
                <a:lnTo>
                  <a:pt x="2988" y="52947"/>
                </a:lnTo>
                <a:lnTo>
                  <a:pt x="0" y="381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7529576" y="297180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142875"/>
                </a:moveTo>
                <a:lnTo>
                  <a:pt x="7275" y="97731"/>
                </a:lnTo>
                <a:lnTo>
                  <a:pt x="27541" y="58512"/>
                </a:lnTo>
                <a:lnTo>
                  <a:pt x="58457" y="27578"/>
                </a:lnTo>
                <a:lnTo>
                  <a:pt x="97682" y="7287"/>
                </a:lnTo>
                <a:lnTo>
                  <a:pt x="142875" y="0"/>
                </a:lnTo>
                <a:lnTo>
                  <a:pt x="188018" y="7287"/>
                </a:lnTo>
                <a:lnTo>
                  <a:pt x="227237" y="27578"/>
                </a:lnTo>
                <a:lnTo>
                  <a:pt x="258171" y="58512"/>
                </a:lnTo>
                <a:lnTo>
                  <a:pt x="278462" y="97731"/>
                </a:lnTo>
                <a:lnTo>
                  <a:pt x="285750" y="142875"/>
                </a:lnTo>
                <a:lnTo>
                  <a:pt x="278462" y="188018"/>
                </a:lnTo>
                <a:lnTo>
                  <a:pt x="258171" y="227237"/>
                </a:lnTo>
                <a:lnTo>
                  <a:pt x="227237" y="258171"/>
                </a:lnTo>
                <a:lnTo>
                  <a:pt x="188018" y="278462"/>
                </a:lnTo>
                <a:lnTo>
                  <a:pt x="142875" y="285750"/>
                </a:lnTo>
                <a:lnTo>
                  <a:pt x="97682" y="278462"/>
                </a:lnTo>
                <a:lnTo>
                  <a:pt x="58457" y="258171"/>
                </a:lnTo>
                <a:lnTo>
                  <a:pt x="27541" y="227237"/>
                </a:lnTo>
                <a:lnTo>
                  <a:pt x="7275" y="188018"/>
                </a:lnTo>
                <a:lnTo>
                  <a:pt x="0" y="1428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7651750" y="3273425"/>
            <a:ext cx="0" cy="530225"/>
          </a:xfrm>
          <a:custGeom>
            <a:avLst/>
            <a:gdLst/>
            <a:ahLst/>
            <a:cxnLst/>
            <a:rect l="l" t="t" r="r" b="b"/>
            <a:pathLst>
              <a:path h="530225">
                <a:moveTo>
                  <a:pt x="0" y="0"/>
                </a:moveTo>
                <a:lnTo>
                  <a:pt x="0" y="53022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7669276" y="3379851"/>
            <a:ext cx="163830" cy="122555"/>
          </a:xfrm>
          <a:custGeom>
            <a:avLst/>
            <a:gdLst/>
            <a:ahLst/>
            <a:cxnLst/>
            <a:rect l="l" t="t" r="r" b="b"/>
            <a:pathLst>
              <a:path w="163829" h="122554">
                <a:moveTo>
                  <a:pt x="0" y="122174"/>
                </a:moveTo>
                <a:lnTo>
                  <a:pt x="163449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7427976" y="3298825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203200" y="203200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7315200" y="3813175"/>
            <a:ext cx="327025" cy="285750"/>
          </a:xfrm>
          <a:custGeom>
            <a:avLst/>
            <a:gdLst/>
            <a:ahLst/>
            <a:cxnLst/>
            <a:rect l="l" t="t" r="r" b="b"/>
            <a:pathLst>
              <a:path w="327025" h="285750">
                <a:moveTo>
                  <a:pt x="327025" y="0"/>
                </a:moveTo>
                <a:lnTo>
                  <a:pt x="0" y="28575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7659751" y="3816350"/>
            <a:ext cx="278130" cy="298450"/>
          </a:xfrm>
          <a:custGeom>
            <a:avLst/>
            <a:gdLst/>
            <a:ahLst/>
            <a:cxnLst/>
            <a:rect l="l" t="t" r="r" b="b"/>
            <a:pathLst>
              <a:path w="278129" h="298450">
                <a:moveTo>
                  <a:pt x="0" y="0"/>
                </a:moveTo>
                <a:lnTo>
                  <a:pt x="277749" y="29845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7604125" y="3124961"/>
            <a:ext cx="120650" cy="94615"/>
          </a:xfrm>
          <a:custGeom>
            <a:avLst/>
            <a:gdLst/>
            <a:ahLst/>
            <a:cxnLst/>
            <a:rect l="l" t="t" r="r" b="b"/>
            <a:pathLst>
              <a:path w="120650" h="94614">
                <a:moveTo>
                  <a:pt x="120269" y="0"/>
                </a:moveTo>
                <a:lnTo>
                  <a:pt x="103260" y="33353"/>
                </a:lnTo>
                <a:lnTo>
                  <a:pt x="86502" y="62801"/>
                </a:lnTo>
                <a:lnTo>
                  <a:pt x="70244" y="84439"/>
                </a:lnTo>
                <a:lnTo>
                  <a:pt x="54736" y="94361"/>
                </a:lnTo>
                <a:lnTo>
                  <a:pt x="39004" y="86302"/>
                </a:lnTo>
                <a:lnTo>
                  <a:pt x="23272" y="64087"/>
                </a:lnTo>
                <a:lnTo>
                  <a:pt x="9588" y="38943"/>
                </a:lnTo>
                <a:lnTo>
                  <a:pt x="0" y="2209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7572375" y="3038475"/>
            <a:ext cx="82550" cy="81280"/>
          </a:xfrm>
          <a:custGeom>
            <a:avLst/>
            <a:gdLst/>
            <a:ahLst/>
            <a:cxnLst/>
            <a:rect l="l" t="t" r="r" b="b"/>
            <a:pathLst>
              <a:path w="82550" h="81280">
                <a:moveTo>
                  <a:pt x="41275" y="0"/>
                </a:moveTo>
                <a:lnTo>
                  <a:pt x="25235" y="3186"/>
                </a:lnTo>
                <a:lnTo>
                  <a:pt x="12112" y="11874"/>
                </a:lnTo>
                <a:lnTo>
                  <a:pt x="3252" y="24753"/>
                </a:lnTo>
                <a:lnTo>
                  <a:pt x="0" y="40512"/>
                </a:lnTo>
                <a:lnTo>
                  <a:pt x="3252" y="56272"/>
                </a:lnTo>
                <a:lnTo>
                  <a:pt x="12112" y="69151"/>
                </a:lnTo>
                <a:lnTo>
                  <a:pt x="25235" y="77839"/>
                </a:lnTo>
                <a:lnTo>
                  <a:pt x="41275" y="81025"/>
                </a:lnTo>
                <a:lnTo>
                  <a:pt x="57314" y="77839"/>
                </a:lnTo>
                <a:lnTo>
                  <a:pt x="70437" y="69151"/>
                </a:lnTo>
                <a:lnTo>
                  <a:pt x="79297" y="56272"/>
                </a:lnTo>
                <a:lnTo>
                  <a:pt x="82550" y="40512"/>
                </a:lnTo>
                <a:lnTo>
                  <a:pt x="79297" y="24753"/>
                </a:lnTo>
                <a:lnTo>
                  <a:pt x="70437" y="11874"/>
                </a:lnTo>
                <a:lnTo>
                  <a:pt x="57314" y="3186"/>
                </a:lnTo>
                <a:lnTo>
                  <a:pt x="41275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</p:spPr>
        <p:txBody>
          <a:bodyPr wrap="square" lIns="0" tIns="0" rIns="0" bIns="0" rtlCol="0"/>
          <a:lstStyle/>
          <a:p>
            <a:endParaRPr>
              <a:highlight>
                <a:srgbClr val="FFFF00"/>
              </a:highlight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7572375" y="3038475"/>
            <a:ext cx="82550" cy="81280"/>
          </a:xfrm>
          <a:custGeom>
            <a:avLst/>
            <a:gdLst/>
            <a:ahLst/>
            <a:cxnLst/>
            <a:rect l="l" t="t" r="r" b="b"/>
            <a:pathLst>
              <a:path w="82550" h="81280">
                <a:moveTo>
                  <a:pt x="0" y="40512"/>
                </a:moveTo>
                <a:lnTo>
                  <a:pt x="3252" y="24753"/>
                </a:lnTo>
                <a:lnTo>
                  <a:pt x="12112" y="11874"/>
                </a:lnTo>
                <a:lnTo>
                  <a:pt x="25235" y="3186"/>
                </a:lnTo>
                <a:lnTo>
                  <a:pt x="41275" y="0"/>
                </a:lnTo>
                <a:lnTo>
                  <a:pt x="57314" y="3186"/>
                </a:lnTo>
                <a:lnTo>
                  <a:pt x="70437" y="11874"/>
                </a:lnTo>
                <a:lnTo>
                  <a:pt x="79297" y="24753"/>
                </a:lnTo>
                <a:lnTo>
                  <a:pt x="82550" y="40512"/>
                </a:lnTo>
                <a:lnTo>
                  <a:pt x="79297" y="56272"/>
                </a:lnTo>
                <a:lnTo>
                  <a:pt x="70437" y="69151"/>
                </a:lnTo>
                <a:lnTo>
                  <a:pt x="57314" y="77839"/>
                </a:lnTo>
                <a:lnTo>
                  <a:pt x="41275" y="81025"/>
                </a:lnTo>
                <a:lnTo>
                  <a:pt x="25235" y="77839"/>
                </a:lnTo>
                <a:lnTo>
                  <a:pt x="12112" y="69151"/>
                </a:lnTo>
                <a:lnTo>
                  <a:pt x="3252" y="56272"/>
                </a:lnTo>
                <a:lnTo>
                  <a:pt x="0" y="40512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7669276" y="3038475"/>
            <a:ext cx="82550" cy="81280"/>
          </a:xfrm>
          <a:custGeom>
            <a:avLst/>
            <a:gdLst/>
            <a:ahLst/>
            <a:cxnLst/>
            <a:rect l="l" t="t" r="r" b="b"/>
            <a:pathLst>
              <a:path w="82550" h="81280">
                <a:moveTo>
                  <a:pt x="41275" y="0"/>
                </a:moveTo>
                <a:lnTo>
                  <a:pt x="25181" y="3186"/>
                </a:lnTo>
                <a:lnTo>
                  <a:pt x="12065" y="11874"/>
                </a:lnTo>
                <a:lnTo>
                  <a:pt x="3234" y="24753"/>
                </a:lnTo>
                <a:lnTo>
                  <a:pt x="0" y="40512"/>
                </a:lnTo>
                <a:lnTo>
                  <a:pt x="3234" y="56272"/>
                </a:lnTo>
                <a:lnTo>
                  <a:pt x="12065" y="69151"/>
                </a:lnTo>
                <a:lnTo>
                  <a:pt x="25181" y="77839"/>
                </a:lnTo>
                <a:lnTo>
                  <a:pt x="41275" y="81025"/>
                </a:lnTo>
                <a:lnTo>
                  <a:pt x="57314" y="77839"/>
                </a:lnTo>
                <a:lnTo>
                  <a:pt x="70437" y="69151"/>
                </a:lnTo>
                <a:lnTo>
                  <a:pt x="79297" y="56272"/>
                </a:lnTo>
                <a:lnTo>
                  <a:pt x="82550" y="40512"/>
                </a:lnTo>
                <a:lnTo>
                  <a:pt x="79297" y="24753"/>
                </a:lnTo>
                <a:lnTo>
                  <a:pt x="70437" y="11874"/>
                </a:lnTo>
                <a:lnTo>
                  <a:pt x="57314" y="3186"/>
                </a:lnTo>
                <a:lnTo>
                  <a:pt x="41275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</p:spPr>
        <p:txBody>
          <a:bodyPr wrap="square" lIns="0" tIns="0" rIns="0" bIns="0" rtlCol="0"/>
          <a:lstStyle/>
          <a:p>
            <a:endParaRPr>
              <a:highlight>
                <a:srgbClr val="FFFF00"/>
              </a:highlight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7669276" y="3038475"/>
            <a:ext cx="82550" cy="81280"/>
          </a:xfrm>
          <a:custGeom>
            <a:avLst/>
            <a:gdLst/>
            <a:ahLst/>
            <a:cxnLst/>
            <a:rect l="l" t="t" r="r" b="b"/>
            <a:pathLst>
              <a:path w="82550" h="81280">
                <a:moveTo>
                  <a:pt x="0" y="40512"/>
                </a:moveTo>
                <a:lnTo>
                  <a:pt x="3234" y="24753"/>
                </a:lnTo>
                <a:lnTo>
                  <a:pt x="12065" y="11874"/>
                </a:lnTo>
                <a:lnTo>
                  <a:pt x="25181" y="3186"/>
                </a:lnTo>
                <a:lnTo>
                  <a:pt x="41275" y="0"/>
                </a:lnTo>
                <a:lnTo>
                  <a:pt x="57314" y="3186"/>
                </a:lnTo>
                <a:lnTo>
                  <a:pt x="70437" y="11874"/>
                </a:lnTo>
                <a:lnTo>
                  <a:pt x="79297" y="24753"/>
                </a:lnTo>
                <a:lnTo>
                  <a:pt x="82550" y="40512"/>
                </a:lnTo>
                <a:lnTo>
                  <a:pt x="79297" y="56272"/>
                </a:lnTo>
                <a:lnTo>
                  <a:pt x="70437" y="69151"/>
                </a:lnTo>
                <a:lnTo>
                  <a:pt x="57314" y="77839"/>
                </a:lnTo>
                <a:lnTo>
                  <a:pt x="41275" y="81025"/>
                </a:lnTo>
                <a:lnTo>
                  <a:pt x="25181" y="77839"/>
                </a:lnTo>
                <a:lnTo>
                  <a:pt x="12065" y="69151"/>
                </a:lnTo>
                <a:lnTo>
                  <a:pt x="3234" y="56272"/>
                </a:lnTo>
                <a:lnTo>
                  <a:pt x="0" y="40512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7620000" y="25908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8100" y="76200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6200" y="38100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</a:pathLst>
          </a:custGeom>
          <a:solidFill>
            <a:srgbClr val="AEBE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7620000" y="25908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38100"/>
                </a:moveTo>
                <a:lnTo>
                  <a:pt x="2988" y="23252"/>
                </a:lnTo>
                <a:lnTo>
                  <a:pt x="11144" y="11144"/>
                </a:lnTo>
                <a:lnTo>
                  <a:pt x="23252" y="2988"/>
                </a:lnTo>
                <a:lnTo>
                  <a:pt x="38100" y="0"/>
                </a:lnTo>
                <a:lnTo>
                  <a:pt x="52947" y="2988"/>
                </a:lnTo>
                <a:lnTo>
                  <a:pt x="65055" y="11144"/>
                </a:lnTo>
                <a:lnTo>
                  <a:pt x="73211" y="23252"/>
                </a:lnTo>
                <a:lnTo>
                  <a:pt x="76200" y="38100"/>
                </a:lnTo>
                <a:lnTo>
                  <a:pt x="73211" y="52947"/>
                </a:lnTo>
                <a:lnTo>
                  <a:pt x="65055" y="65055"/>
                </a:lnTo>
                <a:lnTo>
                  <a:pt x="52947" y="73211"/>
                </a:lnTo>
                <a:lnTo>
                  <a:pt x="38100" y="76200"/>
                </a:lnTo>
                <a:lnTo>
                  <a:pt x="23252" y="73211"/>
                </a:lnTo>
                <a:lnTo>
                  <a:pt x="11144" y="65055"/>
                </a:lnTo>
                <a:lnTo>
                  <a:pt x="2988" y="52947"/>
                </a:lnTo>
                <a:lnTo>
                  <a:pt x="0" y="381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7772400" y="28194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8100" y="76200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6200" y="38100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</a:pathLst>
          </a:custGeom>
          <a:solidFill>
            <a:srgbClr val="AEBE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7772400" y="28194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38100"/>
                </a:moveTo>
                <a:lnTo>
                  <a:pt x="2988" y="23252"/>
                </a:lnTo>
                <a:lnTo>
                  <a:pt x="11144" y="11144"/>
                </a:lnTo>
                <a:lnTo>
                  <a:pt x="23252" y="2988"/>
                </a:lnTo>
                <a:lnTo>
                  <a:pt x="38100" y="0"/>
                </a:lnTo>
                <a:lnTo>
                  <a:pt x="52947" y="2988"/>
                </a:lnTo>
                <a:lnTo>
                  <a:pt x="65055" y="11144"/>
                </a:lnTo>
                <a:lnTo>
                  <a:pt x="73211" y="23252"/>
                </a:lnTo>
                <a:lnTo>
                  <a:pt x="76200" y="38100"/>
                </a:lnTo>
                <a:lnTo>
                  <a:pt x="73211" y="52947"/>
                </a:lnTo>
                <a:lnTo>
                  <a:pt x="65055" y="65055"/>
                </a:lnTo>
                <a:lnTo>
                  <a:pt x="52947" y="73211"/>
                </a:lnTo>
                <a:lnTo>
                  <a:pt x="38100" y="76200"/>
                </a:lnTo>
                <a:lnTo>
                  <a:pt x="23252" y="73211"/>
                </a:lnTo>
                <a:lnTo>
                  <a:pt x="11144" y="65055"/>
                </a:lnTo>
                <a:lnTo>
                  <a:pt x="2988" y="52947"/>
                </a:lnTo>
                <a:lnTo>
                  <a:pt x="0" y="381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7467600" y="26670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8100" y="76200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6200" y="38100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</a:pathLst>
          </a:custGeom>
          <a:solidFill>
            <a:srgbClr val="AEBE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7467600" y="26670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38100"/>
                </a:moveTo>
                <a:lnTo>
                  <a:pt x="2988" y="23252"/>
                </a:lnTo>
                <a:lnTo>
                  <a:pt x="11144" y="11144"/>
                </a:lnTo>
                <a:lnTo>
                  <a:pt x="23252" y="2988"/>
                </a:lnTo>
                <a:lnTo>
                  <a:pt x="38100" y="0"/>
                </a:lnTo>
                <a:lnTo>
                  <a:pt x="52947" y="2988"/>
                </a:lnTo>
                <a:lnTo>
                  <a:pt x="65055" y="11144"/>
                </a:lnTo>
                <a:lnTo>
                  <a:pt x="73211" y="23252"/>
                </a:lnTo>
                <a:lnTo>
                  <a:pt x="76200" y="38100"/>
                </a:lnTo>
                <a:lnTo>
                  <a:pt x="73211" y="52947"/>
                </a:lnTo>
                <a:lnTo>
                  <a:pt x="65055" y="65055"/>
                </a:lnTo>
                <a:lnTo>
                  <a:pt x="52947" y="73211"/>
                </a:lnTo>
                <a:lnTo>
                  <a:pt x="38100" y="76200"/>
                </a:lnTo>
                <a:lnTo>
                  <a:pt x="23252" y="73211"/>
                </a:lnTo>
                <a:lnTo>
                  <a:pt x="11144" y="65055"/>
                </a:lnTo>
                <a:lnTo>
                  <a:pt x="2988" y="52947"/>
                </a:lnTo>
                <a:lnTo>
                  <a:pt x="0" y="381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7772400" y="26670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8100" y="76200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6200" y="38100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</a:pathLst>
          </a:custGeom>
          <a:solidFill>
            <a:srgbClr val="AEBE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7772400" y="26670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38100"/>
                </a:moveTo>
                <a:lnTo>
                  <a:pt x="2988" y="23252"/>
                </a:lnTo>
                <a:lnTo>
                  <a:pt x="11144" y="11144"/>
                </a:lnTo>
                <a:lnTo>
                  <a:pt x="23252" y="2988"/>
                </a:lnTo>
                <a:lnTo>
                  <a:pt x="38100" y="0"/>
                </a:lnTo>
                <a:lnTo>
                  <a:pt x="52947" y="2988"/>
                </a:lnTo>
                <a:lnTo>
                  <a:pt x="65055" y="11144"/>
                </a:lnTo>
                <a:lnTo>
                  <a:pt x="73211" y="23252"/>
                </a:lnTo>
                <a:lnTo>
                  <a:pt x="76200" y="38100"/>
                </a:lnTo>
                <a:lnTo>
                  <a:pt x="73211" y="52947"/>
                </a:lnTo>
                <a:lnTo>
                  <a:pt x="65055" y="65055"/>
                </a:lnTo>
                <a:lnTo>
                  <a:pt x="52947" y="73211"/>
                </a:lnTo>
                <a:lnTo>
                  <a:pt x="38100" y="76200"/>
                </a:lnTo>
                <a:lnTo>
                  <a:pt x="23252" y="73211"/>
                </a:lnTo>
                <a:lnTo>
                  <a:pt x="11144" y="65055"/>
                </a:lnTo>
                <a:lnTo>
                  <a:pt x="2988" y="52947"/>
                </a:lnTo>
                <a:lnTo>
                  <a:pt x="0" y="381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7620000" y="27432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8100" y="76200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6200" y="38100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</a:pathLst>
          </a:custGeom>
          <a:solidFill>
            <a:srgbClr val="AEBE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7620000" y="27432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38100"/>
                </a:moveTo>
                <a:lnTo>
                  <a:pt x="2988" y="23252"/>
                </a:lnTo>
                <a:lnTo>
                  <a:pt x="11144" y="11144"/>
                </a:lnTo>
                <a:lnTo>
                  <a:pt x="23252" y="2988"/>
                </a:lnTo>
                <a:lnTo>
                  <a:pt x="38100" y="0"/>
                </a:lnTo>
                <a:lnTo>
                  <a:pt x="52947" y="2988"/>
                </a:lnTo>
                <a:lnTo>
                  <a:pt x="65055" y="11144"/>
                </a:lnTo>
                <a:lnTo>
                  <a:pt x="73211" y="23252"/>
                </a:lnTo>
                <a:lnTo>
                  <a:pt x="76200" y="38100"/>
                </a:lnTo>
                <a:lnTo>
                  <a:pt x="73211" y="52947"/>
                </a:lnTo>
                <a:lnTo>
                  <a:pt x="65055" y="65055"/>
                </a:lnTo>
                <a:lnTo>
                  <a:pt x="52947" y="73211"/>
                </a:lnTo>
                <a:lnTo>
                  <a:pt x="38100" y="76200"/>
                </a:lnTo>
                <a:lnTo>
                  <a:pt x="23252" y="73211"/>
                </a:lnTo>
                <a:lnTo>
                  <a:pt x="11144" y="65055"/>
                </a:lnTo>
                <a:lnTo>
                  <a:pt x="2988" y="52947"/>
                </a:lnTo>
                <a:lnTo>
                  <a:pt x="0" y="381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7620000" y="28194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8100" y="76200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6200" y="38100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</a:pathLst>
          </a:custGeom>
          <a:solidFill>
            <a:srgbClr val="AEBE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7620000" y="28194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38100"/>
                </a:moveTo>
                <a:lnTo>
                  <a:pt x="2988" y="23252"/>
                </a:lnTo>
                <a:lnTo>
                  <a:pt x="11144" y="11144"/>
                </a:lnTo>
                <a:lnTo>
                  <a:pt x="23252" y="2988"/>
                </a:lnTo>
                <a:lnTo>
                  <a:pt x="38100" y="0"/>
                </a:lnTo>
                <a:lnTo>
                  <a:pt x="52947" y="2988"/>
                </a:lnTo>
                <a:lnTo>
                  <a:pt x="65055" y="11144"/>
                </a:lnTo>
                <a:lnTo>
                  <a:pt x="73211" y="23252"/>
                </a:lnTo>
                <a:lnTo>
                  <a:pt x="76200" y="38100"/>
                </a:lnTo>
                <a:lnTo>
                  <a:pt x="73211" y="52947"/>
                </a:lnTo>
                <a:lnTo>
                  <a:pt x="65055" y="65055"/>
                </a:lnTo>
                <a:lnTo>
                  <a:pt x="52947" y="73211"/>
                </a:lnTo>
                <a:lnTo>
                  <a:pt x="38100" y="76200"/>
                </a:lnTo>
                <a:lnTo>
                  <a:pt x="23252" y="73211"/>
                </a:lnTo>
                <a:lnTo>
                  <a:pt x="11144" y="65055"/>
                </a:lnTo>
                <a:lnTo>
                  <a:pt x="2988" y="52947"/>
                </a:lnTo>
                <a:lnTo>
                  <a:pt x="0" y="381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7467600" y="25146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8100" y="76200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6200" y="38100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</a:pathLst>
          </a:custGeom>
          <a:solidFill>
            <a:srgbClr val="AEBE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7467600" y="25146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38100"/>
                </a:moveTo>
                <a:lnTo>
                  <a:pt x="2988" y="23252"/>
                </a:lnTo>
                <a:lnTo>
                  <a:pt x="11144" y="11144"/>
                </a:lnTo>
                <a:lnTo>
                  <a:pt x="23252" y="2988"/>
                </a:lnTo>
                <a:lnTo>
                  <a:pt x="38100" y="0"/>
                </a:lnTo>
                <a:lnTo>
                  <a:pt x="52947" y="2988"/>
                </a:lnTo>
                <a:lnTo>
                  <a:pt x="65055" y="11144"/>
                </a:lnTo>
                <a:lnTo>
                  <a:pt x="73211" y="23252"/>
                </a:lnTo>
                <a:lnTo>
                  <a:pt x="76200" y="38100"/>
                </a:lnTo>
                <a:lnTo>
                  <a:pt x="73211" y="52947"/>
                </a:lnTo>
                <a:lnTo>
                  <a:pt x="65055" y="65055"/>
                </a:lnTo>
                <a:lnTo>
                  <a:pt x="52947" y="73211"/>
                </a:lnTo>
                <a:lnTo>
                  <a:pt x="38100" y="76200"/>
                </a:lnTo>
                <a:lnTo>
                  <a:pt x="23252" y="73211"/>
                </a:lnTo>
                <a:lnTo>
                  <a:pt x="11144" y="65055"/>
                </a:lnTo>
                <a:lnTo>
                  <a:pt x="2988" y="52947"/>
                </a:lnTo>
                <a:lnTo>
                  <a:pt x="0" y="381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 txBox="1"/>
          <p:nvPr/>
        </p:nvSpPr>
        <p:spPr>
          <a:xfrm>
            <a:off x="1187624" y="3812524"/>
            <a:ext cx="3577591" cy="10566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315" indent="-262255">
              <a:lnSpc>
                <a:spcPct val="100000"/>
              </a:lnSpc>
            </a:pPr>
            <a:r>
              <a:rPr sz="1800" b="1" spc="-5" dirty="0">
                <a:latin typeface="Arial"/>
                <a:cs typeface="Arial"/>
              </a:rPr>
              <a:t>Source</a:t>
            </a:r>
            <a:r>
              <a:rPr sz="1800" b="1" spc="-7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Population:</a:t>
            </a:r>
            <a:endParaRPr sz="1800" dirty="0">
              <a:latin typeface="Arial"/>
              <a:cs typeface="Arial"/>
            </a:endParaRPr>
          </a:p>
          <a:p>
            <a:pPr marL="12700" marR="5080" indent="348615">
              <a:lnSpc>
                <a:spcPct val="150000"/>
              </a:lnSpc>
            </a:pPr>
            <a:r>
              <a:rPr sz="1800" b="1" spc="-5" dirty="0">
                <a:latin typeface="Arial"/>
                <a:cs typeface="Arial"/>
              </a:rPr>
              <a:t>50% </a:t>
            </a:r>
            <a:r>
              <a:rPr lang="en-US" sz="1800" b="1" spc="10" dirty="0">
                <a:latin typeface="Arial"/>
                <a:cs typeface="Arial"/>
              </a:rPr>
              <a:t>used ibuprofen</a:t>
            </a:r>
            <a:r>
              <a:rPr sz="1800" b="1" spc="-5" dirty="0">
                <a:latin typeface="Arial"/>
                <a:cs typeface="Arial"/>
              </a:rPr>
              <a:t>,</a:t>
            </a:r>
            <a:endParaRPr lang="en-US" sz="1800" b="1" spc="-5" dirty="0">
              <a:latin typeface="Arial"/>
              <a:cs typeface="Arial"/>
            </a:endParaRPr>
          </a:p>
          <a:p>
            <a:pPr marL="12700" marR="5080" indent="348615">
              <a:lnSpc>
                <a:spcPct val="150000"/>
              </a:lnSpc>
            </a:pPr>
            <a:r>
              <a:rPr sz="1800" b="1" spc="-5" dirty="0">
                <a:latin typeface="Arial"/>
                <a:cs typeface="Arial"/>
              </a:rPr>
              <a:t>50% </a:t>
            </a:r>
            <a:r>
              <a:rPr lang="en-US" sz="1800" b="1" dirty="0">
                <a:latin typeface="Arial"/>
                <a:cs typeface="Arial"/>
              </a:rPr>
              <a:t>have not used ibuprofen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2133600" y="167640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lnTo>
                  <a:pt x="97731" y="7287"/>
                </a:lnTo>
                <a:lnTo>
                  <a:pt x="58512" y="27578"/>
                </a:lnTo>
                <a:lnTo>
                  <a:pt x="27578" y="58512"/>
                </a:lnTo>
                <a:lnTo>
                  <a:pt x="7287" y="97731"/>
                </a:lnTo>
                <a:lnTo>
                  <a:pt x="0" y="142875"/>
                </a:lnTo>
                <a:lnTo>
                  <a:pt x="7287" y="188018"/>
                </a:lnTo>
                <a:lnTo>
                  <a:pt x="27578" y="227237"/>
                </a:lnTo>
                <a:lnTo>
                  <a:pt x="58512" y="258171"/>
                </a:lnTo>
                <a:lnTo>
                  <a:pt x="97731" y="278462"/>
                </a:lnTo>
                <a:lnTo>
                  <a:pt x="142875" y="285750"/>
                </a:lnTo>
                <a:lnTo>
                  <a:pt x="188018" y="278462"/>
                </a:lnTo>
                <a:lnTo>
                  <a:pt x="227237" y="258171"/>
                </a:lnTo>
                <a:lnTo>
                  <a:pt x="258171" y="227237"/>
                </a:lnTo>
                <a:lnTo>
                  <a:pt x="278462" y="188018"/>
                </a:lnTo>
                <a:lnTo>
                  <a:pt x="285750" y="142875"/>
                </a:lnTo>
                <a:lnTo>
                  <a:pt x="278462" y="97731"/>
                </a:lnTo>
                <a:lnTo>
                  <a:pt x="258171" y="58512"/>
                </a:lnTo>
                <a:lnTo>
                  <a:pt x="227237" y="27578"/>
                </a:lnTo>
                <a:lnTo>
                  <a:pt x="188018" y="7287"/>
                </a:lnTo>
                <a:lnTo>
                  <a:pt x="142875" y="0"/>
                </a:lnTo>
                <a:close/>
              </a:path>
            </a:pathLst>
          </a:custGeom>
          <a:solidFill>
            <a:srgbClr val="DF38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2133600" y="167640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142875"/>
                </a:moveTo>
                <a:lnTo>
                  <a:pt x="7287" y="97731"/>
                </a:lnTo>
                <a:lnTo>
                  <a:pt x="27578" y="58512"/>
                </a:lnTo>
                <a:lnTo>
                  <a:pt x="58512" y="27578"/>
                </a:lnTo>
                <a:lnTo>
                  <a:pt x="97731" y="7287"/>
                </a:lnTo>
                <a:lnTo>
                  <a:pt x="142875" y="0"/>
                </a:lnTo>
                <a:lnTo>
                  <a:pt x="188018" y="7287"/>
                </a:lnTo>
                <a:lnTo>
                  <a:pt x="227237" y="27578"/>
                </a:lnTo>
                <a:lnTo>
                  <a:pt x="258171" y="58512"/>
                </a:lnTo>
                <a:lnTo>
                  <a:pt x="278462" y="97731"/>
                </a:lnTo>
                <a:lnTo>
                  <a:pt x="285750" y="142875"/>
                </a:lnTo>
                <a:lnTo>
                  <a:pt x="278462" y="188018"/>
                </a:lnTo>
                <a:lnTo>
                  <a:pt x="258171" y="227237"/>
                </a:lnTo>
                <a:lnTo>
                  <a:pt x="227237" y="258171"/>
                </a:lnTo>
                <a:lnTo>
                  <a:pt x="188018" y="278462"/>
                </a:lnTo>
                <a:lnTo>
                  <a:pt x="142875" y="285750"/>
                </a:lnTo>
                <a:lnTo>
                  <a:pt x="97731" y="278462"/>
                </a:lnTo>
                <a:lnTo>
                  <a:pt x="58512" y="258171"/>
                </a:lnTo>
                <a:lnTo>
                  <a:pt x="27578" y="227237"/>
                </a:lnTo>
                <a:lnTo>
                  <a:pt x="7287" y="188018"/>
                </a:lnTo>
                <a:lnTo>
                  <a:pt x="0" y="1428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2193925" y="1829561"/>
            <a:ext cx="120650" cy="94615"/>
          </a:xfrm>
          <a:custGeom>
            <a:avLst/>
            <a:gdLst/>
            <a:ahLst/>
            <a:cxnLst/>
            <a:rect l="l" t="t" r="r" b="b"/>
            <a:pathLst>
              <a:path w="120650" h="94614">
                <a:moveTo>
                  <a:pt x="120268" y="0"/>
                </a:moveTo>
                <a:lnTo>
                  <a:pt x="0" y="22098"/>
                </a:lnTo>
                <a:lnTo>
                  <a:pt x="9588" y="38943"/>
                </a:lnTo>
                <a:lnTo>
                  <a:pt x="23272" y="64087"/>
                </a:lnTo>
                <a:lnTo>
                  <a:pt x="39004" y="86302"/>
                </a:lnTo>
                <a:lnTo>
                  <a:pt x="54737" y="94361"/>
                </a:lnTo>
                <a:lnTo>
                  <a:pt x="70244" y="84439"/>
                </a:lnTo>
                <a:lnTo>
                  <a:pt x="86502" y="62801"/>
                </a:lnTo>
                <a:lnTo>
                  <a:pt x="103260" y="33353"/>
                </a:lnTo>
                <a:lnTo>
                  <a:pt x="120268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2193925" y="1829561"/>
            <a:ext cx="120650" cy="94615"/>
          </a:xfrm>
          <a:custGeom>
            <a:avLst/>
            <a:gdLst/>
            <a:ahLst/>
            <a:cxnLst/>
            <a:rect l="l" t="t" r="r" b="b"/>
            <a:pathLst>
              <a:path w="120650" h="94614">
                <a:moveTo>
                  <a:pt x="120268" y="0"/>
                </a:moveTo>
                <a:lnTo>
                  <a:pt x="103260" y="33353"/>
                </a:lnTo>
                <a:lnTo>
                  <a:pt x="86502" y="62801"/>
                </a:lnTo>
                <a:lnTo>
                  <a:pt x="70244" y="84439"/>
                </a:lnTo>
                <a:lnTo>
                  <a:pt x="54737" y="94361"/>
                </a:lnTo>
                <a:lnTo>
                  <a:pt x="39004" y="86302"/>
                </a:lnTo>
                <a:lnTo>
                  <a:pt x="23272" y="64087"/>
                </a:lnTo>
                <a:lnTo>
                  <a:pt x="9588" y="38943"/>
                </a:lnTo>
                <a:lnTo>
                  <a:pt x="0" y="2209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2241550" y="1978025"/>
            <a:ext cx="0" cy="530225"/>
          </a:xfrm>
          <a:custGeom>
            <a:avLst/>
            <a:gdLst/>
            <a:ahLst/>
            <a:cxnLst/>
            <a:rect l="l" t="t" r="r" b="b"/>
            <a:pathLst>
              <a:path h="530225">
                <a:moveTo>
                  <a:pt x="0" y="0"/>
                </a:moveTo>
                <a:lnTo>
                  <a:pt x="0" y="53022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2259076" y="2084451"/>
            <a:ext cx="163830" cy="122555"/>
          </a:xfrm>
          <a:custGeom>
            <a:avLst/>
            <a:gdLst/>
            <a:ahLst/>
            <a:cxnLst/>
            <a:rect l="l" t="t" r="r" b="b"/>
            <a:pathLst>
              <a:path w="163830" h="122555">
                <a:moveTo>
                  <a:pt x="0" y="122174"/>
                </a:moveTo>
                <a:lnTo>
                  <a:pt x="163449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2017776" y="2003425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203200" y="203200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1905000" y="2517775"/>
            <a:ext cx="327025" cy="285750"/>
          </a:xfrm>
          <a:custGeom>
            <a:avLst/>
            <a:gdLst/>
            <a:ahLst/>
            <a:cxnLst/>
            <a:rect l="l" t="t" r="r" b="b"/>
            <a:pathLst>
              <a:path w="327025" h="285750">
                <a:moveTo>
                  <a:pt x="327025" y="0"/>
                </a:moveTo>
                <a:lnTo>
                  <a:pt x="0" y="28575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2249551" y="2520950"/>
            <a:ext cx="278130" cy="298450"/>
          </a:xfrm>
          <a:custGeom>
            <a:avLst/>
            <a:gdLst/>
            <a:ahLst/>
            <a:cxnLst/>
            <a:rect l="l" t="t" r="r" b="b"/>
            <a:pathLst>
              <a:path w="278130" h="298450">
                <a:moveTo>
                  <a:pt x="0" y="0"/>
                </a:moveTo>
                <a:lnTo>
                  <a:pt x="277749" y="29845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2162175" y="1743075"/>
            <a:ext cx="82550" cy="81280"/>
          </a:xfrm>
          <a:custGeom>
            <a:avLst/>
            <a:gdLst/>
            <a:ahLst/>
            <a:cxnLst/>
            <a:rect l="l" t="t" r="r" b="b"/>
            <a:pathLst>
              <a:path w="82550" h="81280">
                <a:moveTo>
                  <a:pt x="41275" y="0"/>
                </a:moveTo>
                <a:lnTo>
                  <a:pt x="25235" y="3186"/>
                </a:lnTo>
                <a:lnTo>
                  <a:pt x="12112" y="11874"/>
                </a:lnTo>
                <a:lnTo>
                  <a:pt x="3252" y="24753"/>
                </a:lnTo>
                <a:lnTo>
                  <a:pt x="0" y="40512"/>
                </a:lnTo>
                <a:lnTo>
                  <a:pt x="3252" y="56272"/>
                </a:lnTo>
                <a:lnTo>
                  <a:pt x="12112" y="69151"/>
                </a:lnTo>
                <a:lnTo>
                  <a:pt x="25235" y="77839"/>
                </a:lnTo>
                <a:lnTo>
                  <a:pt x="41275" y="81025"/>
                </a:lnTo>
                <a:lnTo>
                  <a:pt x="57314" y="77839"/>
                </a:lnTo>
                <a:lnTo>
                  <a:pt x="70437" y="69151"/>
                </a:lnTo>
                <a:lnTo>
                  <a:pt x="79297" y="56272"/>
                </a:lnTo>
                <a:lnTo>
                  <a:pt x="82550" y="40512"/>
                </a:lnTo>
                <a:lnTo>
                  <a:pt x="79297" y="24753"/>
                </a:lnTo>
                <a:lnTo>
                  <a:pt x="70437" y="11874"/>
                </a:lnTo>
                <a:lnTo>
                  <a:pt x="57314" y="3186"/>
                </a:lnTo>
                <a:lnTo>
                  <a:pt x="41275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2162175" y="1743075"/>
            <a:ext cx="82550" cy="81280"/>
          </a:xfrm>
          <a:custGeom>
            <a:avLst/>
            <a:gdLst/>
            <a:ahLst/>
            <a:cxnLst/>
            <a:rect l="l" t="t" r="r" b="b"/>
            <a:pathLst>
              <a:path w="82550" h="81280">
                <a:moveTo>
                  <a:pt x="0" y="40512"/>
                </a:moveTo>
                <a:lnTo>
                  <a:pt x="3252" y="24753"/>
                </a:lnTo>
                <a:lnTo>
                  <a:pt x="12112" y="11874"/>
                </a:lnTo>
                <a:lnTo>
                  <a:pt x="25235" y="3186"/>
                </a:lnTo>
                <a:lnTo>
                  <a:pt x="41275" y="0"/>
                </a:lnTo>
                <a:lnTo>
                  <a:pt x="57314" y="3186"/>
                </a:lnTo>
                <a:lnTo>
                  <a:pt x="70437" y="11874"/>
                </a:lnTo>
                <a:lnTo>
                  <a:pt x="79297" y="24753"/>
                </a:lnTo>
                <a:lnTo>
                  <a:pt x="82550" y="40512"/>
                </a:lnTo>
                <a:lnTo>
                  <a:pt x="79297" y="56272"/>
                </a:lnTo>
                <a:lnTo>
                  <a:pt x="70437" y="69151"/>
                </a:lnTo>
                <a:lnTo>
                  <a:pt x="57314" y="77839"/>
                </a:lnTo>
                <a:lnTo>
                  <a:pt x="41275" y="81025"/>
                </a:lnTo>
                <a:lnTo>
                  <a:pt x="25235" y="77839"/>
                </a:lnTo>
                <a:lnTo>
                  <a:pt x="12112" y="69151"/>
                </a:lnTo>
                <a:lnTo>
                  <a:pt x="3252" y="56272"/>
                </a:lnTo>
                <a:lnTo>
                  <a:pt x="0" y="40512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2259076" y="1743075"/>
            <a:ext cx="82550" cy="81280"/>
          </a:xfrm>
          <a:custGeom>
            <a:avLst/>
            <a:gdLst/>
            <a:ahLst/>
            <a:cxnLst/>
            <a:rect l="l" t="t" r="r" b="b"/>
            <a:pathLst>
              <a:path w="82550" h="81280">
                <a:moveTo>
                  <a:pt x="41275" y="0"/>
                </a:moveTo>
                <a:lnTo>
                  <a:pt x="25181" y="3186"/>
                </a:lnTo>
                <a:lnTo>
                  <a:pt x="12064" y="11874"/>
                </a:lnTo>
                <a:lnTo>
                  <a:pt x="3234" y="24753"/>
                </a:lnTo>
                <a:lnTo>
                  <a:pt x="0" y="40512"/>
                </a:lnTo>
                <a:lnTo>
                  <a:pt x="3234" y="56272"/>
                </a:lnTo>
                <a:lnTo>
                  <a:pt x="12064" y="69151"/>
                </a:lnTo>
                <a:lnTo>
                  <a:pt x="25181" y="77839"/>
                </a:lnTo>
                <a:lnTo>
                  <a:pt x="41275" y="81025"/>
                </a:lnTo>
                <a:lnTo>
                  <a:pt x="57314" y="77839"/>
                </a:lnTo>
                <a:lnTo>
                  <a:pt x="70437" y="69151"/>
                </a:lnTo>
                <a:lnTo>
                  <a:pt x="79297" y="56272"/>
                </a:lnTo>
                <a:lnTo>
                  <a:pt x="82550" y="40512"/>
                </a:lnTo>
                <a:lnTo>
                  <a:pt x="79297" y="24753"/>
                </a:lnTo>
                <a:lnTo>
                  <a:pt x="70437" y="11874"/>
                </a:lnTo>
                <a:lnTo>
                  <a:pt x="57314" y="3186"/>
                </a:lnTo>
                <a:lnTo>
                  <a:pt x="41275" y="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2259076" y="1743075"/>
            <a:ext cx="82550" cy="81280"/>
          </a:xfrm>
          <a:custGeom>
            <a:avLst/>
            <a:gdLst/>
            <a:ahLst/>
            <a:cxnLst/>
            <a:rect l="l" t="t" r="r" b="b"/>
            <a:pathLst>
              <a:path w="82550" h="81280">
                <a:moveTo>
                  <a:pt x="0" y="40512"/>
                </a:moveTo>
                <a:lnTo>
                  <a:pt x="3234" y="24753"/>
                </a:lnTo>
                <a:lnTo>
                  <a:pt x="12064" y="11874"/>
                </a:lnTo>
                <a:lnTo>
                  <a:pt x="25181" y="3186"/>
                </a:lnTo>
                <a:lnTo>
                  <a:pt x="41275" y="0"/>
                </a:lnTo>
                <a:lnTo>
                  <a:pt x="57314" y="3186"/>
                </a:lnTo>
                <a:lnTo>
                  <a:pt x="70437" y="11874"/>
                </a:lnTo>
                <a:lnTo>
                  <a:pt x="79297" y="24753"/>
                </a:lnTo>
                <a:lnTo>
                  <a:pt x="82550" y="40512"/>
                </a:lnTo>
                <a:lnTo>
                  <a:pt x="79297" y="56272"/>
                </a:lnTo>
                <a:lnTo>
                  <a:pt x="70437" y="69151"/>
                </a:lnTo>
                <a:lnTo>
                  <a:pt x="57314" y="77839"/>
                </a:lnTo>
                <a:lnTo>
                  <a:pt x="41275" y="81025"/>
                </a:lnTo>
                <a:lnTo>
                  <a:pt x="25181" y="77839"/>
                </a:lnTo>
                <a:lnTo>
                  <a:pt x="12064" y="69151"/>
                </a:lnTo>
                <a:lnTo>
                  <a:pt x="3234" y="56272"/>
                </a:lnTo>
                <a:lnTo>
                  <a:pt x="0" y="40512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3795648" y="182880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748" y="0"/>
                </a:moveTo>
                <a:lnTo>
                  <a:pt x="97617" y="7287"/>
                </a:lnTo>
                <a:lnTo>
                  <a:pt x="58430" y="27578"/>
                </a:lnTo>
                <a:lnTo>
                  <a:pt x="27533" y="58512"/>
                </a:lnTo>
                <a:lnTo>
                  <a:pt x="7274" y="97731"/>
                </a:lnTo>
                <a:lnTo>
                  <a:pt x="0" y="142875"/>
                </a:lnTo>
                <a:lnTo>
                  <a:pt x="7274" y="188018"/>
                </a:lnTo>
                <a:lnTo>
                  <a:pt x="27533" y="227237"/>
                </a:lnTo>
                <a:lnTo>
                  <a:pt x="58430" y="258171"/>
                </a:lnTo>
                <a:lnTo>
                  <a:pt x="97617" y="278462"/>
                </a:lnTo>
                <a:lnTo>
                  <a:pt x="142748" y="285750"/>
                </a:lnTo>
                <a:lnTo>
                  <a:pt x="187940" y="278462"/>
                </a:lnTo>
                <a:lnTo>
                  <a:pt x="227165" y="258171"/>
                </a:lnTo>
                <a:lnTo>
                  <a:pt x="258081" y="227237"/>
                </a:lnTo>
                <a:lnTo>
                  <a:pt x="278347" y="188018"/>
                </a:lnTo>
                <a:lnTo>
                  <a:pt x="285623" y="142875"/>
                </a:lnTo>
                <a:lnTo>
                  <a:pt x="278347" y="97731"/>
                </a:lnTo>
                <a:lnTo>
                  <a:pt x="258081" y="58512"/>
                </a:lnTo>
                <a:lnTo>
                  <a:pt x="227165" y="27578"/>
                </a:lnTo>
                <a:lnTo>
                  <a:pt x="187940" y="7287"/>
                </a:lnTo>
                <a:lnTo>
                  <a:pt x="142748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  <a:alpha val="83921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3795648" y="182880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142875"/>
                </a:moveTo>
                <a:lnTo>
                  <a:pt x="7274" y="97731"/>
                </a:lnTo>
                <a:lnTo>
                  <a:pt x="27533" y="58512"/>
                </a:lnTo>
                <a:lnTo>
                  <a:pt x="58430" y="27578"/>
                </a:lnTo>
                <a:lnTo>
                  <a:pt x="97617" y="7287"/>
                </a:lnTo>
                <a:lnTo>
                  <a:pt x="142748" y="0"/>
                </a:lnTo>
                <a:lnTo>
                  <a:pt x="187940" y="7287"/>
                </a:lnTo>
                <a:lnTo>
                  <a:pt x="227165" y="27578"/>
                </a:lnTo>
                <a:lnTo>
                  <a:pt x="258081" y="58512"/>
                </a:lnTo>
                <a:lnTo>
                  <a:pt x="278347" y="97731"/>
                </a:lnTo>
                <a:lnTo>
                  <a:pt x="285623" y="142875"/>
                </a:lnTo>
                <a:lnTo>
                  <a:pt x="278347" y="188018"/>
                </a:lnTo>
                <a:lnTo>
                  <a:pt x="258081" y="227237"/>
                </a:lnTo>
                <a:lnTo>
                  <a:pt x="227165" y="258171"/>
                </a:lnTo>
                <a:lnTo>
                  <a:pt x="187940" y="278462"/>
                </a:lnTo>
                <a:lnTo>
                  <a:pt x="142748" y="285750"/>
                </a:lnTo>
                <a:lnTo>
                  <a:pt x="97617" y="278462"/>
                </a:lnTo>
                <a:lnTo>
                  <a:pt x="58430" y="258171"/>
                </a:lnTo>
                <a:lnTo>
                  <a:pt x="27533" y="227237"/>
                </a:lnTo>
                <a:lnTo>
                  <a:pt x="7274" y="188018"/>
                </a:lnTo>
                <a:lnTo>
                  <a:pt x="0" y="1428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3918077" y="2129917"/>
            <a:ext cx="0" cy="530860"/>
          </a:xfrm>
          <a:custGeom>
            <a:avLst/>
            <a:gdLst/>
            <a:ahLst/>
            <a:cxnLst/>
            <a:rect l="l" t="t" r="r" b="b"/>
            <a:pathLst>
              <a:path h="530860">
                <a:moveTo>
                  <a:pt x="0" y="0"/>
                </a:moveTo>
                <a:lnTo>
                  <a:pt x="0" y="530606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3935857" y="2236977"/>
            <a:ext cx="163830" cy="122555"/>
          </a:xfrm>
          <a:custGeom>
            <a:avLst/>
            <a:gdLst/>
            <a:ahLst/>
            <a:cxnLst/>
            <a:rect l="l" t="t" r="r" b="b"/>
            <a:pathLst>
              <a:path w="163829" h="122555">
                <a:moveTo>
                  <a:pt x="0" y="122555"/>
                </a:moveTo>
                <a:lnTo>
                  <a:pt x="163321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3693667" y="2155317"/>
            <a:ext cx="204470" cy="204470"/>
          </a:xfrm>
          <a:custGeom>
            <a:avLst/>
            <a:gdLst/>
            <a:ahLst/>
            <a:cxnLst/>
            <a:rect l="l" t="t" r="r" b="b"/>
            <a:pathLst>
              <a:path w="204470" h="204469">
                <a:moveTo>
                  <a:pt x="203962" y="204216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3581400" y="2670682"/>
            <a:ext cx="326390" cy="285750"/>
          </a:xfrm>
          <a:custGeom>
            <a:avLst/>
            <a:gdLst/>
            <a:ahLst/>
            <a:cxnLst/>
            <a:rect l="l" t="t" r="r" b="b"/>
            <a:pathLst>
              <a:path w="326389" h="285750">
                <a:moveTo>
                  <a:pt x="326389" y="0"/>
                </a:moveTo>
                <a:lnTo>
                  <a:pt x="0" y="28575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3925696" y="2673350"/>
            <a:ext cx="278130" cy="298450"/>
          </a:xfrm>
          <a:custGeom>
            <a:avLst/>
            <a:gdLst/>
            <a:ahLst/>
            <a:cxnLst/>
            <a:rect l="l" t="t" r="r" b="b"/>
            <a:pathLst>
              <a:path w="278129" h="298450">
                <a:moveTo>
                  <a:pt x="0" y="0"/>
                </a:moveTo>
                <a:lnTo>
                  <a:pt x="278002" y="29845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3870833" y="1981707"/>
            <a:ext cx="120650" cy="95250"/>
          </a:xfrm>
          <a:custGeom>
            <a:avLst/>
            <a:gdLst/>
            <a:ahLst/>
            <a:cxnLst/>
            <a:rect l="l" t="t" r="r" b="b"/>
            <a:pathLst>
              <a:path w="120650" h="95250">
                <a:moveTo>
                  <a:pt x="120395" y="0"/>
                </a:moveTo>
                <a:lnTo>
                  <a:pt x="0" y="22097"/>
                </a:lnTo>
                <a:lnTo>
                  <a:pt x="9610" y="39149"/>
                </a:lnTo>
                <a:lnTo>
                  <a:pt x="23352" y="64500"/>
                </a:lnTo>
                <a:lnTo>
                  <a:pt x="39165" y="86873"/>
                </a:lnTo>
                <a:lnTo>
                  <a:pt x="54990" y="94995"/>
                </a:lnTo>
                <a:lnTo>
                  <a:pt x="70479" y="85028"/>
                </a:lnTo>
                <a:lnTo>
                  <a:pt x="86693" y="63261"/>
                </a:lnTo>
                <a:lnTo>
                  <a:pt x="103407" y="33613"/>
                </a:lnTo>
                <a:lnTo>
                  <a:pt x="120395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3870833" y="1981707"/>
            <a:ext cx="120650" cy="95250"/>
          </a:xfrm>
          <a:custGeom>
            <a:avLst/>
            <a:gdLst/>
            <a:ahLst/>
            <a:cxnLst/>
            <a:rect l="l" t="t" r="r" b="b"/>
            <a:pathLst>
              <a:path w="120650" h="95250">
                <a:moveTo>
                  <a:pt x="120395" y="0"/>
                </a:moveTo>
                <a:lnTo>
                  <a:pt x="103407" y="33613"/>
                </a:lnTo>
                <a:lnTo>
                  <a:pt x="86693" y="63261"/>
                </a:lnTo>
                <a:lnTo>
                  <a:pt x="70479" y="85028"/>
                </a:lnTo>
                <a:lnTo>
                  <a:pt x="54990" y="94995"/>
                </a:lnTo>
                <a:lnTo>
                  <a:pt x="39165" y="86873"/>
                </a:lnTo>
                <a:lnTo>
                  <a:pt x="23352" y="64500"/>
                </a:lnTo>
                <a:lnTo>
                  <a:pt x="9610" y="39149"/>
                </a:lnTo>
                <a:lnTo>
                  <a:pt x="0" y="22097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3838955" y="1895094"/>
            <a:ext cx="81915" cy="81915"/>
          </a:xfrm>
          <a:custGeom>
            <a:avLst/>
            <a:gdLst/>
            <a:ahLst/>
            <a:cxnLst/>
            <a:rect l="l" t="t" r="r" b="b"/>
            <a:pathLst>
              <a:path w="81914" h="81914">
                <a:moveTo>
                  <a:pt x="40894" y="0"/>
                </a:moveTo>
                <a:lnTo>
                  <a:pt x="24967" y="3210"/>
                </a:lnTo>
                <a:lnTo>
                  <a:pt x="11969" y="11969"/>
                </a:lnTo>
                <a:lnTo>
                  <a:pt x="3210" y="24967"/>
                </a:lnTo>
                <a:lnTo>
                  <a:pt x="0" y="40893"/>
                </a:lnTo>
                <a:lnTo>
                  <a:pt x="3210" y="56747"/>
                </a:lnTo>
                <a:lnTo>
                  <a:pt x="11969" y="69707"/>
                </a:lnTo>
                <a:lnTo>
                  <a:pt x="24967" y="78452"/>
                </a:lnTo>
                <a:lnTo>
                  <a:pt x="40894" y="81660"/>
                </a:lnTo>
                <a:lnTo>
                  <a:pt x="56747" y="78452"/>
                </a:lnTo>
                <a:lnTo>
                  <a:pt x="69707" y="69707"/>
                </a:lnTo>
                <a:lnTo>
                  <a:pt x="78452" y="56747"/>
                </a:lnTo>
                <a:lnTo>
                  <a:pt x="81661" y="40893"/>
                </a:lnTo>
                <a:lnTo>
                  <a:pt x="78452" y="24967"/>
                </a:lnTo>
                <a:lnTo>
                  <a:pt x="69707" y="11969"/>
                </a:lnTo>
                <a:lnTo>
                  <a:pt x="56747" y="3210"/>
                </a:lnTo>
                <a:lnTo>
                  <a:pt x="40894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3838955" y="1895094"/>
            <a:ext cx="81915" cy="81915"/>
          </a:xfrm>
          <a:custGeom>
            <a:avLst/>
            <a:gdLst/>
            <a:ahLst/>
            <a:cxnLst/>
            <a:rect l="l" t="t" r="r" b="b"/>
            <a:pathLst>
              <a:path w="81914" h="81914">
                <a:moveTo>
                  <a:pt x="0" y="40893"/>
                </a:moveTo>
                <a:lnTo>
                  <a:pt x="3210" y="24967"/>
                </a:lnTo>
                <a:lnTo>
                  <a:pt x="11969" y="11969"/>
                </a:lnTo>
                <a:lnTo>
                  <a:pt x="24967" y="3210"/>
                </a:lnTo>
                <a:lnTo>
                  <a:pt x="40894" y="0"/>
                </a:lnTo>
                <a:lnTo>
                  <a:pt x="56747" y="3210"/>
                </a:lnTo>
                <a:lnTo>
                  <a:pt x="69707" y="11969"/>
                </a:lnTo>
                <a:lnTo>
                  <a:pt x="78452" y="24967"/>
                </a:lnTo>
                <a:lnTo>
                  <a:pt x="81661" y="40893"/>
                </a:lnTo>
                <a:lnTo>
                  <a:pt x="78452" y="56747"/>
                </a:lnTo>
                <a:lnTo>
                  <a:pt x="69707" y="69707"/>
                </a:lnTo>
                <a:lnTo>
                  <a:pt x="56747" y="78452"/>
                </a:lnTo>
                <a:lnTo>
                  <a:pt x="40894" y="81660"/>
                </a:lnTo>
                <a:lnTo>
                  <a:pt x="24967" y="78452"/>
                </a:lnTo>
                <a:lnTo>
                  <a:pt x="11969" y="69707"/>
                </a:lnTo>
                <a:lnTo>
                  <a:pt x="3210" y="56747"/>
                </a:lnTo>
                <a:lnTo>
                  <a:pt x="0" y="40893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3935857" y="1895094"/>
            <a:ext cx="81915" cy="81915"/>
          </a:xfrm>
          <a:custGeom>
            <a:avLst/>
            <a:gdLst/>
            <a:ahLst/>
            <a:cxnLst/>
            <a:rect l="l" t="t" r="r" b="b"/>
            <a:pathLst>
              <a:path w="81914" h="81914">
                <a:moveTo>
                  <a:pt x="40893" y="0"/>
                </a:moveTo>
                <a:lnTo>
                  <a:pt x="24967" y="3210"/>
                </a:lnTo>
                <a:lnTo>
                  <a:pt x="11969" y="11969"/>
                </a:lnTo>
                <a:lnTo>
                  <a:pt x="3210" y="24967"/>
                </a:lnTo>
                <a:lnTo>
                  <a:pt x="0" y="40893"/>
                </a:lnTo>
                <a:lnTo>
                  <a:pt x="3210" y="56747"/>
                </a:lnTo>
                <a:lnTo>
                  <a:pt x="11969" y="69707"/>
                </a:lnTo>
                <a:lnTo>
                  <a:pt x="24967" y="78452"/>
                </a:lnTo>
                <a:lnTo>
                  <a:pt x="40893" y="81660"/>
                </a:lnTo>
                <a:lnTo>
                  <a:pt x="56747" y="78452"/>
                </a:lnTo>
                <a:lnTo>
                  <a:pt x="69707" y="69707"/>
                </a:lnTo>
                <a:lnTo>
                  <a:pt x="78452" y="56747"/>
                </a:lnTo>
                <a:lnTo>
                  <a:pt x="81660" y="40893"/>
                </a:lnTo>
                <a:lnTo>
                  <a:pt x="78452" y="24967"/>
                </a:lnTo>
                <a:lnTo>
                  <a:pt x="69707" y="11969"/>
                </a:lnTo>
                <a:lnTo>
                  <a:pt x="56747" y="3210"/>
                </a:lnTo>
                <a:lnTo>
                  <a:pt x="40893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3935857" y="1895094"/>
            <a:ext cx="81915" cy="81915"/>
          </a:xfrm>
          <a:custGeom>
            <a:avLst/>
            <a:gdLst/>
            <a:ahLst/>
            <a:cxnLst/>
            <a:rect l="l" t="t" r="r" b="b"/>
            <a:pathLst>
              <a:path w="81914" h="81914">
                <a:moveTo>
                  <a:pt x="0" y="40893"/>
                </a:moveTo>
                <a:lnTo>
                  <a:pt x="3210" y="24967"/>
                </a:lnTo>
                <a:lnTo>
                  <a:pt x="11969" y="11969"/>
                </a:lnTo>
                <a:lnTo>
                  <a:pt x="24967" y="3210"/>
                </a:lnTo>
                <a:lnTo>
                  <a:pt x="40893" y="0"/>
                </a:lnTo>
                <a:lnTo>
                  <a:pt x="56747" y="3210"/>
                </a:lnTo>
                <a:lnTo>
                  <a:pt x="69707" y="11969"/>
                </a:lnTo>
                <a:lnTo>
                  <a:pt x="78452" y="24967"/>
                </a:lnTo>
                <a:lnTo>
                  <a:pt x="81660" y="40893"/>
                </a:lnTo>
                <a:lnTo>
                  <a:pt x="78452" y="56747"/>
                </a:lnTo>
                <a:lnTo>
                  <a:pt x="69707" y="69707"/>
                </a:lnTo>
                <a:lnTo>
                  <a:pt x="56747" y="78452"/>
                </a:lnTo>
                <a:lnTo>
                  <a:pt x="40893" y="81660"/>
                </a:lnTo>
                <a:lnTo>
                  <a:pt x="24967" y="78452"/>
                </a:lnTo>
                <a:lnTo>
                  <a:pt x="11969" y="69707"/>
                </a:lnTo>
                <a:lnTo>
                  <a:pt x="3210" y="56747"/>
                </a:lnTo>
                <a:lnTo>
                  <a:pt x="0" y="40893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3262248" y="167640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748" y="0"/>
                </a:moveTo>
                <a:lnTo>
                  <a:pt x="97617" y="7287"/>
                </a:lnTo>
                <a:lnTo>
                  <a:pt x="58430" y="27578"/>
                </a:lnTo>
                <a:lnTo>
                  <a:pt x="27533" y="58512"/>
                </a:lnTo>
                <a:lnTo>
                  <a:pt x="7274" y="97731"/>
                </a:lnTo>
                <a:lnTo>
                  <a:pt x="0" y="142875"/>
                </a:lnTo>
                <a:lnTo>
                  <a:pt x="7274" y="188018"/>
                </a:lnTo>
                <a:lnTo>
                  <a:pt x="27533" y="227237"/>
                </a:lnTo>
                <a:lnTo>
                  <a:pt x="58430" y="258171"/>
                </a:lnTo>
                <a:lnTo>
                  <a:pt x="97617" y="278462"/>
                </a:lnTo>
                <a:lnTo>
                  <a:pt x="142748" y="285750"/>
                </a:lnTo>
                <a:lnTo>
                  <a:pt x="187940" y="278462"/>
                </a:lnTo>
                <a:lnTo>
                  <a:pt x="227165" y="258171"/>
                </a:lnTo>
                <a:lnTo>
                  <a:pt x="258081" y="227237"/>
                </a:lnTo>
                <a:lnTo>
                  <a:pt x="278347" y="188018"/>
                </a:lnTo>
                <a:lnTo>
                  <a:pt x="285623" y="142875"/>
                </a:lnTo>
                <a:lnTo>
                  <a:pt x="278347" y="97731"/>
                </a:lnTo>
                <a:lnTo>
                  <a:pt x="258081" y="58512"/>
                </a:lnTo>
                <a:lnTo>
                  <a:pt x="227165" y="27578"/>
                </a:lnTo>
                <a:lnTo>
                  <a:pt x="187940" y="7287"/>
                </a:lnTo>
                <a:lnTo>
                  <a:pt x="142748" y="0"/>
                </a:lnTo>
                <a:close/>
              </a:path>
            </a:pathLst>
          </a:custGeom>
          <a:solidFill>
            <a:srgbClr val="FF99FF">
              <a:alpha val="8392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3262248" y="167640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142875"/>
                </a:moveTo>
                <a:lnTo>
                  <a:pt x="7274" y="97731"/>
                </a:lnTo>
                <a:lnTo>
                  <a:pt x="27533" y="58512"/>
                </a:lnTo>
                <a:lnTo>
                  <a:pt x="58430" y="27578"/>
                </a:lnTo>
                <a:lnTo>
                  <a:pt x="97617" y="7287"/>
                </a:lnTo>
                <a:lnTo>
                  <a:pt x="142748" y="0"/>
                </a:lnTo>
                <a:lnTo>
                  <a:pt x="187940" y="7287"/>
                </a:lnTo>
                <a:lnTo>
                  <a:pt x="227165" y="27578"/>
                </a:lnTo>
                <a:lnTo>
                  <a:pt x="258081" y="58512"/>
                </a:lnTo>
                <a:lnTo>
                  <a:pt x="278347" y="97731"/>
                </a:lnTo>
                <a:lnTo>
                  <a:pt x="285623" y="142875"/>
                </a:lnTo>
                <a:lnTo>
                  <a:pt x="278347" y="188018"/>
                </a:lnTo>
                <a:lnTo>
                  <a:pt x="258081" y="227237"/>
                </a:lnTo>
                <a:lnTo>
                  <a:pt x="227165" y="258171"/>
                </a:lnTo>
                <a:lnTo>
                  <a:pt x="187940" y="278462"/>
                </a:lnTo>
                <a:lnTo>
                  <a:pt x="142748" y="285750"/>
                </a:lnTo>
                <a:lnTo>
                  <a:pt x="97617" y="278462"/>
                </a:lnTo>
                <a:lnTo>
                  <a:pt x="58430" y="258171"/>
                </a:lnTo>
                <a:lnTo>
                  <a:pt x="27533" y="227237"/>
                </a:lnTo>
                <a:lnTo>
                  <a:pt x="7274" y="188018"/>
                </a:lnTo>
                <a:lnTo>
                  <a:pt x="0" y="142875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3384677" y="1977517"/>
            <a:ext cx="0" cy="530860"/>
          </a:xfrm>
          <a:custGeom>
            <a:avLst/>
            <a:gdLst/>
            <a:ahLst/>
            <a:cxnLst/>
            <a:rect l="l" t="t" r="r" b="b"/>
            <a:pathLst>
              <a:path h="530860">
                <a:moveTo>
                  <a:pt x="0" y="0"/>
                </a:moveTo>
                <a:lnTo>
                  <a:pt x="0" y="530606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3402457" y="2084577"/>
            <a:ext cx="163830" cy="122555"/>
          </a:xfrm>
          <a:custGeom>
            <a:avLst/>
            <a:gdLst/>
            <a:ahLst/>
            <a:cxnLst/>
            <a:rect l="l" t="t" r="r" b="b"/>
            <a:pathLst>
              <a:path w="163829" h="122555">
                <a:moveTo>
                  <a:pt x="0" y="122555"/>
                </a:moveTo>
                <a:lnTo>
                  <a:pt x="163321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3160267" y="2002917"/>
            <a:ext cx="204470" cy="204470"/>
          </a:xfrm>
          <a:custGeom>
            <a:avLst/>
            <a:gdLst/>
            <a:ahLst/>
            <a:cxnLst/>
            <a:rect l="l" t="t" r="r" b="b"/>
            <a:pathLst>
              <a:path w="204470" h="204469">
                <a:moveTo>
                  <a:pt x="203961" y="204216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3048000" y="2518282"/>
            <a:ext cx="326390" cy="285750"/>
          </a:xfrm>
          <a:custGeom>
            <a:avLst/>
            <a:gdLst/>
            <a:ahLst/>
            <a:cxnLst/>
            <a:rect l="l" t="t" r="r" b="b"/>
            <a:pathLst>
              <a:path w="326389" h="285750">
                <a:moveTo>
                  <a:pt x="326389" y="0"/>
                </a:moveTo>
                <a:lnTo>
                  <a:pt x="0" y="28575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3392296" y="2520950"/>
            <a:ext cx="278130" cy="298450"/>
          </a:xfrm>
          <a:custGeom>
            <a:avLst/>
            <a:gdLst/>
            <a:ahLst/>
            <a:cxnLst/>
            <a:rect l="l" t="t" r="r" b="b"/>
            <a:pathLst>
              <a:path w="278129" h="298450">
                <a:moveTo>
                  <a:pt x="0" y="0"/>
                </a:moveTo>
                <a:lnTo>
                  <a:pt x="278002" y="29845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3337433" y="1829307"/>
            <a:ext cx="120650" cy="95250"/>
          </a:xfrm>
          <a:custGeom>
            <a:avLst/>
            <a:gdLst/>
            <a:ahLst/>
            <a:cxnLst/>
            <a:rect l="l" t="t" r="r" b="b"/>
            <a:pathLst>
              <a:path w="120650" h="95250">
                <a:moveTo>
                  <a:pt x="120395" y="0"/>
                </a:moveTo>
                <a:lnTo>
                  <a:pt x="0" y="22097"/>
                </a:lnTo>
                <a:lnTo>
                  <a:pt x="9610" y="39149"/>
                </a:lnTo>
                <a:lnTo>
                  <a:pt x="23352" y="64500"/>
                </a:lnTo>
                <a:lnTo>
                  <a:pt x="39165" y="86873"/>
                </a:lnTo>
                <a:lnTo>
                  <a:pt x="54990" y="94995"/>
                </a:lnTo>
                <a:lnTo>
                  <a:pt x="70479" y="85028"/>
                </a:lnTo>
                <a:lnTo>
                  <a:pt x="86693" y="63261"/>
                </a:lnTo>
                <a:lnTo>
                  <a:pt x="103407" y="33613"/>
                </a:lnTo>
                <a:lnTo>
                  <a:pt x="120395" y="0"/>
                </a:lnTo>
                <a:close/>
              </a:path>
            </a:pathLst>
          </a:custGeom>
          <a:solidFill>
            <a:srgbClr val="FF99FF">
              <a:alpha val="8392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3337433" y="1829307"/>
            <a:ext cx="120650" cy="95250"/>
          </a:xfrm>
          <a:custGeom>
            <a:avLst/>
            <a:gdLst/>
            <a:ahLst/>
            <a:cxnLst/>
            <a:rect l="l" t="t" r="r" b="b"/>
            <a:pathLst>
              <a:path w="120650" h="95250">
                <a:moveTo>
                  <a:pt x="120395" y="0"/>
                </a:moveTo>
                <a:lnTo>
                  <a:pt x="103407" y="33613"/>
                </a:lnTo>
                <a:lnTo>
                  <a:pt x="86693" y="63261"/>
                </a:lnTo>
                <a:lnTo>
                  <a:pt x="70479" y="85028"/>
                </a:lnTo>
                <a:lnTo>
                  <a:pt x="54990" y="94995"/>
                </a:lnTo>
                <a:lnTo>
                  <a:pt x="39165" y="86873"/>
                </a:lnTo>
                <a:lnTo>
                  <a:pt x="23352" y="64500"/>
                </a:lnTo>
                <a:lnTo>
                  <a:pt x="9610" y="39149"/>
                </a:lnTo>
                <a:lnTo>
                  <a:pt x="0" y="22097"/>
                </a:lnTo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3305555" y="1742694"/>
            <a:ext cx="81915" cy="81915"/>
          </a:xfrm>
          <a:custGeom>
            <a:avLst/>
            <a:gdLst/>
            <a:ahLst/>
            <a:cxnLst/>
            <a:rect l="l" t="t" r="r" b="b"/>
            <a:pathLst>
              <a:path w="81914" h="81914">
                <a:moveTo>
                  <a:pt x="40894" y="0"/>
                </a:moveTo>
                <a:lnTo>
                  <a:pt x="24967" y="3210"/>
                </a:lnTo>
                <a:lnTo>
                  <a:pt x="11969" y="11969"/>
                </a:lnTo>
                <a:lnTo>
                  <a:pt x="3210" y="24967"/>
                </a:lnTo>
                <a:lnTo>
                  <a:pt x="0" y="40893"/>
                </a:lnTo>
                <a:lnTo>
                  <a:pt x="3210" y="56747"/>
                </a:lnTo>
                <a:lnTo>
                  <a:pt x="11969" y="69707"/>
                </a:lnTo>
                <a:lnTo>
                  <a:pt x="24967" y="78452"/>
                </a:lnTo>
                <a:lnTo>
                  <a:pt x="40894" y="81660"/>
                </a:lnTo>
                <a:lnTo>
                  <a:pt x="56747" y="78452"/>
                </a:lnTo>
                <a:lnTo>
                  <a:pt x="69707" y="69707"/>
                </a:lnTo>
                <a:lnTo>
                  <a:pt x="78452" y="56747"/>
                </a:lnTo>
                <a:lnTo>
                  <a:pt x="81661" y="40893"/>
                </a:lnTo>
                <a:lnTo>
                  <a:pt x="78452" y="24967"/>
                </a:lnTo>
                <a:lnTo>
                  <a:pt x="69707" y="11969"/>
                </a:lnTo>
                <a:lnTo>
                  <a:pt x="56747" y="3210"/>
                </a:lnTo>
                <a:lnTo>
                  <a:pt x="40894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3305555" y="1742694"/>
            <a:ext cx="81915" cy="81915"/>
          </a:xfrm>
          <a:custGeom>
            <a:avLst/>
            <a:gdLst/>
            <a:ahLst/>
            <a:cxnLst/>
            <a:rect l="l" t="t" r="r" b="b"/>
            <a:pathLst>
              <a:path w="81914" h="81914">
                <a:moveTo>
                  <a:pt x="0" y="40893"/>
                </a:moveTo>
                <a:lnTo>
                  <a:pt x="3210" y="24967"/>
                </a:lnTo>
                <a:lnTo>
                  <a:pt x="11969" y="11969"/>
                </a:lnTo>
                <a:lnTo>
                  <a:pt x="24967" y="3210"/>
                </a:lnTo>
                <a:lnTo>
                  <a:pt x="40894" y="0"/>
                </a:lnTo>
                <a:lnTo>
                  <a:pt x="56747" y="3210"/>
                </a:lnTo>
                <a:lnTo>
                  <a:pt x="69707" y="11969"/>
                </a:lnTo>
                <a:lnTo>
                  <a:pt x="78452" y="24967"/>
                </a:lnTo>
                <a:lnTo>
                  <a:pt x="81661" y="40893"/>
                </a:lnTo>
                <a:lnTo>
                  <a:pt x="78452" y="56747"/>
                </a:lnTo>
                <a:lnTo>
                  <a:pt x="69707" y="69707"/>
                </a:lnTo>
                <a:lnTo>
                  <a:pt x="56747" y="78452"/>
                </a:lnTo>
                <a:lnTo>
                  <a:pt x="40894" y="81660"/>
                </a:lnTo>
                <a:lnTo>
                  <a:pt x="24967" y="78452"/>
                </a:lnTo>
                <a:lnTo>
                  <a:pt x="11969" y="69707"/>
                </a:lnTo>
                <a:lnTo>
                  <a:pt x="3210" y="56747"/>
                </a:lnTo>
                <a:lnTo>
                  <a:pt x="0" y="40893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3402457" y="1742694"/>
            <a:ext cx="81915" cy="81915"/>
          </a:xfrm>
          <a:custGeom>
            <a:avLst/>
            <a:gdLst/>
            <a:ahLst/>
            <a:cxnLst/>
            <a:rect l="l" t="t" r="r" b="b"/>
            <a:pathLst>
              <a:path w="81914" h="81914">
                <a:moveTo>
                  <a:pt x="40893" y="0"/>
                </a:moveTo>
                <a:lnTo>
                  <a:pt x="24967" y="3210"/>
                </a:lnTo>
                <a:lnTo>
                  <a:pt x="11969" y="11969"/>
                </a:lnTo>
                <a:lnTo>
                  <a:pt x="3210" y="24967"/>
                </a:lnTo>
                <a:lnTo>
                  <a:pt x="0" y="40893"/>
                </a:lnTo>
                <a:lnTo>
                  <a:pt x="3210" y="56747"/>
                </a:lnTo>
                <a:lnTo>
                  <a:pt x="11969" y="69707"/>
                </a:lnTo>
                <a:lnTo>
                  <a:pt x="24967" y="78452"/>
                </a:lnTo>
                <a:lnTo>
                  <a:pt x="40893" y="81660"/>
                </a:lnTo>
                <a:lnTo>
                  <a:pt x="56747" y="78452"/>
                </a:lnTo>
                <a:lnTo>
                  <a:pt x="69707" y="69707"/>
                </a:lnTo>
                <a:lnTo>
                  <a:pt x="78452" y="56747"/>
                </a:lnTo>
                <a:lnTo>
                  <a:pt x="81660" y="40893"/>
                </a:lnTo>
                <a:lnTo>
                  <a:pt x="78452" y="24967"/>
                </a:lnTo>
                <a:lnTo>
                  <a:pt x="69707" y="11969"/>
                </a:lnTo>
                <a:lnTo>
                  <a:pt x="56747" y="3210"/>
                </a:lnTo>
                <a:lnTo>
                  <a:pt x="40893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3402457" y="1742694"/>
            <a:ext cx="81915" cy="81915"/>
          </a:xfrm>
          <a:custGeom>
            <a:avLst/>
            <a:gdLst/>
            <a:ahLst/>
            <a:cxnLst/>
            <a:rect l="l" t="t" r="r" b="b"/>
            <a:pathLst>
              <a:path w="81914" h="81914">
                <a:moveTo>
                  <a:pt x="0" y="40893"/>
                </a:moveTo>
                <a:lnTo>
                  <a:pt x="3210" y="24967"/>
                </a:lnTo>
                <a:lnTo>
                  <a:pt x="11969" y="11969"/>
                </a:lnTo>
                <a:lnTo>
                  <a:pt x="24967" y="3210"/>
                </a:lnTo>
                <a:lnTo>
                  <a:pt x="40893" y="0"/>
                </a:lnTo>
                <a:lnTo>
                  <a:pt x="56747" y="3210"/>
                </a:lnTo>
                <a:lnTo>
                  <a:pt x="69707" y="11969"/>
                </a:lnTo>
                <a:lnTo>
                  <a:pt x="78452" y="24967"/>
                </a:lnTo>
                <a:lnTo>
                  <a:pt x="81660" y="40893"/>
                </a:lnTo>
                <a:lnTo>
                  <a:pt x="78452" y="56747"/>
                </a:lnTo>
                <a:lnTo>
                  <a:pt x="69707" y="69707"/>
                </a:lnTo>
                <a:lnTo>
                  <a:pt x="56747" y="78452"/>
                </a:lnTo>
                <a:lnTo>
                  <a:pt x="40893" y="81660"/>
                </a:lnTo>
                <a:lnTo>
                  <a:pt x="24967" y="78452"/>
                </a:lnTo>
                <a:lnTo>
                  <a:pt x="11969" y="69707"/>
                </a:lnTo>
                <a:lnTo>
                  <a:pt x="3210" y="56747"/>
                </a:lnTo>
                <a:lnTo>
                  <a:pt x="0" y="40893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2874517" y="3074923"/>
            <a:ext cx="326390" cy="471805"/>
          </a:xfrm>
          <a:custGeom>
            <a:avLst/>
            <a:gdLst/>
            <a:ahLst/>
            <a:cxnLst/>
            <a:rect l="l" t="t" r="r" b="b"/>
            <a:pathLst>
              <a:path w="326389" h="471804">
                <a:moveTo>
                  <a:pt x="220249" y="112796"/>
                </a:moveTo>
                <a:lnTo>
                  <a:pt x="0" y="443229"/>
                </a:lnTo>
                <a:lnTo>
                  <a:pt x="42163" y="471297"/>
                </a:lnTo>
                <a:lnTo>
                  <a:pt x="262476" y="140948"/>
                </a:lnTo>
                <a:lnTo>
                  <a:pt x="220249" y="112796"/>
                </a:lnTo>
                <a:close/>
              </a:path>
              <a:path w="326389" h="471804">
                <a:moveTo>
                  <a:pt x="314454" y="91693"/>
                </a:moveTo>
                <a:lnTo>
                  <a:pt x="234314" y="91693"/>
                </a:lnTo>
                <a:lnTo>
                  <a:pt x="276606" y="119761"/>
                </a:lnTo>
                <a:lnTo>
                  <a:pt x="262476" y="140948"/>
                </a:lnTo>
                <a:lnTo>
                  <a:pt x="304800" y="169163"/>
                </a:lnTo>
                <a:lnTo>
                  <a:pt x="314454" y="91693"/>
                </a:lnTo>
                <a:close/>
              </a:path>
              <a:path w="326389" h="471804">
                <a:moveTo>
                  <a:pt x="234314" y="91693"/>
                </a:moveTo>
                <a:lnTo>
                  <a:pt x="220249" y="112796"/>
                </a:lnTo>
                <a:lnTo>
                  <a:pt x="262476" y="140948"/>
                </a:lnTo>
                <a:lnTo>
                  <a:pt x="276606" y="119761"/>
                </a:lnTo>
                <a:lnTo>
                  <a:pt x="234314" y="91693"/>
                </a:lnTo>
                <a:close/>
              </a:path>
              <a:path w="326389" h="471804">
                <a:moveTo>
                  <a:pt x="325881" y="0"/>
                </a:moveTo>
                <a:lnTo>
                  <a:pt x="177926" y="84581"/>
                </a:lnTo>
                <a:lnTo>
                  <a:pt x="220249" y="112796"/>
                </a:lnTo>
                <a:lnTo>
                  <a:pt x="234314" y="91693"/>
                </a:lnTo>
                <a:lnTo>
                  <a:pt x="314454" y="91693"/>
                </a:lnTo>
                <a:lnTo>
                  <a:pt x="3258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2894964" y="3383279"/>
            <a:ext cx="3353435" cy="174625"/>
          </a:xfrm>
          <a:custGeom>
            <a:avLst/>
            <a:gdLst/>
            <a:ahLst/>
            <a:cxnLst/>
            <a:rect l="l" t="t" r="r" b="b"/>
            <a:pathLst>
              <a:path w="3353435" h="174625">
                <a:moveTo>
                  <a:pt x="3200525" y="50743"/>
                </a:moveTo>
                <a:lnTo>
                  <a:pt x="0" y="123571"/>
                </a:lnTo>
                <a:lnTo>
                  <a:pt x="1270" y="174244"/>
                </a:lnTo>
                <a:lnTo>
                  <a:pt x="3201668" y="101542"/>
                </a:lnTo>
                <a:lnTo>
                  <a:pt x="3200525" y="50743"/>
                </a:lnTo>
                <a:close/>
              </a:path>
              <a:path w="3353435" h="174625">
                <a:moveTo>
                  <a:pt x="3305765" y="50165"/>
                </a:moveTo>
                <a:lnTo>
                  <a:pt x="3225927" y="50165"/>
                </a:lnTo>
                <a:lnTo>
                  <a:pt x="3227070" y="100965"/>
                </a:lnTo>
                <a:lnTo>
                  <a:pt x="3201668" y="101542"/>
                </a:lnTo>
                <a:lnTo>
                  <a:pt x="3202813" y="152400"/>
                </a:lnTo>
                <a:lnTo>
                  <a:pt x="3353435" y="72644"/>
                </a:lnTo>
                <a:lnTo>
                  <a:pt x="3305765" y="50165"/>
                </a:lnTo>
                <a:close/>
              </a:path>
              <a:path w="3353435" h="174625">
                <a:moveTo>
                  <a:pt x="3225927" y="50165"/>
                </a:moveTo>
                <a:lnTo>
                  <a:pt x="3200525" y="50743"/>
                </a:lnTo>
                <a:lnTo>
                  <a:pt x="3201668" y="101542"/>
                </a:lnTo>
                <a:lnTo>
                  <a:pt x="3227070" y="100965"/>
                </a:lnTo>
                <a:lnTo>
                  <a:pt x="3225927" y="50165"/>
                </a:lnTo>
                <a:close/>
              </a:path>
              <a:path w="3353435" h="174625">
                <a:moveTo>
                  <a:pt x="3199384" y="0"/>
                </a:moveTo>
                <a:lnTo>
                  <a:pt x="3200525" y="50743"/>
                </a:lnTo>
                <a:lnTo>
                  <a:pt x="3225927" y="50165"/>
                </a:lnTo>
                <a:lnTo>
                  <a:pt x="3305765" y="50165"/>
                </a:lnTo>
                <a:lnTo>
                  <a:pt x="31993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2590800" y="160020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lnTo>
                  <a:pt x="97731" y="7287"/>
                </a:lnTo>
                <a:lnTo>
                  <a:pt x="58512" y="27578"/>
                </a:lnTo>
                <a:lnTo>
                  <a:pt x="27578" y="58512"/>
                </a:lnTo>
                <a:lnTo>
                  <a:pt x="7287" y="97731"/>
                </a:lnTo>
                <a:lnTo>
                  <a:pt x="0" y="142875"/>
                </a:lnTo>
                <a:lnTo>
                  <a:pt x="7287" y="188018"/>
                </a:lnTo>
                <a:lnTo>
                  <a:pt x="27578" y="227237"/>
                </a:lnTo>
                <a:lnTo>
                  <a:pt x="58512" y="258171"/>
                </a:lnTo>
                <a:lnTo>
                  <a:pt x="97731" y="278462"/>
                </a:lnTo>
                <a:lnTo>
                  <a:pt x="142875" y="285750"/>
                </a:lnTo>
                <a:lnTo>
                  <a:pt x="188018" y="278462"/>
                </a:lnTo>
                <a:lnTo>
                  <a:pt x="227237" y="258171"/>
                </a:lnTo>
                <a:lnTo>
                  <a:pt x="258171" y="227237"/>
                </a:lnTo>
                <a:lnTo>
                  <a:pt x="278462" y="188018"/>
                </a:lnTo>
                <a:lnTo>
                  <a:pt x="285750" y="142875"/>
                </a:lnTo>
                <a:lnTo>
                  <a:pt x="278462" y="97731"/>
                </a:lnTo>
                <a:lnTo>
                  <a:pt x="258171" y="58512"/>
                </a:lnTo>
                <a:lnTo>
                  <a:pt x="227237" y="27578"/>
                </a:lnTo>
                <a:lnTo>
                  <a:pt x="188018" y="7287"/>
                </a:lnTo>
                <a:lnTo>
                  <a:pt x="142875" y="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2590800" y="160020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142875"/>
                </a:moveTo>
                <a:lnTo>
                  <a:pt x="7287" y="97731"/>
                </a:lnTo>
                <a:lnTo>
                  <a:pt x="27578" y="58512"/>
                </a:lnTo>
                <a:lnTo>
                  <a:pt x="58512" y="27578"/>
                </a:lnTo>
                <a:lnTo>
                  <a:pt x="97731" y="7287"/>
                </a:lnTo>
                <a:lnTo>
                  <a:pt x="142875" y="0"/>
                </a:lnTo>
                <a:lnTo>
                  <a:pt x="188018" y="7287"/>
                </a:lnTo>
                <a:lnTo>
                  <a:pt x="227237" y="27578"/>
                </a:lnTo>
                <a:lnTo>
                  <a:pt x="258171" y="58512"/>
                </a:lnTo>
                <a:lnTo>
                  <a:pt x="278462" y="97731"/>
                </a:lnTo>
                <a:lnTo>
                  <a:pt x="285750" y="142875"/>
                </a:lnTo>
                <a:lnTo>
                  <a:pt x="278462" y="188018"/>
                </a:lnTo>
                <a:lnTo>
                  <a:pt x="258171" y="227237"/>
                </a:lnTo>
                <a:lnTo>
                  <a:pt x="227237" y="258171"/>
                </a:lnTo>
                <a:lnTo>
                  <a:pt x="188018" y="278462"/>
                </a:lnTo>
                <a:lnTo>
                  <a:pt x="142875" y="285750"/>
                </a:lnTo>
                <a:lnTo>
                  <a:pt x="97731" y="278462"/>
                </a:lnTo>
                <a:lnTo>
                  <a:pt x="58512" y="258171"/>
                </a:lnTo>
                <a:lnTo>
                  <a:pt x="27578" y="227237"/>
                </a:lnTo>
                <a:lnTo>
                  <a:pt x="7287" y="188018"/>
                </a:lnTo>
                <a:lnTo>
                  <a:pt x="0" y="142875"/>
                </a:lnTo>
                <a:close/>
              </a:path>
            </a:pathLst>
          </a:custGeom>
          <a:solidFill>
            <a:srgbClr val="DF3801"/>
          </a:solidFill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2651125" y="1753361"/>
            <a:ext cx="120650" cy="94615"/>
          </a:xfrm>
          <a:custGeom>
            <a:avLst/>
            <a:gdLst/>
            <a:ahLst/>
            <a:cxnLst/>
            <a:rect l="l" t="t" r="r" b="b"/>
            <a:pathLst>
              <a:path w="120650" h="94614">
                <a:moveTo>
                  <a:pt x="120268" y="0"/>
                </a:moveTo>
                <a:lnTo>
                  <a:pt x="0" y="22098"/>
                </a:lnTo>
                <a:lnTo>
                  <a:pt x="9588" y="38943"/>
                </a:lnTo>
                <a:lnTo>
                  <a:pt x="23272" y="64087"/>
                </a:lnTo>
                <a:lnTo>
                  <a:pt x="39004" y="86302"/>
                </a:lnTo>
                <a:lnTo>
                  <a:pt x="54737" y="94361"/>
                </a:lnTo>
                <a:lnTo>
                  <a:pt x="70244" y="84439"/>
                </a:lnTo>
                <a:lnTo>
                  <a:pt x="86502" y="62801"/>
                </a:lnTo>
                <a:lnTo>
                  <a:pt x="103260" y="33353"/>
                </a:lnTo>
                <a:lnTo>
                  <a:pt x="120268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2651125" y="1753361"/>
            <a:ext cx="120650" cy="94615"/>
          </a:xfrm>
          <a:custGeom>
            <a:avLst/>
            <a:gdLst/>
            <a:ahLst/>
            <a:cxnLst/>
            <a:rect l="l" t="t" r="r" b="b"/>
            <a:pathLst>
              <a:path w="120650" h="94614">
                <a:moveTo>
                  <a:pt x="120268" y="0"/>
                </a:moveTo>
                <a:lnTo>
                  <a:pt x="103260" y="33353"/>
                </a:lnTo>
                <a:lnTo>
                  <a:pt x="86502" y="62801"/>
                </a:lnTo>
                <a:lnTo>
                  <a:pt x="70244" y="84439"/>
                </a:lnTo>
                <a:lnTo>
                  <a:pt x="54737" y="94361"/>
                </a:lnTo>
                <a:lnTo>
                  <a:pt x="39004" y="86302"/>
                </a:lnTo>
                <a:lnTo>
                  <a:pt x="23272" y="64087"/>
                </a:lnTo>
                <a:lnTo>
                  <a:pt x="9588" y="38943"/>
                </a:lnTo>
                <a:lnTo>
                  <a:pt x="0" y="2209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2698750" y="1901825"/>
            <a:ext cx="0" cy="530225"/>
          </a:xfrm>
          <a:custGeom>
            <a:avLst/>
            <a:gdLst/>
            <a:ahLst/>
            <a:cxnLst/>
            <a:rect l="l" t="t" r="r" b="b"/>
            <a:pathLst>
              <a:path h="530225">
                <a:moveTo>
                  <a:pt x="0" y="0"/>
                </a:moveTo>
                <a:lnTo>
                  <a:pt x="0" y="53022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2716276" y="2008251"/>
            <a:ext cx="163830" cy="122555"/>
          </a:xfrm>
          <a:custGeom>
            <a:avLst/>
            <a:gdLst/>
            <a:ahLst/>
            <a:cxnLst/>
            <a:rect l="l" t="t" r="r" b="b"/>
            <a:pathLst>
              <a:path w="163830" h="122555">
                <a:moveTo>
                  <a:pt x="0" y="122174"/>
                </a:moveTo>
                <a:lnTo>
                  <a:pt x="163449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2474976" y="1927225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203200" y="203200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2362200" y="2441575"/>
            <a:ext cx="327025" cy="285750"/>
          </a:xfrm>
          <a:custGeom>
            <a:avLst/>
            <a:gdLst/>
            <a:ahLst/>
            <a:cxnLst/>
            <a:rect l="l" t="t" r="r" b="b"/>
            <a:pathLst>
              <a:path w="327025" h="285750">
                <a:moveTo>
                  <a:pt x="327025" y="0"/>
                </a:moveTo>
                <a:lnTo>
                  <a:pt x="0" y="28575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2706751" y="2444750"/>
            <a:ext cx="278130" cy="298450"/>
          </a:xfrm>
          <a:custGeom>
            <a:avLst/>
            <a:gdLst/>
            <a:ahLst/>
            <a:cxnLst/>
            <a:rect l="l" t="t" r="r" b="b"/>
            <a:pathLst>
              <a:path w="278130" h="298450">
                <a:moveTo>
                  <a:pt x="0" y="0"/>
                </a:moveTo>
                <a:lnTo>
                  <a:pt x="277749" y="29845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2619375" y="1666875"/>
            <a:ext cx="82550" cy="81280"/>
          </a:xfrm>
          <a:custGeom>
            <a:avLst/>
            <a:gdLst/>
            <a:ahLst/>
            <a:cxnLst/>
            <a:rect l="l" t="t" r="r" b="b"/>
            <a:pathLst>
              <a:path w="82550" h="81280">
                <a:moveTo>
                  <a:pt x="41275" y="0"/>
                </a:moveTo>
                <a:lnTo>
                  <a:pt x="25235" y="3186"/>
                </a:lnTo>
                <a:lnTo>
                  <a:pt x="12112" y="11874"/>
                </a:lnTo>
                <a:lnTo>
                  <a:pt x="3252" y="24753"/>
                </a:lnTo>
                <a:lnTo>
                  <a:pt x="0" y="40512"/>
                </a:lnTo>
                <a:lnTo>
                  <a:pt x="3252" y="56272"/>
                </a:lnTo>
                <a:lnTo>
                  <a:pt x="12112" y="69151"/>
                </a:lnTo>
                <a:lnTo>
                  <a:pt x="25235" y="77839"/>
                </a:lnTo>
                <a:lnTo>
                  <a:pt x="41275" y="81025"/>
                </a:lnTo>
                <a:lnTo>
                  <a:pt x="57314" y="77839"/>
                </a:lnTo>
                <a:lnTo>
                  <a:pt x="70437" y="69151"/>
                </a:lnTo>
                <a:lnTo>
                  <a:pt x="79297" y="56272"/>
                </a:lnTo>
                <a:lnTo>
                  <a:pt x="82550" y="40512"/>
                </a:lnTo>
                <a:lnTo>
                  <a:pt x="79297" y="24753"/>
                </a:lnTo>
                <a:lnTo>
                  <a:pt x="70437" y="11874"/>
                </a:lnTo>
                <a:lnTo>
                  <a:pt x="57314" y="3186"/>
                </a:lnTo>
                <a:lnTo>
                  <a:pt x="41275" y="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2619375" y="1666875"/>
            <a:ext cx="82550" cy="81280"/>
          </a:xfrm>
          <a:custGeom>
            <a:avLst/>
            <a:gdLst/>
            <a:ahLst/>
            <a:cxnLst/>
            <a:rect l="l" t="t" r="r" b="b"/>
            <a:pathLst>
              <a:path w="82550" h="81280">
                <a:moveTo>
                  <a:pt x="0" y="40512"/>
                </a:moveTo>
                <a:lnTo>
                  <a:pt x="3252" y="24753"/>
                </a:lnTo>
                <a:lnTo>
                  <a:pt x="12112" y="11874"/>
                </a:lnTo>
                <a:lnTo>
                  <a:pt x="25235" y="3186"/>
                </a:lnTo>
                <a:lnTo>
                  <a:pt x="41275" y="0"/>
                </a:lnTo>
                <a:lnTo>
                  <a:pt x="57314" y="3186"/>
                </a:lnTo>
                <a:lnTo>
                  <a:pt x="70437" y="11874"/>
                </a:lnTo>
                <a:lnTo>
                  <a:pt x="79297" y="24753"/>
                </a:lnTo>
                <a:lnTo>
                  <a:pt x="82550" y="40512"/>
                </a:lnTo>
                <a:lnTo>
                  <a:pt x="79297" y="56272"/>
                </a:lnTo>
                <a:lnTo>
                  <a:pt x="70437" y="69151"/>
                </a:lnTo>
                <a:lnTo>
                  <a:pt x="57314" y="77839"/>
                </a:lnTo>
                <a:lnTo>
                  <a:pt x="41275" y="81025"/>
                </a:lnTo>
                <a:lnTo>
                  <a:pt x="25235" y="77839"/>
                </a:lnTo>
                <a:lnTo>
                  <a:pt x="12112" y="69151"/>
                </a:lnTo>
                <a:lnTo>
                  <a:pt x="3252" y="56272"/>
                </a:lnTo>
                <a:lnTo>
                  <a:pt x="0" y="40512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2716276" y="1666875"/>
            <a:ext cx="82550" cy="81280"/>
          </a:xfrm>
          <a:custGeom>
            <a:avLst/>
            <a:gdLst/>
            <a:ahLst/>
            <a:cxnLst/>
            <a:rect l="l" t="t" r="r" b="b"/>
            <a:pathLst>
              <a:path w="82550" h="81280">
                <a:moveTo>
                  <a:pt x="41275" y="0"/>
                </a:moveTo>
                <a:lnTo>
                  <a:pt x="25181" y="3186"/>
                </a:lnTo>
                <a:lnTo>
                  <a:pt x="12064" y="11874"/>
                </a:lnTo>
                <a:lnTo>
                  <a:pt x="3234" y="24753"/>
                </a:lnTo>
                <a:lnTo>
                  <a:pt x="0" y="40512"/>
                </a:lnTo>
                <a:lnTo>
                  <a:pt x="3234" y="56272"/>
                </a:lnTo>
                <a:lnTo>
                  <a:pt x="12064" y="69151"/>
                </a:lnTo>
                <a:lnTo>
                  <a:pt x="25181" y="77839"/>
                </a:lnTo>
                <a:lnTo>
                  <a:pt x="41275" y="81025"/>
                </a:lnTo>
                <a:lnTo>
                  <a:pt x="57314" y="77839"/>
                </a:lnTo>
                <a:lnTo>
                  <a:pt x="70437" y="69151"/>
                </a:lnTo>
                <a:lnTo>
                  <a:pt x="79297" y="56272"/>
                </a:lnTo>
                <a:lnTo>
                  <a:pt x="82550" y="40512"/>
                </a:lnTo>
                <a:lnTo>
                  <a:pt x="79297" y="24753"/>
                </a:lnTo>
                <a:lnTo>
                  <a:pt x="70437" y="11874"/>
                </a:lnTo>
                <a:lnTo>
                  <a:pt x="57314" y="3186"/>
                </a:lnTo>
                <a:lnTo>
                  <a:pt x="41275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2716276" y="1666875"/>
            <a:ext cx="82550" cy="81280"/>
          </a:xfrm>
          <a:custGeom>
            <a:avLst/>
            <a:gdLst/>
            <a:ahLst/>
            <a:cxnLst/>
            <a:rect l="l" t="t" r="r" b="b"/>
            <a:pathLst>
              <a:path w="82550" h="81280">
                <a:moveTo>
                  <a:pt x="0" y="40512"/>
                </a:moveTo>
                <a:lnTo>
                  <a:pt x="3234" y="24753"/>
                </a:lnTo>
                <a:lnTo>
                  <a:pt x="12064" y="11874"/>
                </a:lnTo>
                <a:lnTo>
                  <a:pt x="25181" y="3186"/>
                </a:lnTo>
                <a:lnTo>
                  <a:pt x="41275" y="0"/>
                </a:lnTo>
                <a:lnTo>
                  <a:pt x="57314" y="3186"/>
                </a:lnTo>
                <a:lnTo>
                  <a:pt x="70437" y="11874"/>
                </a:lnTo>
                <a:lnTo>
                  <a:pt x="79297" y="24753"/>
                </a:lnTo>
                <a:lnTo>
                  <a:pt x="82550" y="40512"/>
                </a:lnTo>
                <a:lnTo>
                  <a:pt x="79297" y="56272"/>
                </a:lnTo>
                <a:lnTo>
                  <a:pt x="70437" y="69151"/>
                </a:lnTo>
                <a:lnTo>
                  <a:pt x="57314" y="77839"/>
                </a:lnTo>
                <a:lnTo>
                  <a:pt x="41275" y="81025"/>
                </a:lnTo>
                <a:lnTo>
                  <a:pt x="25181" y="77839"/>
                </a:lnTo>
                <a:lnTo>
                  <a:pt x="12064" y="69151"/>
                </a:lnTo>
                <a:lnTo>
                  <a:pt x="3234" y="56272"/>
                </a:lnTo>
                <a:lnTo>
                  <a:pt x="0" y="40512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 txBox="1"/>
          <p:nvPr/>
        </p:nvSpPr>
        <p:spPr>
          <a:xfrm>
            <a:off x="6251828" y="1883409"/>
            <a:ext cx="772795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10" dirty="0">
                <a:latin typeface="Arial"/>
                <a:cs typeface="Arial"/>
              </a:rPr>
              <a:t>Cases: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1" name="object 141"/>
          <p:cNvSpPr txBox="1"/>
          <p:nvPr/>
        </p:nvSpPr>
        <p:spPr>
          <a:xfrm>
            <a:off x="7571236" y="1883409"/>
            <a:ext cx="254635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or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2" name="object 142"/>
          <p:cNvSpPr txBox="1"/>
          <p:nvPr/>
        </p:nvSpPr>
        <p:spPr>
          <a:xfrm>
            <a:off x="8433062" y="1883409"/>
            <a:ext cx="165735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?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3" name="object 143"/>
          <p:cNvSpPr txBox="1"/>
          <p:nvPr/>
        </p:nvSpPr>
        <p:spPr>
          <a:xfrm>
            <a:off x="917244" y="2035809"/>
            <a:ext cx="965835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Controls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4" name="object 144"/>
          <p:cNvSpPr/>
          <p:nvPr/>
        </p:nvSpPr>
        <p:spPr>
          <a:xfrm>
            <a:off x="7162800" y="19240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lnTo>
                  <a:pt x="97731" y="7287"/>
                </a:lnTo>
                <a:lnTo>
                  <a:pt x="58512" y="27578"/>
                </a:lnTo>
                <a:lnTo>
                  <a:pt x="27578" y="58512"/>
                </a:lnTo>
                <a:lnTo>
                  <a:pt x="7287" y="97731"/>
                </a:lnTo>
                <a:lnTo>
                  <a:pt x="0" y="142875"/>
                </a:lnTo>
                <a:lnTo>
                  <a:pt x="7287" y="188018"/>
                </a:lnTo>
                <a:lnTo>
                  <a:pt x="27578" y="227237"/>
                </a:lnTo>
                <a:lnTo>
                  <a:pt x="58512" y="258171"/>
                </a:lnTo>
                <a:lnTo>
                  <a:pt x="97731" y="278462"/>
                </a:lnTo>
                <a:lnTo>
                  <a:pt x="142875" y="285750"/>
                </a:lnTo>
                <a:lnTo>
                  <a:pt x="188018" y="278462"/>
                </a:lnTo>
                <a:lnTo>
                  <a:pt x="227237" y="258171"/>
                </a:lnTo>
                <a:lnTo>
                  <a:pt x="258171" y="227237"/>
                </a:lnTo>
                <a:lnTo>
                  <a:pt x="278462" y="188018"/>
                </a:lnTo>
                <a:lnTo>
                  <a:pt x="285750" y="142875"/>
                </a:lnTo>
                <a:lnTo>
                  <a:pt x="278462" y="97731"/>
                </a:lnTo>
                <a:lnTo>
                  <a:pt x="258171" y="58512"/>
                </a:lnTo>
                <a:lnTo>
                  <a:pt x="227237" y="27578"/>
                </a:lnTo>
                <a:lnTo>
                  <a:pt x="188018" y="7287"/>
                </a:lnTo>
                <a:lnTo>
                  <a:pt x="142875" y="0"/>
                </a:lnTo>
                <a:close/>
              </a:path>
            </a:pathLst>
          </a:custGeom>
          <a:solidFill>
            <a:srgbClr val="DF38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7162800" y="19240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142875"/>
                </a:moveTo>
                <a:lnTo>
                  <a:pt x="7287" y="97731"/>
                </a:lnTo>
                <a:lnTo>
                  <a:pt x="27578" y="58512"/>
                </a:lnTo>
                <a:lnTo>
                  <a:pt x="58512" y="27578"/>
                </a:lnTo>
                <a:lnTo>
                  <a:pt x="97731" y="7287"/>
                </a:lnTo>
                <a:lnTo>
                  <a:pt x="142875" y="0"/>
                </a:lnTo>
                <a:lnTo>
                  <a:pt x="188018" y="7287"/>
                </a:lnTo>
                <a:lnTo>
                  <a:pt x="227237" y="27578"/>
                </a:lnTo>
                <a:lnTo>
                  <a:pt x="258171" y="58512"/>
                </a:lnTo>
                <a:lnTo>
                  <a:pt x="278462" y="97731"/>
                </a:lnTo>
                <a:lnTo>
                  <a:pt x="285750" y="142875"/>
                </a:lnTo>
                <a:lnTo>
                  <a:pt x="278462" y="188018"/>
                </a:lnTo>
                <a:lnTo>
                  <a:pt x="258171" y="227237"/>
                </a:lnTo>
                <a:lnTo>
                  <a:pt x="227237" y="258171"/>
                </a:lnTo>
                <a:lnTo>
                  <a:pt x="188018" y="278462"/>
                </a:lnTo>
                <a:lnTo>
                  <a:pt x="142875" y="285750"/>
                </a:lnTo>
                <a:lnTo>
                  <a:pt x="97731" y="278462"/>
                </a:lnTo>
                <a:lnTo>
                  <a:pt x="58512" y="258171"/>
                </a:lnTo>
                <a:lnTo>
                  <a:pt x="27578" y="227237"/>
                </a:lnTo>
                <a:lnTo>
                  <a:pt x="7287" y="188018"/>
                </a:lnTo>
                <a:lnTo>
                  <a:pt x="0" y="1428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8001000" y="19240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lnTo>
                  <a:pt x="97731" y="7287"/>
                </a:lnTo>
                <a:lnTo>
                  <a:pt x="58512" y="27578"/>
                </a:lnTo>
                <a:lnTo>
                  <a:pt x="27578" y="58512"/>
                </a:lnTo>
                <a:lnTo>
                  <a:pt x="7287" y="97731"/>
                </a:lnTo>
                <a:lnTo>
                  <a:pt x="0" y="142875"/>
                </a:lnTo>
                <a:lnTo>
                  <a:pt x="7287" y="188018"/>
                </a:lnTo>
                <a:lnTo>
                  <a:pt x="27578" y="227237"/>
                </a:lnTo>
                <a:lnTo>
                  <a:pt x="58512" y="258171"/>
                </a:lnTo>
                <a:lnTo>
                  <a:pt x="97731" y="278462"/>
                </a:lnTo>
                <a:lnTo>
                  <a:pt x="142875" y="285750"/>
                </a:lnTo>
                <a:lnTo>
                  <a:pt x="188018" y="278462"/>
                </a:lnTo>
                <a:lnTo>
                  <a:pt x="227237" y="258171"/>
                </a:lnTo>
                <a:lnTo>
                  <a:pt x="258171" y="227237"/>
                </a:lnTo>
                <a:lnTo>
                  <a:pt x="278462" y="188018"/>
                </a:lnTo>
                <a:lnTo>
                  <a:pt x="285750" y="142875"/>
                </a:lnTo>
                <a:lnTo>
                  <a:pt x="278462" y="97731"/>
                </a:lnTo>
                <a:lnTo>
                  <a:pt x="258171" y="58512"/>
                </a:lnTo>
                <a:lnTo>
                  <a:pt x="227237" y="27578"/>
                </a:lnTo>
                <a:lnTo>
                  <a:pt x="188018" y="7287"/>
                </a:lnTo>
                <a:lnTo>
                  <a:pt x="142875" y="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83921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8001000" y="19240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142875"/>
                </a:moveTo>
                <a:lnTo>
                  <a:pt x="7287" y="97731"/>
                </a:lnTo>
                <a:lnTo>
                  <a:pt x="27578" y="58512"/>
                </a:lnTo>
                <a:lnTo>
                  <a:pt x="58512" y="27578"/>
                </a:lnTo>
                <a:lnTo>
                  <a:pt x="97731" y="7287"/>
                </a:lnTo>
                <a:lnTo>
                  <a:pt x="142875" y="0"/>
                </a:lnTo>
                <a:lnTo>
                  <a:pt x="188018" y="7287"/>
                </a:lnTo>
                <a:lnTo>
                  <a:pt x="227237" y="27578"/>
                </a:lnTo>
                <a:lnTo>
                  <a:pt x="258171" y="58512"/>
                </a:lnTo>
                <a:lnTo>
                  <a:pt x="278462" y="97731"/>
                </a:lnTo>
                <a:lnTo>
                  <a:pt x="285750" y="142875"/>
                </a:lnTo>
                <a:lnTo>
                  <a:pt x="278462" y="188018"/>
                </a:lnTo>
                <a:lnTo>
                  <a:pt x="258171" y="227237"/>
                </a:lnTo>
                <a:lnTo>
                  <a:pt x="227237" y="258171"/>
                </a:lnTo>
                <a:lnTo>
                  <a:pt x="188018" y="278462"/>
                </a:lnTo>
                <a:lnTo>
                  <a:pt x="142875" y="285750"/>
                </a:lnTo>
                <a:lnTo>
                  <a:pt x="97731" y="278462"/>
                </a:lnTo>
                <a:lnTo>
                  <a:pt x="58512" y="258171"/>
                </a:lnTo>
                <a:lnTo>
                  <a:pt x="27578" y="227237"/>
                </a:lnTo>
                <a:lnTo>
                  <a:pt x="7287" y="188018"/>
                </a:lnTo>
                <a:lnTo>
                  <a:pt x="0" y="14287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00480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 of Control Group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Same community</a:t>
            </a:r>
          </a:p>
          <a:p>
            <a:r>
              <a:rPr lang="en-US" dirty="0"/>
              <a:t>Patients in the same hospital</a:t>
            </a:r>
          </a:p>
          <a:p>
            <a:r>
              <a:rPr lang="en-US" dirty="0"/>
              <a:t>Individuals who reside in the same neighborhood</a:t>
            </a:r>
          </a:p>
          <a:p>
            <a:r>
              <a:rPr lang="en-US" dirty="0"/>
              <a:t>Siblings, or associates of the cases</a:t>
            </a:r>
          </a:p>
        </p:txBody>
      </p:sp>
    </p:spTree>
    <p:extLst>
      <p:ext uri="{BB962C8B-B14F-4D97-AF65-F5344CB8AC3E}">
        <p14:creationId xmlns:p14="http://schemas.microsoft.com/office/powerpoint/2010/main" val="22179277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 of Controls: Hospitalized Patients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cases are hospital-recruited, source population is the catchment population of the hospital</a:t>
            </a:r>
          </a:p>
          <a:p>
            <a:r>
              <a:rPr lang="en-US" dirty="0">
                <a:solidFill>
                  <a:srgbClr val="FF0000"/>
                </a:solidFill>
              </a:rPr>
              <a:t>Catchment population: </a:t>
            </a:r>
            <a:r>
              <a:rPr lang="en-US" dirty="0"/>
              <a:t>all the people who would have been identified as a case, had they in fact developed the disease</a:t>
            </a:r>
          </a:p>
          <a:p>
            <a:r>
              <a:rPr lang="en-US" dirty="0"/>
              <a:t>One approach is selecting controls who have a different illness and are treated at same hospital, sometimes called hospital, clinic, or diseased controls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88596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 of Controls: Hospitalized Patients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03311" y="2195914"/>
            <a:ext cx="4148648" cy="46839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>
                <a:solidFill>
                  <a:schemeClr val="accent6"/>
                </a:solidFill>
              </a:rPr>
              <a:t>Advantages:</a:t>
            </a:r>
          </a:p>
          <a:p>
            <a:r>
              <a:rPr lang="en-US" dirty="0"/>
              <a:t>Convenient and relatively inexpensive</a:t>
            </a:r>
          </a:p>
          <a:p>
            <a:r>
              <a:rPr lang="en-US" dirty="0"/>
              <a:t>Cases and controls are likely to be similar in their accuracy of recall</a:t>
            </a:r>
          </a:p>
          <a:p>
            <a:r>
              <a:rPr lang="en-US" dirty="0"/>
              <a:t>Generally high level of cooperation of subjects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5AA7A39-38CF-4BF6-A7A5-83E41400B633}"/>
              </a:ext>
            </a:extLst>
          </p:cNvPr>
          <p:cNvSpPr txBox="1">
            <a:spLocks/>
          </p:cNvSpPr>
          <p:nvPr/>
        </p:nvSpPr>
        <p:spPr>
          <a:xfrm>
            <a:off x="4667355" y="2204864"/>
            <a:ext cx="4148648" cy="46839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u="sng" dirty="0">
                <a:solidFill>
                  <a:srgbClr val="C00000"/>
                </a:solidFill>
              </a:rPr>
              <a:t>Disadvantages: (both selection bias scenarios):</a:t>
            </a:r>
          </a:p>
          <a:p>
            <a:r>
              <a:rPr lang="en-US" dirty="0"/>
              <a:t>Disease for which controls are hospitalized may be associated with exposures under study</a:t>
            </a:r>
          </a:p>
          <a:p>
            <a:r>
              <a:rPr lang="en-US" dirty="0"/>
              <a:t>Selection factors leading to hospitalization may differ between cases and controls (referral patterns)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279A32B-4428-4A5C-807B-BC71A1E24C43}"/>
              </a:ext>
            </a:extLst>
          </p:cNvPr>
          <p:cNvCxnSpPr/>
          <p:nvPr/>
        </p:nvCxnSpPr>
        <p:spPr>
          <a:xfrm>
            <a:off x="4427984" y="1988840"/>
            <a:ext cx="0" cy="34563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48518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Analysis Of Case Control Studies: </a:t>
            </a:r>
            <a:br>
              <a:rPr lang="en-US" dirty="0"/>
            </a:br>
            <a:r>
              <a:rPr lang="en-US" dirty="0"/>
              <a:t>2x2 Tables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3033234"/>
              </p:ext>
            </p:extLst>
          </p:nvPr>
        </p:nvGraphicFramePr>
        <p:xfrm>
          <a:off x="1534055" y="2950746"/>
          <a:ext cx="6307031" cy="264328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019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19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7713">
                <a:tc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1759585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2400" dirty="0">
                          <a:latin typeface="Georgia"/>
                          <a:cs typeface="Georgia"/>
                        </a:rPr>
                        <a:t>Disease</a:t>
                      </a:r>
                      <a:r>
                        <a:rPr sz="2400" spc="-12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2400" dirty="0">
                          <a:latin typeface="Georgia"/>
                          <a:cs typeface="Georgia"/>
                        </a:rPr>
                        <a:t>Status</a:t>
                      </a:r>
                      <a:endParaRPr sz="24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6504"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sz="2400" spc="-5" dirty="0">
                          <a:latin typeface="Georgia"/>
                          <a:cs typeface="Georgia"/>
                        </a:rPr>
                        <a:t>Exposure</a:t>
                      </a:r>
                      <a:r>
                        <a:rPr sz="2400" spc="-10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2400" dirty="0">
                          <a:latin typeface="Georgia"/>
                          <a:cs typeface="Georgia"/>
                        </a:rPr>
                        <a:t>Status</a:t>
                      </a:r>
                      <a:endParaRPr sz="24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sz="2400" dirty="0">
                          <a:latin typeface="Georgia"/>
                          <a:cs typeface="Georgia"/>
                        </a:rPr>
                        <a:t>Positive</a:t>
                      </a:r>
                      <a:endParaRPr sz="24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sz="2400" spc="-5" dirty="0">
                          <a:latin typeface="Georgia"/>
                          <a:cs typeface="Georgia"/>
                        </a:rPr>
                        <a:t>Negative</a:t>
                      </a:r>
                      <a:endParaRPr sz="24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7406"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705"/>
                        </a:spcBef>
                      </a:pPr>
                      <a:r>
                        <a:rPr sz="2400" spc="-5" dirty="0">
                          <a:latin typeface="Georgia"/>
                          <a:cs typeface="Georgia"/>
                        </a:rPr>
                        <a:t>Exposed</a:t>
                      </a:r>
                      <a:endParaRPr sz="24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5"/>
                        </a:spcBef>
                      </a:pPr>
                      <a:r>
                        <a:rPr sz="2400" dirty="0">
                          <a:latin typeface="Georgia"/>
                          <a:cs typeface="Georgia"/>
                        </a:rPr>
                        <a:t>a</a:t>
                      </a:r>
                      <a:endParaRPr sz="24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1705"/>
                        </a:spcBef>
                      </a:pPr>
                      <a:r>
                        <a:rPr sz="2400" dirty="0">
                          <a:latin typeface="Georgia"/>
                          <a:cs typeface="Georgia"/>
                        </a:rPr>
                        <a:t>b</a:t>
                      </a:r>
                      <a:endParaRPr sz="24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6648"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2005"/>
                        </a:spcBef>
                      </a:pPr>
                      <a:r>
                        <a:rPr sz="2400" spc="-5" dirty="0">
                          <a:latin typeface="Georgia"/>
                          <a:cs typeface="Georgia"/>
                        </a:rPr>
                        <a:t>Unexposed</a:t>
                      </a:r>
                      <a:endParaRPr sz="24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5"/>
                        </a:spcBef>
                      </a:pPr>
                      <a:r>
                        <a:rPr sz="2400" dirty="0">
                          <a:latin typeface="Georgia"/>
                          <a:cs typeface="Georgia"/>
                        </a:rPr>
                        <a:t>c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2005"/>
                        </a:spcBef>
                      </a:pPr>
                      <a:r>
                        <a:rPr sz="2400" dirty="0">
                          <a:latin typeface="Georgia"/>
                          <a:cs typeface="Georgia"/>
                        </a:rPr>
                        <a:t>d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4687571" y="5690624"/>
            <a:ext cx="3863340" cy="8207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35" dirty="0">
                <a:latin typeface="Times New Roman"/>
                <a:cs typeface="Times New Roman"/>
              </a:rPr>
              <a:t>Total </a:t>
            </a:r>
            <a:r>
              <a:rPr sz="2000" dirty="0">
                <a:latin typeface="Times New Roman"/>
                <a:cs typeface="Times New Roman"/>
              </a:rPr>
              <a:t>with disease = a +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</a:t>
            </a: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sz="2000" spc="-35" dirty="0">
                <a:latin typeface="Times New Roman"/>
                <a:cs typeface="Times New Roman"/>
              </a:rPr>
              <a:t>Total </a:t>
            </a:r>
            <a:r>
              <a:rPr sz="2000" dirty="0">
                <a:latin typeface="Times New Roman"/>
                <a:cs typeface="Times New Roman"/>
              </a:rPr>
              <a:t>without disease = b +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57803" y="5609876"/>
            <a:ext cx="3204845" cy="867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50100"/>
              </a:lnSpc>
            </a:pPr>
            <a:r>
              <a:rPr sz="2000" spc="-35" dirty="0">
                <a:latin typeface="Times New Roman"/>
                <a:cs typeface="Times New Roman"/>
              </a:rPr>
              <a:t>Total </a:t>
            </a:r>
            <a:r>
              <a:rPr sz="2000" dirty="0">
                <a:latin typeface="Times New Roman"/>
                <a:cs typeface="Times New Roman"/>
              </a:rPr>
              <a:t>exposed = a + b </a:t>
            </a:r>
            <a:endParaRPr lang="en-US" sz="2000" dirty="0">
              <a:latin typeface="Times New Roman"/>
              <a:cs typeface="Times New Roman"/>
            </a:endParaRPr>
          </a:p>
          <a:p>
            <a:pPr marL="12700" marR="5080">
              <a:lnSpc>
                <a:spcPct val="150100"/>
              </a:lnSpc>
            </a:pPr>
            <a:r>
              <a:rPr sz="2000" spc="-35" dirty="0">
                <a:latin typeface="Times New Roman"/>
                <a:cs typeface="Times New Roman"/>
              </a:rPr>
              <a:t>Total </a:t>
            </a:r>
            <a:r>
              <a:rPr sz="2000" dirty="0">
                <a:latin typeface="Times New Roman"/>
                <a:cs typeface="Times New Roman"/>
              </a:rPr>
              <a:t>unexposed = c +</a:t>
            </a:r>
            <a:r>
              <a:rPr sz="2000" spc="-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</a:t>
            </a: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BCBA3E99-896E-3CA3-ADC7-C1DE206C6DAE}"/>
              </a:ext>
            </a:extLst>
          </p:cNvPr>
          <p:cNvSpPr txBox="1"/>
          <p:nvPr/>
        </p:nvSpPr>
        <p:spPr>
          <a:xfrm>
            <a:off x="557802" y="1844973"/>
            <a:ext cx="8493814" cy="4876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50100"/>
              </a:lnSpc>
            </a:pPr>
            <a:r>
              <a:rPr lang="en-US" sz="2400" spc="-35" dirty="0">
                <a:latin typeface="Times New Roman"/>
                <a:cs typeface="Times New Roman"/>
              </a:rPr>
              <a:t>Data is expressed in a 2*2 table, and an odds ratio is calculated </a:t>
            </a:r>
            <a:endParaRPr lang="en-US"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432211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6132" y="188640"/>
            <a:ext cx="9935912" cy="1108567"/>
          </a:xfrm>
        </p:spPr>
        <p:txBody>
          <a:bodyPr/>
          <a:lstStyle/>
          <a:p>
            <a:r>
              <a:rPr lang="en-US" dirty="0"/>
              <a:t>Odds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0313210"/>
              </p:ext>
            </p:extLst>
          </p:nvPr>
        </p:nvGraphicFramePr>
        <p:xfrm>
          <a:off x="5076056" y="4772033"/>
          <a:ext cx="3681258" cy="1552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33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4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77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7525">
                <a:tc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2400" dirty="0">
                          <a:latin typeface="Georgia"/>
                          <a:cs typeface="Georgia"/>
                        </a:rPr>
                        <a:t>D+</a:t>
                      </a:r>
                      <a:endParaRPr sz="24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2400" dirty="0">
                          <a:latin typeface="Georgia"/>
                          <a:cs typeface="Georgia"/>
                        </a:rPr>
                        <a:t>D-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2400" dirty="0">
                          <a:latin typeface="Georgia"/>
                          <a:cs typeface="Georgia"/>
                        </a:rPr>
                        <a:t>E+</a:t>
                      </a:r>
                      <a:endParaRPr sz="24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2400" dirty="0">
                          <a:latin typeface="Georgia"/>
                          <a:cs typeface="Georgia"/>
                        </a:rPr>
                        <a:t>a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2400" dirty="0">
                          <a:latin typeface="Georgia"/>
                          <a:cs typeface="Georgia"/>
                        </a:rPr>
                        <a:t>b</a:t>
                      </a:r>
                      <a:endParaRPr sz="24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2400" dirty="0">
                          <a:latin typeface="Georgia"/>
                          <a:cs typeface="Georgia"/>
                        </a:rPr>
                        <a:t>E-</a:t>
                      </a:r>
                      <a:endParaRPr sz="24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2400" dirty="0">
                          <a:latin typeface="Georgia"/>
                          <a:cs typeface="Georgia"/>
                        </a:rPr>
                        <a:t>c</a:t>
                      </a:r>
                      <a:endParaRPr sz="24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2400" dirty="0">
                          <a:latin typeface="Georgia"/>
                          <a:cs typeface="Georgia"/>
                        </a:rPr>
                        <a:t>d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535940" y="1659254"/>
            <a:ext cx="5404212" cy="923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 panose="020B0604020202020204" pitchFamily="34" charset="0"/>
                <a:cs typeface="Arial" panose="020B0604020202020204" pitchFamily="34" charset="0"/>
              </a:rPr>
              <a:t>Exposure odds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in those with</a:t>
            </a:r>
            <a:r>
              <a:rPr sz="2400" spc="-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5" dirty="0">
                <a:latin typeface="Arial" panose="020B0604020202020204" pitchFamily="34" charset="0"/>
                <a:cs typeface="Arial" panose="020B0604020202020204" pitchFamily="34" charset="0"/>
              </a:rPr>
              <a:t>disease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6870">
              <a:lnSpc>
                <a:spcPct val="100000"/>
              </a:lnSpc>
              <a:spcBef>
                <a:spcPts val="1160"/>
              </a:spcBef>
              <a:buClr>
                <a:srgbClr val="282781"/>
              </a:buClr>
              <a:tabLst>
                <a:tab pos="683895" algn="l"/>
              </a:tabLst>
            </a:pPr>
            <a:r>
              <a:rPr sz="2400" spc="-5" dirty="0">
                <a:latin typeface="Arial" panose="020B0604020202020204" pitchFamily="34" charset="0"/>
                <a:cs typeface="Arial" panose="020B0604020202020204" pitchFamily="34" charset="0"/>
              </a:rPr>
              <a:t>Probability=a/(a+c)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0363" y="2714878"/>
            <a:ext cx="1101406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buClr>
                <a:srgbClr val="282781"/>
              </a:buClr>
              <a:tabLst>
                <a:tab pos="339725" algn="l"/>
              </a:tabLst>
            </a:pPr>
            <a:r>
              <a:rPr sz="2400" spc="-5" dirty="0">
                <a:latin typeface="Arial" panose="020B0604020202020204" pitchFamily="34" charset="0"/>
                <a:cs typeface="Arial" panose="020B0604020202020204" pitchFamily="34" charset="0"/>
              </a:rPr>
              <a:t>Odds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64994" y="2714878"/>
            <a:ext cx="3921821" cy="14157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= [a/(a + c)] / </a:t>
            </a:r>
            <a:r>
              <a:rPr sz="2400" spc="-5" dirty="0">
                <a:latin typeface="Arial" panose="020B0604020202020204" pitchFamily="34" charset="0"/>
                <a:cs typeface="Arial" panose="020B0604020202020204" pitchFamily="34" charset="0"/>
              </a:rPr>
              <a:t>[1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- [a/(a + c)]</a:t>
            </a:r>
            <a:r>
              <a:rPr sz="2400" spc="-1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= [a/(a + c)] / </a:t>
            </a:r>
            <a:r>
              <a:rPr sz="2400" spc="-5" dirty="0">
                <a:latin typeface="Arial" panose="020B0604020202020204" pitchFamily="34" charset="0"/>
                <a:cs typeface="Arial" panose="020B0604020202020204" pitchFamily="34" charset="0"/>
              </a:rPr>
              <a:t>[c/(a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sz="2400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5" dirty="0">
                <a:latin typeface="Arial" panose="020B0604020202020204" pitchFamily="34" charset="0"/>
                <a:cs typeface="Arial" panose="020B0604020202020204" pitchFamily="34" charset="0"/>
              </a:rPr>
              <a:t>c)]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sz="2400" spc="-1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a/c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35939" y="4226305"/>
            <a:ext cx="5912661" cy="1969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 panose="020B0604020202020204" pitchFamily="34" charset="0"/>
                <a:cs typeface="Arial" panose="020B0604020202020204" pitchFamily="34" charset="0"/>
              </a:rPr>
              <a:t>Exposure odds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in those without</a:t>
            </a:r>
            <a:r>
              <a:rPr sz="2400" spc="-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5" dirty="0">
                <a:latin typeface="Arial" panose="020B0604020202020204" pitchFamily="34" charset="0"/>
                <a:cs typeface="Arial" panose="020B0604020202020204" pitchFamily="34" charset="0"/>
              </a:rPr>
              <a:t>disease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6870">
              <a:lnSpc>
                <a:spcPct val="100000"/>
              </a:lnSpc>
              <a:spcBef>
                <a:spcPts val="1160"/>
              </a:spcBef>
              <a:buClr>
                <a:srgbClr val="282781"/>
              </a:buClr>
              <a:tabLst>
                <a:tab pos="683895" algn="l"/>
              </a:tabLst>
            </a:pPr>
            <a:r>
              <a:rPr sz="2400" spc="-5" dirty="0">
                <a:latin typeface="Arial" panose="020B0604020202020204" pitchFamily="34" charset="0"/>
                <a:cs typeface="Arial" panose="020B0604020202020204" pitchFamily="34" charset="0"/>
              </a:rPr>
              <a:t>Probability=b/(b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sz="2400" spc="-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5" dirty="0">
                <a:latin typeface="Arial" panose="020B0604020202020204" pitchFamily="34" charset="0"/>
                <a:cs typeface="Arial" panose="020B0604020202020204" pitchFamily="34" charset="0"/>
              </a:rPr>
              <a:t>d)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6870">
              <a:lnSpc>
                <a:spcPct val="100000"/>
              </a:lnSpc>
              <a:spcBef>
                <a:spcPts val="1150"/>
              </a:spcBef>
            </a:pPr>
            <a:r>
              <a:rPr sz="2400" spc="-5" dirty="0">
                <a:latin typeface="Arial" panose="020B0604020202020204" pitchFamily="34" charset="0"/>
                <a:cs typeface="Arial" panose="020B0604020202020204" pitchFamily="34" charset="0"/>
              </a:rPr>
              <a:t>Odds=[b/(b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+ </a:t>
            </a:r>
            <a:r>
              <a:rPr sz="2400" spc="-5" dirty="0">
                <a:latin typeface="Arial" panose="020B0604020202020204" pitchFamily="34" charset="0"/>
                <a:cs typeface="Arial" panose="020B0604020202020204" pitchFamily="34" charset="0"/>
              </a:rPr>
              <a:t>d)]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/ </a:t>
            </a:r>
            <a:r>
              <a:rPr sz="2400" spc="-5" dirty="0">
                <a:latin typeface="Arial" panose="020B0604020202020204" pitchFamily="34" charset="0"/>
                <a:cs typeface="Arial" panose="020B0604020202020204" pitchFamily="34" charset="0"/>
              </a:rPr>
              <a:t>[d/(b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sz="240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5" dirty="0">
                <a:latin typeface="Arial" panose="020B0604020202020204" pitchFamily="34" charset="0"/>
                <a:cs typeface="Arial" panose="020B0604020202020204" pitchFamily="34" charset="0"/>
              </a:rPr>
              <a:t>d)]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982980" algn="ctr">
              <a:lnSpc>
                <a:spcPct val="100000"/>
              </a:lnSpc>
              <a:spcBef>
                <a:spcPts val="1150"/>
              </a:spcBef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sz="2400" spc="-1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5" dirty="0">
                <a:latin typeface="Arial" panose="020B0604020202020204" pitchFamily="34" charset="0"/>
                <a:cs typeface="Arial" panose="020B0604020202020204" pitchFamily="34" charset="0"/>
              </a:rPr>
              <a:t>b/d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62864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Odds Ratio</a:t>
            </a:r>
            <a:endParaRPr lang="en-US" dirty="0"/>
          </a:p>
        </p:txBody>
      </p:sp>
      <p:sp>
        <p:nvSpPr>
          <p:cNvPr id="4" name="object 4"/>
          <p:cNvSpPr txBox="1">
            <a:spLocks noGrp="1"/>
          </p:cNvSpPr>
          <p:nvPr>
            <p:ph type="body" idx="4294967295"/>
          </p:nvPr>
        </p:nvSpPr>
        <p:spPr>
          <a:xfrm>
            <a:off x="640003" y="1988840"/>
            <a:ext cx="7863993" cy="4539976"/>
          </a:xfrm>
        </p:spPr>
        <p:txBody>
          <a:bodyPr/>
          <a:lstStyle/>
          <a:p>
            <a:r>
              <a:rPr lang="en-US" dirty="0"/>
              <a:t>Odds that a case was exposed / the odds that a control was  exposed</a:t>
            </a:r>
          </a:p>
          <a:p>
            <a:pPr marL="0" indent="0">
              <a:buNone/>
            </a:pPr>
            <a:r>
              <a:rPr lang="en-US" dirty="0"/>
              <a:t> = (a/c) / (b/d)</a:t>
            </a:r>
          </a:p>
          <a:p>
            <a:pPr marL="0" indent="0">
              <a:buNone/>
            </a:pPr>
            <a:r>
              <a:rPr lang="en-US" dirty="0"/>
              <a:t> = (a/c) * (d/b)</a:t>
            </a:r>
          </a:p>
          <a:p>
            <a:pPr marL="0" indent="0">
              <a:buNone/>
            </a:pPr>
            <a:r>
              <a:rPr lang="en-US" dirty="0"/>
              <a:t> = ad / </a:t>
            </a:r>
            <a:r>
              <a:rPr lang="en-US" dirty="0" err="1"/>
              <a:t>bc</a:t>
            </a:r>
            <a:r>
              <a:rPr lang="en-US" dirty="0"/>
              <a:t> = cross-product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6642934"/>
              </p:ext>
            </p:extLst>
          </p:nvPr>
        </p:nvGraphicFramePr>
        <p:xfrm>
          <a:off x="4860032" y="3255151"/>
          <a:ext cx="3319399" cy="14399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41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0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73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400" dirty="0">
                          <a:latin typeface="Georgia"/>
                          <a:cs typeface="Georgia"/>
                        </a:rPr>
                        <a:t>D+</a:t>
                      </a:r>
                      <a:endParaRPr sz="24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400" dirty="0">
                          <a:latin typeface="Georgia"/>
                          <a:cs typeface="Georgia"/>
                        </a:rPr>
                        <a:t>D-</a:t>
                      </a:r>
                      <a:endParaRPr sz="24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026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400" dirty="0">
                          <a:latin typeface="Georgia"/>
                          <a:cs typeface="Georgia"/>
                        </a:rPr>
                        <a:t>E+</a:t>
                      </a:r>
                      <a:endParaRPr sz="24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400" dirty="0">
                          <a:latin typeface="Georgia"/>
                          <a:cs typeface="Georgia"/>
                        </a:rPr>
                        <a:t>a</a:t>
                      </a:r>
                      <a:endParaRPr sz="24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400" dirty="0">
                          <a:latin typeface="Georgia"/>
                          <a:cs typeface="Georgia"/>
                        </a:rPr>
                        <a:t>b</a:t>
                      </a:r>
                      <a:endParaRPr sz="24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699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2400" dirty="0">
                          <a:latin typeface="Georgia"/>
                          <a:cs typeface="Georgia"/>
                        </a:rPr>
                        <a:t>E-</a:t>
                      </a:r>
                      <a:endParaRPr sz="24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2400" dirty="0">
                          <a:latin typeface="Georgia"/>
                          <a:cs typeface="Georgia"/>
                        </a:rPr>
                        <a:t>c</a:t>
                      </a:r>
                      <a:endParaRPr sz="2400">
                        <a:latin typeface="Georgia"/>
                        <a:cs typeface="Georgia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2400" dirty="0">
                          <a:latin typeface="Georgia"/>
                          <a:cs typeface="Georgia"/>
                        </a:rPr>
                        <a:t>d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05185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Interpretation of OR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“Benzodiazepine ever use was associated with an  increased risk of Alzheimer's disease (adjusted odds ratio 1.51, 95% confidence interval 1.36 to 1.69)”</a:t>
            </a:r>
          </a:p>
          <a:p>
            <a:r>
              <a:rPr lang="en-US" dirty="0"/>
              <a:t>Interpretations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AD is associated with a 1.51-times increase in the odds of </a:t>
            </a:r>
            <a:r>
              <a:rPr lang="en-US" dirty="0" err="1"/>
              <a:t>Benzodiazepene</a:t>
            </a:r>
            <a:r>
              <a:rPr lang="en-US" dirty="0"/>
              <a:t> use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 err="1"/>
              <a:t>Benzodiazepene</a:t>
            </a:r>
            <a:r>
              <a:rPr lang="en-US" dirty="0"/>
              <a:t> use is associated with a 1.51-times  increase in the odds of AD</a:t>
            </a:r>
          </a:p>
        </p:txBody>
      </p:sp>
    </p:spTree>
    <p:extLst>
      <p:ext uri="{BB962C8B-B14F-4D97-AF65-F5344CB8AC3E}">
        <p14:creationId xmlns:p14="http://schemas.microsoft.com/office/powerpoint/2010/main" val="25896234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31991" y="1916832"/>
            <a:ext cx="8080017" cy="4395960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In a study examining the association between estrogen (exposure) and endometrial carcinoma (outcome):  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b="1" dirty="0"/>
          </a:p>
          <a:p>
            <a:pPr marL="0" indent="0" algn="ctr">
              <a:buNone/>
            </a:pPr>
            <a:endParaRPr lang="en-US" b="1" dirty="0"/>
          </a:p>
          <a:p>
            <a:pPr marL="0" indent="0" algn="ctr">
              <a:buNone/>
            </a:pPr>
            <a:endParaRPr lang="en-US" b="1" dirty="0"/>
          </a:p>
          <a:p>
            <a:pPr marL="0" indent="0" algn="ctr">
              <a:buNone/>
            </a:pPr>
            <a:r>
              <a:rPr lang="en-US" b="1" dirty="0"/>
              <a:t>The OR = ?</a:t>
            </a:r>
          </a:p>
          <a:p>
            <a:pPr marL="0" indent="0" algn="ctr">
              <a:buNone/>
            </a:pPr>
            <a:r>
              <a:rPr lang="en-US" b="1" dirty="0"/>
              <a:t>What does that mean?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661" y="2780928"/>
            <a:ext cx="6162675" cy="174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7253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18B868-B145-C562-39AB-097FAD84C113}"/>
              </a:ext>
            </a:extLst>
          </p:cNvPr>
          <p:cNvSpPr txBox="1"/>
          <p:nvPr/>
        </p:nvSpPr>
        <p:spPr>
          <a:xfrm>
            <a:off x="323527" y="1916832"/>
            <a:ext cx="108966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Study Question:  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Do OC’s increase the risk of myocardial infarction (MI)? 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Cases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    500 women hospitalized for MI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Controls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 1,500 women hospitalized for non-heart 	           				related conditions.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Case to control ratio:  1 to 3 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05668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p:graphicFrame>
        <p:nvGraphicFramePr>
          <p:cNvPr id="3" name="Group 85">
            <a:extLst>
              <a:ext uri="{FF2B5EF4-FFF2-40B4-BE49-F238E27FC236}">
                <a16:creationId xmlns:a16="http://schemas.microsoft.com/office/drawing/2014/main" id="{69DA2EC0-3A72-748E-4B66-8B0677A487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7131081"/>
              </p:ext>
            </p:extLst>
          </p:nvPr>
        </p:nvGraphicFramePr>
        <p:xfrm>
          <a:off x="495300" y="2204864"/>
          <a:ext cx="8153400" cy="3531167"/>
        </p:xfrm>
        <a:graphic>
          <a:graphicData uri="http://schemas.openxmlformats.org/drawingml/2006/table">
            <a:tbl>
              <a:tblPr/>
              <a:tblGrid>
                <a:gridCol w="1462088">
                  <a:extLst>
                    <a:ext uri="{9D8B030D-6E8A-4147-A177-3AD203B41FA5}">
                      <a16:colId xmlns:a16="http://schemas.microsoft.com/office/drawing/2014/main" val="2973015469"/>
                    </a:ext>
                  </a:extLst>
                </a:gridCol>
                <a:gridCol w="1687512">
                  <a:extLst>
                    <a:ext uri="{9D8B030D-6E8A-4147-A177-3AD203B41FA5}">
                      <a16:colId xmlns:a16="http://schemas.microsoft.com/office/drawing/2014/main" val="863407066"/>
                    </a:ext>
                  </a:extLst>
                </a:gridCol>
                <a:gridCol w="2108200">
                  <a:extLst>
                    <a:ext uri="{9D8B030D-6E8A-4147-A177-3AD203B41FA5}">
                      <a16:colId xmlns:a16="http://schemas.microsoft.com/office/drawing/2014/main" val="9572504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1599846845"/>
                    </a:ext>
                  </a:extLst>
                </a:gridCol>
              </a:tblGrid>
              <a:tr h="396875"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MS PGothic" panose="020B0600070205080204" pitchFamily="34" charset="-128"/>
                      </a:endParaRPr>
                    </a:p>
                  </a:txBody>
                  <a:tcPr marT="45686" marB="45686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MS PGothic" panose="020B0600070205080204" pitchFamily="34" charset="-128"/>
                        </a:rPr>
                        <a:t>OC Use?</a:t>
                      </a:r>
                      <a:endParaRPr kumimoji="0" lang="en-US" alt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MS PGothic" panose="020B0600070205080204" pitchFamily="34" charset="-128"/>
                      </a:endParaRPr>
                    </a:p>
                  </a:txBody>
                  <a:tcPr marT="45686" marB="4568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ahoma" panose="020B0604030504040204" pitchFamily="34" charset="0"/>
                          <a:ea typeface="MS PGothic" panose="020B0600070205080204" pitchFamily="34" charset="-128"/>
                        </a:rPr>
                        <a:t>    First SELECT</a:t>
                      </a: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ahoma" panose="020B0604030504040204" pitchFamily="34" charset="0"/>
                        <a:ea typeface="MS PGothic" panose="020B0600070205080204" pitchFamily="34" charset="-128"/>
                      </a:endParaRPr>
                    </a:p>
                  </a:txBody>
                  <a:tcPr marT="45686" marB="4568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ahoma" panose="020B0604030504040204" pitchFamily="34" charset="0"/>
                          <a:ea typeface="MS PGothic" panose="020B0600070205080204" pitchFamily="34" charset="-128"/>
                        </a:rPr>
                        <a:t>on outcome</a:t>
                      </a:r>
                    </a:p>
                  </a:txBody>
                  <a:tcPr marT="45686" marB="45686" anchor="b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7168632"/>
                  </a:ext>
                </a:extLst>
              </a:tr>
              <a:tr h="10668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MS PGothic" panose="020B0600070205080204" pitchFamily="34" charset="-128"/>
                        </a:rPr>
                        <a:t>(O) Cases </a:t>
                      </a: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MS PGothic" panose="020B0600070205080204" pitchFamily="34" charset="-128"/>
                        </a:rPr>
                        <a:t>Hospitalized for MI</a:t>
                      </a:r>
                    </a:p>
                  </a:txBody>
                  <a:tcPr marT="45686" marB="4568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MS PGothic" panose="020B0600070205080204" pitchFamily="34" charset="-128"/>
                        </a:rPr>
                        <a:t>(Ō) Controls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MS PGothic" panose="020B0600070205080204" pitchFamily="34" charset="-128"/>
                        </a:rPr>
                        <a:t>Non-Heart Hospitalization</a:t>
                      </a:r>
                    </a:p>
                  </a:txBody>
                  <a:tcPr marT="45686" marB="45686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0619134"/>
                  </a:ext>
                </a:extLst>
              </a:tr>
              <a:tr h="4826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MS PGothic" panose="020B0600070205080204" pitchFamily="34" charset="-128"/>
                        </a:rPr>
                        <a:t>     E</a:t>
                      </a: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MS PGothic" panose="020B0600070205080204" pitchFamily="34" charset="-128"/>
                        </a:rPr>
                        <a:t>Ever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anose="020B0604030504040204" pitchFamily="34" charset="0"/>
                          <a:ea typeface="MS PGothic" panose="020B0600070205080204" pitchFamily="34" charset="-128"/>
                        </a:rPr>
                        <a:t>145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anose="020B0604030504040204" pitchFamily="34" charset="0"/>
                          <a:ea typeface="MS PGothic" panose="020B0600070205080204" pitchFamily="34" charset="-128"/>
                        </a:rPr>
                        <a:t> 420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6993686"/>
                  </a:ext>
                </a:extLst>
              </a:tr>
              <a:tr h="11271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MS PGothic" panose="020B0600070205080204" pitchFamily="34" charset="-128"/>
                        </a:rPr>
                        <a:t> 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MS PGothic" panose="020B0600070205080204" pitchFamily="34" charset="-128"/>
                        </a:rPr>
                        <a:t>     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0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MS PGothic" panose="020B0600070205080204" pitchFamily="34" charset="-128"/>
                      </a:endParaRP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MS PGothic" panose="020B0600070205080204" pitchFamily="34" charset="-128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MS PGothic" panose="020B0600070205080204" pitchFamily="34" charset="-128"/>
                        </a:rPr>
                        <a:t>Never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anose="020B0604030504040204" pitchFamily="34" charset="0"/>
                          <a:ea typeface="MS PGothic" panose="020B0600070205080204" pitchFamily="34" charset="-128"/>
                        </a:rPr>
                        <a:t>355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anose="020B0604030504040204" pitchFamily="34" charset="0"/>
                        <a:ea typeface="MS PGothic" panose="020B0600070205080204" pitchFamily="34" charset="-128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anose="020B0604030504040204" pitchFamily="34" charset="0"/>
                          <a:ea typeface="MS PGothic" panose="020B0600070205080204" pitchFamily="34" charset="-128"/>
                        </a:rPr>
                        <a:t>1080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anose="020B0604030504040204" pitchFamily="34" charset="0"/>
                        <a:ea typeface="MS PGothic" panose="020B0600070205080204" pitchFamily="34" charset="-128"/>
                      </a:endParaRP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8212637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MS PGothic" panose="020B0600070205080204" pitchFamily="34" charset="-128"/>
                      </a:endParaRPr>
                    </a:p>
                  </a:txBody>
                  <a:tcPr marT="45686" marB="456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MS PGothic" panose="020B0600070205080204" pitchFamily="34" charset="-128"/>
                        </a:rPr>
                        <a:t>Totals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anose="020B0604030504040204" pitchFamily="34" charset="0"/>
                          <a:ea typeface="MS PGothic" panose="020B0600070205080204" pitchFamily="34" charset="-128"/>
                        </a:rPr>
                        <a:t> 500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anose="020B0604030504040204" pitchFamily="34" charset="0"/>
                          <a:ea typeface="MS PGothic" panose="020B0600070205080204" pitchFamily="34" charset="-128"/>
                        </a:rPr>
                        <a:t>1500</a:t>
                      </a:r>
                    </a:p>
                  </a:txBody>
                  <a:tcPr marT="45686" marB="456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54285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63593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p:graphicFrame>
        <p:nvGraphicFramePr>
          <p:cNvPr id="4" name="Group 56">
            <a:extLst>
              <a:ext uri="{FF2B5EF4-FFF2-40B4-BE49-F238E27FC236}">
                <a16:creationId xmlns:a16="http://schemas.microsoft.com/office/drawing/2014/main" id="{D00105E5-874A-B820-78DF-1FC76F7FFE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4869491"/>
              </p:ext>
            </p:extLst>
          </p:nvPr>
        </p:nvGraphicFramePr>
        <p:xfrm>
          <a:off x="3371527" y="4488160"/>
          <a:ext cx="1066800" cy="1473200"/>
        </p:xfrm>
        <a:graphic>
          <a:graphicData uri="http://schemas.openxmlformats.org/drawingml/2006/table">
            <a:tbl>
              <a:tblPr/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A80000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AD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BC</a:t>
                      </a:r>
                    </a:p>
                  </a:txBody>
                  <a:tcPr marR="45720" anchorCtr="1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roup 54">
            <a:extLst>
              <a:ext uri="{FF2B5EF4-FFF2-40B4-BE49-F238E27FC236}">
                <a16:creationId xmlns:a16="http://schemas.microsoft.com/office/drawing/2014/main" id="{B0F0D744-8AF4-8FD7-123E-AF9DF30BD2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0518521"/>
              </p:ext>
            </p:extLst>
          </p:nvPr>
        </p:nvGraphicFramePr>
        <p:xfrm>
          <a:off x="5047927" y="4488160"/>
          <a:ext cx="1981200" cy="1473200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A80000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145 x 1080</a:t>
                      </a:r>
                    </a:p>
                  </a:txBody>
                  <a:tcPr anchor="ctr" anchorCtr="1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420 x 355</a:t>
                      </a:r>
                    </a:p>
                  </a:txBody>
                  <a:tcPr marR="45720" anchorCtr="1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58">
            <a:extLst>
              <a:ext uri="{FF2B5EF4-FFF2-40B4-BE49-F238E27FC236}">
                <a16:creationId xmlns:a16="http://schemas.microsoft.com/office/drawing/2014/main" id="{C6676274-F6DB-101B-DA53-3D23EA6767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7940180"/>
              </p:ext>
            </p:extLst>
          </p:nvPr>
        </p:nvGraphicFramePr>
        <p:xfrm>
          <a:off x="1695127" y="2125960"/>
          <a:ext cx="6096000" cy="1811339"/>
        </p:xfrm>
        <a:graphic>
          <a:graphicData uri="http://schemas.openxmlformats.org/drawingml/2006/table">
            <a:tbl>
              <a:tblPr/>
              <a:tblGrid>
                <a:gridCol w="16875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02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306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Used OCs</a:t>
                      </a:r>
                      <a:endParaRPr kumimoji="0" 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charset="0"/>
                        <a:ea typeface="ＭＳ Ｐゴシック" charset="0"/>
                      </a:endParaRPr>
                    </a:p>
                  </a:txBody>
                  <a:tcPr marT="45685" marB="45685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Cases-MI</a:t>
                      </a:r>
                    </a:p>
                  </a:txBody>
                  <a:tcPr marT="45685" marB="4568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Controls-Non MI</a:t>
                      </a:r>
                    </a:p>
                  </a:txBody>
                  <a:tcPr marT="45685" marB="4568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2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Ever</a:t>
                      </a:r>
                    </a:p>
                  </a:txBody>
                  <a:tcPr marT="45685" marB="4568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145  (A)</a:t>
                      </a:r>
                    </a:p>
                  </a:txBody>
                  <a:tcPr marT="45685" marB="4568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  420  (B)</a:t>
                      </a:r>
                    </a:p>
                  </a:txBody>
                  <a:tcPr marT="45685" marB="4568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60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Never</a:t>
                      </a:r>
                    </a:p>
                  </a:txBody>
                  <a:tcPr marT="45685" marB="4568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355  (C)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charset="0"/>
                        <a:ea typeface="ＭＳ Ｐゴシック" charset="0"/>
                      </a:endParaRPr>
                    </a:p>
                  </a:txBody>
                  <a:tcPr marT="45685" marB="4568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1080  (D)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charset="0"/>
                        <a:ea typeface="ＭＳ Ｐゴシック" charset="0"/>
                      </a:endParaRPr>
                    </a:p>
                  </a:txBody>
                  <a:tcPr marT="45685" marB="4568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Rectangle 43">
            <a:extLst>
              <a:ext uri="{FF2B5EF4-FFF2-40B4-BE49-F238E27FC236}">
                <a16:creationId xmlns:a16="http://schemas.microsoft.com/office/drawing/2014/main" id="{585BFCE4-59CC-3E5D-696B-D0F21DA53E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7" y="4869160"/>
            <a:ext cx="32004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sz="3200" b="0" dirty="0">
                <a:latin typeface="Tahoma" charset="0"/>
                <a:ea typeface="ＭＳ Ｐゴシック" charset="0"/>
              </a:rPr>
              <a:t>ODDS RATIO =</a:t>
            </a:r>
          </a:p>
          <a:p>
            <a:pPr>
              <a:defRPr/>
            </a:pPr>
            <a:r>
              <a:rPr lang="en-US" sz="3200" b="0" dirty="0">
                <a:latin typeface="Tahoma" charset="0"/>
                <a:ea typeface="ＭＳ Ｐゴシック" charset="0"/>
              </a:rPr>
              <a:t>	</a:t>
            </a:r>
          </a:p>
        </p:txBody>
      </p:sp>
      <p:sp>
        <p:nvSpPr>
          <p:cNvPr id="8" name="Rectangle 44">
            <a:extLst>
              <a:ext uri="{FF2B5EF4-FFF2-40B4-BE49-F238E27FC236}">
                <a16:creationId xmlns:a16="http://schemas.microsoft.com/office/drawing/2014/main" id="{63771885-C697-43BB-D206-4FBCEEDB60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4527" y="4934248"/>
            <a:ext cx="6064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200" b="0" dirty="0">
                <a:latin typeface="Tahoma" charset="0"/>
                <a:ea typeface="ＭＳ Ｐゴシック" charset="0"/>
              </a:rPr>
              <a:t>= </a:t>
            </a:r>
          </a:p>
        </p:txBody>
      </p:sp>
      <p:sp>
        <p:nvSpPr>
          <p:cNvPr id="9" name="Rectangle 45">
            <a:extLst>
              <a:ext uri="{FF2B5EF4-FFF2-40B4-BE49-F238E27FC236}">
                <a16:creationId xmlns:a16="http://schemas.microsoft.com/office/drawing/2014/main" id="{EDA68D8E-0924-12FD-A70C-1E6F408C4B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5327" y="4869160"/>
            <a:ext cx="13985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200" b="0">
                <a:latin typeface="Tahoma" charset="0"/>
                <a:ea typeface="ＭＳ Ｐゴシック" charset="0"/>
              </a:rPr>
              <a:t>= </a:t>
            </a:r>
            <a:r>
              <a:rPr lang="en-US" sz="2800">
                <a:latin typeface="Tahoma" charset="0"/>
                <a:ea typeface="ＭＳ Ｐゴシック" charset="0"/>
              </a:rPr>
              <a:t>1.05</a:t>
            </a:r>
          </a:p>
        </p:txBody>
      </p:sp>
    </p:spTree>
    <p:extLst>
      <p:ext uri="{BB962C8B-B14F-4D97-AF65-F5344CB8AC3E}">
        <p14:creationId xmlns:p14="http://schemas.microsoft.com/office/powerpoint/2010/main" val="34429658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93E8CB-881F-D92F-2482-578708D3CAEF}"/>
              </a:ext>
            </a:extLst>
          </p:cNvPr>
          <p:cNvSpPr txBox="1"/>
          <p:nvPr/>
        </p:nvSpPr>
        <p:spPr>
          <a:xfrm>
            <a:off x="323527" y="1844824"/>
            <a:ext cx="810064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Results and Conclusions: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Prior use of OC’s appears to be associated with a slight increased risk of MI in these data. 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Women who have used OC’s have 1.05 times the odds of MI compared to women who have never used OC’s.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80569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Case-Control Studies- Example</a:t>
            </a:r>
            <a:endParaRPr lang="en-US" alt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1EAF38F-99FD-4530-8438-CFF8D1DCE01B}"/>
              </a:ext>
            </a:extLst>
          </p:cNvPr>
          <p:cNvGrpSpPr/>
          <p:nvPr/>
        </p:nvGrpSpPr>
        <p:grpSpPr>
          <a:xfrm>
            <a:off x="420371" y="1628800"/>
            <a:ext cx="8534400" cy="4924425"/>
            <a:chOff x="304800" y="1379539"/>
            <a:chExt cx="8534400" cy="4924425"/>
          </a:xfrm>
        </p:grpSpPr>
        <p:sp>
          <p:nvSpPr>
            <p:cNvPr id="19460" name="Text Box 3"/>
            <p:cNvSpPr txBox="1">
              <a:spLocks noChangeArrowheads="1"/>
            </p:cNvSpPr>
            <p:nvPr/>
          </p:nvSpPr>
          <p:spPr bwMode="auto">
            <a:xfrm>
              <a:off x="381000" y="1379539"/>
              <a:ext cx="8382000" cy="49244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tabLst>
                  <a:tab pos="4167188" algn="ctr"/>
                  <a:tab pos="6865938" algn="ctr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tabLst>
                  <a:tab pos="4167188" algn="ctr"/>
                  <a:tab pos="6865938" algn="ctr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tabLst>
                  <a:tab pos="4167188" algn="ctr"/>
                  <a:tab pos="6865938" algn="ctr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tabLst>
                  <a:tab pos="4167188" algn="ctr"/>
                  <a:tab pos="6865938" algn="ctr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tabLst>
                  <a:tab pos="4167188" algn="ctr"/>
                  <a:tab pos="6865938" algn="ctr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4167188" algn="ctr"/>
                  <a:tab pos="6865938" algn="ctr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4167188" algn="ctr"/>
                  <a:tab pos="6865938" algn="ctr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4167188" algn="ctr"/>
                  <a:tab pos="6865938" algn="ctr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4167188" algn="ctr"/>
                  <a:tab pos="6865938" algn="ctr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i="1" dirty="0">
                  <a:latin typeface="+mn-lt"/>
                </a:rPr>
                <a:t>	</a:t>
              </a:r>
              <a:r>
                <a:rPr lang="en-US" altLang="en-US" dirty="0">
                  <a:latin typeface="+mn-lt"/>
                </a:rPr>
                <a:t>CHD	CHD</a:t>
              </a:r>
              <a:endParaRPr lang="en-US" altLang="en-US" i="1" dirty="0">
                <a:latin typeface="+mn-lt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dirty="0">
                  <a:latin typeface="+mn-lt"/>
                </a:rPr>
                <a:t>	(+)	(-)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u="sng" dirty="0">
                  <a:latin typeface="+mn-lt"/>
                </a:rPr>
                <a:t>Hypertension</a:t>
              </a:r>
              <a:r>
                <a:rPr lang="en-US" altLang="en-US" i="1" dirty="0">
                  <a:latin typeface="+mn-lt"/>
                </a:rPr>
                <a:t>	</a:t>
              </a:r>
              <a:r>
                <a:rPr lang="en-US" altLang="en-US" i="1" u="sng" dirty="0">
                  <a:latin typeface="+mn-lt"/>
                </a:rPr>
                <a:t>(cases)</a:t>
              </a:r>
              <a:r>
                <a:rPr lang="en-US" altLang="en-US" dirty="0">
                  <a:latin typeface="+mn-lt"/>
                </a:rPr>
                <a:t>	</a:t>
              </a:r>
              <a:r>
                <a:rPr lang="en-US" altLang="en-US" i="1" u="sng" dirty="0">
                  <a:latin typeface="+mn-lt"/>
                </a:rPr>
                <a:t>(controls)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dirty="0">
                  <a:latin typeface="+mn-lt"/>
                </a:rPr>
                <a:t>Present	150	225</a:t>
              </a:r>
            </a:p>
            <a:p>
              <a:pPr>
                <a:spcBef>
                  <a:spcPct val="0"/>
                </a:spcBef>
                <a:buFontTx/>
                <a:buNone/>
              </a:pPr>
              <a:endParaRPr lang="en-US" altLang="en-US" sz="900" dirty="0">
                <a:latin typeface="+mn-lt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dirty="0">
                  <a:latin typeface="+mn-lt"/>
                </a:rPr>
                <a:t>Absent	100	275</a:t>
              </a:r>
            </a:p>
            <a:p>
              <a:pPr>
                <a:spcBef>
                  <a:spcPct val="0"/>
                </a:spcBef>
                <a:buFontTx/>
                <a:buNone/>
              </a:pPr>
              <a:endParaRPr lang="en-US" altLang="en-US" sz="900" dirty="0">
                <a:latin typeface="+mn-lt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dirty="0">
                  <a:latin typeface="+mn-lt"/>
                </a:rPr>
                <a:t>Total	250	500</a:t>
              </a:r>
            </a:p>
            <a:p>
              <a:pPr>
                <a:spcBef>
                  <a:spcPct val="0"/>
                </a:spcBef>
                <a:buFontTx/>
                <a:buNone/>
              </a:pPr>
              <a:endParaRPr lang="en-US" altLang="en-US" sz="1600" i="1" dirty="0">
                <a:latin typeface="+mn-lt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i="1" dirty="0">
                  <a:latin typeface="+mn-lt"/>
                </a:rPr>
                <a:t>Analysis:</a:t>
              </a:r>
            </a:p>
            <a:p>
              <a:pPr>
                <a:spcBef>
                  <a:spcPct val="0"/>
                </a:spcBef>
              </a:pPr>
              <a:r>
                <a:rPr lang="en-US" altLang="en-US" dirty="0">
                  <a:latin typeface="+mn-lt"/>
                </a:rPr>
                <a:t>   % with hypertension	60%	45%</a:t>
              </a:r>
            </a:p>
            <a:p>
              <a:pPr>
                <a:spcBef>
                  <a:spcPct val="0"/>
                </a:spcBef>
                <a:buFontTx/>
                <a:buNone/>
              </a:pPr>
              <a:endParaRPr lang="en-US" altLang="en-US" dirty="0">
                <a:latin typeface="+mn-lt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dirty="0">
                  <a:solidFill>
                    <a:srgbClr val="FF0000"/>
                  </a:solidFill>
                  <a:latin typeface="+mn-lt"/>
                </a:rPr>
                <a:t>Issues of Concern:</a:t>
              </a:r>
            </a:p>
            <a:p>
              <a:pPr>
                <a:spcBef>
                  <a:spcPct val="0"/>
                </a:spcBef>
              </a:pPr>
              <a:r>
                <a:rPr lang="en-US" altLang="en-US" dirty="0">
                  <a:latin typeface="+mn-lt"/>
                </a:rPr>
                <a:t>   Definition of CHD and use of incident vs prevalent cases</a:t>
              </a:r>
            </a:p>
            <a:p>
              <a:pPr>
                <a:spcBef>
                  <a:spcPct val="0"/>
                </a:spcBef>
              </a:pPr>
              <a:r>
                <a:rPr lang="en-US" altLang="en-US" dirty="0">
                  <a:latin typeface="+mn-lt"/>
                </a:rPr>
                <a:t>   Definition and measurement of hypertension</a:t>
              </a:r>
            </a:p>
            <a:p>
              <a:pPr>
                <a:spcBef>
                  <a:spcPct val="0"/>
                </a:spcBef>
              </a:pPr>
              <a:r>
                <a:rPr lang="en-US" altLang="en-US" dirty="0">
                  <a:latin typeface="+mn-lt"/>
                </a:rPr>
                <a:t>   Role of other potential confounders and issues of matching vs   </a:t>
              </a:r>
            </a:p>
            <a:p>
              <a:pPr>
                <a:spcBef>
                  <a:spcPct val="0"/>
                </a:spcBef>
                <a:buNone/>
              </a:pPr>
              <a:r>
                <a:rPr lang="en-US" altLang="en-US" dirty="0">
                  <a:latin typeface="+mn-lt"/>
                </a:rPr>
                <a:t>     regression modeling</a:t>
              </a:r>
            </a:p>
          </p:txBody>
        </p:sp>
        <p:sp>
          <p:nvSpPr>
            <p:cNvPr id="19461" name="Line 4"/>
            <p:cNvSpPr>
              <a:spLocks noChangeShapeType="1"/>
            </p:cNvSpPr>
            <p:nvPr/>
          </p:nvSpPr>
          <p:spPr bwMode="auto">
            <a:xfrm>
              <a:off x="304800" y="2707640"/>
              <a:ext cx="8534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62" name="Line 5"/>
            <p:cNvSpPr>
              <a:spLocks noChangeShapeType="1"/>
            </p:cNvSpPr>
            <p:nvPr/>
          </p:nvSpPr>
          <p:spPr bwMode="auto">
            <a:xfrm>
              <a:off x="304800" y="3164840"/>
              <a:ext cx="8534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008162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Collecting Data in Case-Control Studies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Data must be collected on prior exposure to risk factor of interest </a:t>
            </a:r>
          </a:p>
          <a:p>
            <a:r>
              <a:rPr lang="en-US" dirty="0"/>
              <a:t>Information about a variety of exposures may be collected to look for associations with the disease or drug use</a:t>
            </a:r>
          </a:p>
          <a:p>
            <a:r>
              <a:rPr lang="en-US" dirty="0"/>
              <a:t>Source of Data: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Interviews and questionnaires are the most common means of determining a subject's exposure history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Medical records review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Biological marker</a:t>
            </a:r>
          </a:p>
        </p:txBody>
      </p:sp>
      <p:pic>
        <p:nvPicPr>
          <p:cNvPr id="4" name="Picture 3" descr="datacooo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092280" y="4941168"/>
            <a:ext cx="1725102" cy="1625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5666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Matching in Case-Control Studies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Purpose: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Helps to ensure that cases and controls are similar with respect to important risk factors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To control for confounding or selection bias</a:t>
            </a:r>
          </a:p>
          <a:p>
            <a:r>
              <a:rPr lang="en-US" dirty="0"/>
              <a:t>More than one control can be matched to each case, but the ratio of controls to cases rarely exceeds 4:1</a:t>
            </a:r>
          </a:p>
          <a:p>
            <a:r>
              <a:rPr lang="en-US" dirty="0"/>
              <a:t>Example: gender , age, </a:t>
            </a:r>
            <a:r>
              <a:rPr lang="en-US" dirty="0" err="1"/>
              <a:t>bmi</a:t>
            </a:r>
            <a:r>
              <a:rPr lang="en-US" dirty="0"/>
              <a:t>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4579966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Matching Cases and Controls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4294967295"/>
          </p:nvPr>
        </p:nvSpPr>
        <p:spPr>
          <a:xfrm>
            <a:off x="323528" y="1699463"/>
            <a:ext cx="3868738" cy="823912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200" dirty="0">
                <a:cs typeface="Arial" panose="020B0604020202020204" pitchFamily="34" charset="0"/>
              </a:rPr>
              <a:t>Pluses 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4294967295"/>
          </p:nvPr>
        </p:nvSpPr>
        <p:spPr>
          <a:xfrm>
            <a:off x="4828835" y="1681163"/>
            <a:ext cx="3887787" cy="823912"/>
          </a:xfr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200" dirty="0">
                <a:cs typeface="Arial" panose="020B0604020202020204" pitchFamily="34" charset="0"/>
              </a:rPr>
              <a:t>Drawback 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4294967295"/>
          </p:nvPr>
        </p:nvSpPr>
        <p:spPr>
          <a:xfrm>
            <a:off x="4828835" y="2505075"/>
            <a:ext cx="3887787" cy="3684588"/>
          </a:xfr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200" dirty="0">
                <a:cs typeface="Arial" panose="020B0604020202020204" pitchFamily="34" charset="0"/>
              </a:rPr>
              <a:t>Time consuming</a:t>
            </a:r>
          </a:p>
          <a:p>
            <a:pPr>
              <a:lnSpc>
                <a:spcPct val="100000"/>
              </a:lnSpc>
            </a:pPr>
            <a:r>
              <a:rPr lang="en-US" sz="2200" dirty="0">
                <a:cs typeface="Arial" panose="020B0604020202020204" pitchFamily="34" charset="0"/>
              </a:rPr>
              <a:t>Potential cases and controls may be excluded because matches cannot be made</a:t>
            </a:r>
          </a:p>
          <a:p>
            <a:pPr>
              <a:lnSpc>
                <a:spcPct val="100000"/>
              </a:lnSpc>
            </a:pPr>
            <a:r>
              <a:rPr lang="en-US" sz="2200" dirty="0">
                <a:cs typeface="Arial" panose="020B0604020202020204" pitchFamily="34" charset="0"/>
              </a:rPr>
              <a:t>Matched variables cannot be evaluated as risk factors in the study population</a:t>
            </a:r>
          </a:p>
          <a:p>
            <a:pPr>
              <a:lnSpc>
                <a:spcPct val="100000"/>
              </a:lnSpc>
            </a:pPr>
            <a:endParaRPr lang="en-US" sz="2200" dirty="0">
              <a:cs typeface="Arial" panose="020B0604020202020204" pitchFamily="34" charset="0"/>
            </a:endParaRPr>
          </a:p>
        </p:txBody>
      </p:sp>
      <p:sp>
        <p:nvSpPr>
          <p:cNvPr id="9" name="Content Placeholder 7"/>
          <p:cNvSpPr>
            <a:spLocks noGrp="1"/>
          </p:cNvSpPr>
          <p:nvPr>
            <p:ph sz="quarter" idx="4294967295"/>
          </p:nvPr>
        </p:nvSpPr>
        <p:spPr>
          <a:xfrm>
            <a:off x="328198" y="2523375"/>
            <a:ext cx="3887787" cy="3684588"/>
          </a:xfr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200" dirty="0">
                <a:cs typeface="Arial" panose="020B0604020202020204" pitchFamily="34" charset="0"/>
              </a:rPr>
              <a:t>Increase the statistical efficiency of case-control comparisons</a:t>
            </a:r>
          </a:p>
          <a:p>
            <a:pPr>
              <a:lnSpc>
                <a:spcPct val="100000"/>
              </a:lnSpc>
            </a:pPr>
            <a:r>
              <a:rPr lang="en-US" sz="2200" dirty="0">
                <a:cs typeface="Arial" panose="020B0604020202020204" pitchFamily="34" charset="0"/>
              </a:rPr>
              <a:t>Simplifies decisions about how to sample controls</a:t>
            </a:r>
          </a:p>
          <a:p>
            <a:pPr>
              <a:lnSpc>
                <a:spcPct val="100000"/>
              </a:lnSpc>
            </a:pPr>
            <a:r>
              <a:rPr lang="en-US" sz="2200" dirty="0">
                <a:cs typeface="Arial" panose="020B0604020202020204" pitchFamily="34" charset="0"/>
              </a:rPr>
              <a:t>It ensures that case-control differences in the risk factor of interest cannot be explained by reference to the matched variables.</a:t>
            </a:r>
          </a:p>
        </p:txBody>
      </p:sp>
    </p:spTree>
    <p:extLst>
      <p:ext uri="{BB962C8B-B14F-4D97-AF65-F5344CB8AC3E}">
        <p14:creationId xmlns:p14="http://schemas.microsoft.com/office/powerpoint/2010/main" val="24185426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 in Case-Control Studies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Confounding </a:t>
            </a:r>
          </a:p>
          <a:p>
            <a:r>
              <a:rPr lang="en-US" dirty="0"/>
              <a:t>Selection bias</a:t>
            </a:r>
          </a:p>
          <a:p>
            <a:r>
              <a:rPr lang="en-US" dirty="0"/>
              <a:t>Information bias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Differential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Non-differential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66345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Case-Control Studies- How Good Are They?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03311" y="2195914"/>
            <a:ext cx="4148648" cy="46839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>
                <a:solidFill>
                  <a:schemeClr val="accent6"/>
                </a:solidFill>
              </a:rPr>
              <a:t>Advantages:</a:t>
            </a:r>
          </a:p>
          <a:p>
            <a:r>
              <a:rPr lang="en-US" dirty="0"/>
              <a:t>Saves time and money</a:t>
            </a:r>
          </a:p>
          <a:p>
            <a:r>
              <a:rPr lang="en-US" dirty="0"/>
              <a:t>Efficient way to deal with long induction period</a:t>
            </a:r>
          </a:p>
          <a:p>
            <a:r>
              <a:rPr lang="en-US" dirty="0"/>
              <a:t>Ideal when outcome is rare</a:t>
            </a:r>
          </a:p>
          <a:p>
            <a:r>
              <a:rPr lang="en-US" dirty="0"/>
              <a:t>Allows evaluation of multiple exposures for single disease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5AA7A39-38CF-4BF6-A7A5-83E41400B633}"/>
              </a:ext>
            </a:extLst>
          </p:cNvPr>
          <p:cNvSpPr txBox="1">
            <a:spLocks/>
          </p:cNvSpPr>
          <p:nvPr/>
        </p:nvSpPr>
        <p:spPr>
          <a:xfrm>
            <a:off x="4667355" y="2204864"/>
            <a:ext cx="4148648" cy="46839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u="sng" dirty="0">
                <a:solidFill>
                  <a:srgbClr val="C00000"/>
                </a:solidFill>
              </a:rPr>
              <a:t>Disadvantages:</a:t>
            </a:r>
          </a:p>
          <a:p>
            <a:r>
              <a:rPr lang="en-US" dirty="0"/>
              <a:t>Accurate data on exposure may be difficult to obtain</a:t>
            </a:r>
          </a:p>
          <a:p>
            <a:r>
              <a:rPr lang="en-US" dirty="0"/>
              <a:t>Inefficient with rare exposures</a:t>
            </a:r>
          </a:p>
          <a:p>
            <a:r>
              <a:rPr lang="en-US" dirty="0"/>
              <a:t>Greater potential for bias when disease status is known when assessing exposure status</a:t>
            </a:r>
          </a:p>
          <a:p>
            <a:r>
              <a:rPr lang="en-US" dirty="0"/>
              <a:t>Selection of controls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279A32B-4428-4A5C-807B-BC71A1E24C43}"/>
              </a:ext>
            </a:extLst>
          </p:cNvPr>
          <p:cNvCxnSpPr/>
          <p:nvPr/>
        </p:nvCxnSpPr>
        <p:spPr>
          <a:xfrm>
            <a:off x="4427984" y="1988840"/>
            <a:ext cx="0" cy="34563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8257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BEA67-5F85-403A-B22B-8C817DBF6C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542019"/>
            <a:ext cx="6858000" cy="2387600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+mn-lt"/>
              </a:rPr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EA9946-33A5-43BF-9BD9-C6C0EC4DE7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4059238"/>
            <a:ext cx="6858000" cy="1655762"/>
          </a:xfrm>
        </p:spPr>
        <p:txBody>
          <a:bodyPr/>
          <a:lstStyle/>
          <a:p>
            <a:r>
              <a:rPr lang="en-US" sz="2400" dirty="0"/>
              <a:t>Questions</a:t>
            </a:r>
          </a:p>
          <a:p>
            <a:r>
              <a:rPr lang="en-US" sz="2400" dirty="0" err="1"/>
              <a:t>yalbogami@ksu.edu.sa</a:t>
            </a:r>
            <a:endParaRPr 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3869662"/>
      </p:ext>
    </p:extLst>
  </p:cSld>
  <p:clrMapOvr>
    <a:masterClrMapping/>
  </p:clrMapOvr>
</p:sld>
</file>

<file path=ppt/theme/theme1.xml><?xml version="1.0" encoding="utf-8"?>
<a:theme xmlns:a="http://schemas.openxmlformats.org/drawingml/2006/main" name="Ischemic Heart Disease Review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 2- Measuring associations</Template>
  <TotalTime>3526</TotalTime>
  <Words>1594</Words>
  <Application>Microsoft Macintosh PowerPoint</Application>
  <PresentationFormat>On-screen Show (4:3)</PresentationFormat>
  <Paragraphs>292</Paragraphs>
  <Slides>38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6" baseType="lpstr">
      <vt:lpstr>Arial</vt:lpstr>
      <vt:lpstr>Calibri</vt:lpstr>
      <vt:lpstr>Calibri Light</vt:lpstr>
      <vt:lpstr>Georgia</vt:lpstr>
      <vt:lpstr>Tahoma</vt:lpstr>
      <vt:lpstr>Times New Roman</vt:lpstr>
      <vt:lpstr>Wingdings</vt:lpstr>
      <vt:lpstr>Ischemic Heart Disease Review</vt:lpstr>
      <vt:lpstr>Case – Control Studies 1</vt:lpstr>
      <vt:lpstr>Learning objectives</vt:lpstr>
      <vt:lpstr>Case-Control Studies</vt:lpstr>
      <vt:lpstr>Case-Control Studies</vt:lpstr>
      <vt:lpstr>Case-Control Studies</vt:lpstr>
      <vt:lpstr>Case-Control Studies</vt:lpstr>
      <vt:lpstr>Case-Control Studies</vt:lpstr>
      <vt:lpstr>Case-Control Studies</vt:lpstr>
      <vt:lpstr>Case-Control Studies</vt:lpstr>
      <vt:lpstr>Question</vt:lpstr>
      <vt:lpstr>Question</vt:lpstr>
      <vt:lpstr>Case-Control Studies</vt:lpstr>
      <vt:lpstr>Basic Steps of Case-Control Studies </vt:lpstr>
      <vt:lpstr>Selection of Cases and Controls</vt:lpstr>
      <vt:lpstr>Case Selection</vt:lpstr>
      <vt:lpstr>Ideal Control Group</vt:lpstr>
      <vt:lpstr>Ideal Control Group</vt:lpstr>
      <vt:lpstr>Ideal Control Group</vt:lpstr>
      <vt:lpstr>Good Selection of Controls</vt:lpstr>
      <vt:lpstr>Sources of Control Group</vt:lpstr>
      <vt:lpstr>Sources of Controls: Hospitalized Patients</vt:lpstr>
      <vt:lpstr>Sources of Controls: Hospitalized Patients</vt:lpstr>
      <vt:lpstr>Basic Analysis Of Case Control Studies:  2x2 Tables</vt:lpstr>
      <vt:lpstr>Odds</vt:lpstr>
      <vt:lpstr>Odds Ratio</vt:lpstr>
      <vt:lpstr>Interpretation of OR</vt:lpstr>
      <vt:lpstr>Question</vt:lpstr>
      <vt:lpstr>Question</vt:lpstr>
      <vt:lpstr>Question</vt:lpstr>
      <vt:lpstr>Question</vt:lpstr>
      <vt:lpstr>Question</vt:lpstr>
      <vt:lpstr>Case-Control Studies- Example</vt:lpstr>
      <vt:lpstr>Collecting Data in Case-Control Studies</vt:lpstr>
      <vt:lpstr>Matching in Case-Control Studies</vt:lpstr>
      <vt:lpstr>Matching Cases and Controls</vt:lpstr>
      <vt:lpstr>Bias in Case-Control Studies</vt:lpstr>
      <vt:lpstr>Case-Control Studies- How Good Are They?</vt:lpstr>
      <vt:lpstr>THANK YOU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Observational Studies-I</dc:title>
  <dc:creator>nahla</dc:creator>
  <cp:lastModifiedBy>Yasser Albogami</cp:lastModifiedBy>
  <cp:revision>203</cp:revision>
  <cp:lastPrinted>2015-09-13T09:08:45Z</cp:lastPrinted>
  <dcterms:created xsi:type="dcterms:W3CDTF">2013-09-17T13:50:51Z</dcterms:created>
  <dcterms:modified xsi:type="dcterms:W3CDTF">2023-04-02T22:09:37Z</dcterms:modified>
</cp:coreProperties>
</file>